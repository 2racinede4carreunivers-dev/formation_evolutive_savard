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4" r:id="rId27"/>
    <p:sldId id="281" r:id="rId28"/>
    <p:sldId id="283" r:id="rId29"/>
    <p:sldId id="282"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8" autoAdjust="0"/>
    <p:restoredTop sz="72204" autoAdjust="0"/>
  </p:normalViewPr>
  <p:slideViewPr>
    <p:cSldViewPr snapToGrid="0">
      <p:cViewPr varScale="1">
        <p:scale>
          <a:sx n="56" d="100"/>
          <a:sy n="56" d="100"/>
        </p:scale>
        <p:origin x="1757" y="43"/>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0" d="100"/>
          <a:sy n="50" d="100"/>
        </p:scale>
        <p:origin x="3173" y="-2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0913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sz="1200" b="0" kern="1200" dirty="0">
                <a:solidFill>
                  <a:schemeClr val="tx1"/>
                </a:solidFill>
                <a:effectLst/>
                <a:latin typeface="+mn-lt"/>
                <a:ea typeface="+mn-ea"/>
                <a:cs typeface="+mn-cs"/>
              </a:rPr>
              <a:t>Questionnement de la théorie de l'univers est au carré:</a:t>
            </a:r>
          </a:p>
          <a:p>
            <a:br>
              <a:rPr lang="fr-CA" sz="1200" b="0" kern="1200" dirty="0">
                <a:solidFill>
                  <a:schemeClr val="tx1"/>
                </a:solidFill>
                <a:effectLst/>
                <a:latin typeface="+mn-lt"/>
                <a:ea typeface="+mn-ea"/>
                <a:cs typeface="+mn-cs"/>
              </a:rPr>
            </a:br>
            <a:endParaRPr lang="fr-CA" sz="1200" b="0" kern="1200" dirty="0">
              <a:solidFill>
                <a:schemeClr val="tx1"/>
              </a:solidFill>
              <a:effectLst/>
              <a:latin typeface="+mn-lt"/>
              <a:ea typeface="+mn-ea"/>
              <a:cs typeface="+mn-cs"/>
            </a:endParaRPr>
          </a:p>
          <a:p>
            <a:r>
              <a:rPr lang="fr-CA" sz="1200" b="0" kern="1200" dirty="0">
                <a:solidFill>
                  <a:schemeClr val="tx1"/>
                </a:solidFill>
                <a:effectLst/>
                <a:latin typeface="+mn-lt"/>
                <a:ea typeface="+mn-ea"/>
                <a:cs typeface="+mn-cs"/>
              </a:rPr>
              <a:t>Comment la théorie 'L'Univers est au Carré', avec ses concepts de transformation géométrique et de validation formelle, remet-elle en question notre vision conventionnelle de l'univers comme un espace de dimensions interagissant linéairement, et quelles implications cela a-t-il sur la nature même du savoir scientifique et notre compréhension philosophique de la réalité ?</a:t>
            </a:r>
          </a:p>
          <a:p>
            <a:br>
              <a:rPr lang="fr-CA" sz="1200" b="0" kern="1200" dirty="0">
                <a:solidFill>
                  <a:schemeClr val="tx1"/>
                </a:solidFill>
                <a:effectLst/>
                <a:latin typeface="+mn-lt"/>
                <a:ea typeface="+mn-ea"/>
                <a:cs typeface="+mn-cs"/>
              </a:rPr>
            </a:br>
            <a:endParaRPr lang="fr-CA" sz="1200" b="0" kern="1200" dirty="0">
              <a:solidFill>
                <a:schemeClr val="tx1"/>
              </a:solidFill>
              <a:effectLst/>
              <a:latin typeface="+mn-lt"/>
              <a:ea typeface="+mn-ea"/>
              <a:cs typeface="+mn-cs"/>
            </a:endParaRPr>
          </a:p>
          <a:p>
            <a:r>
              <a:rPr lang="fr-CA" sz="1200" b="0" kern="1200" dirty="0">
                <a:solidFill>
                  <a:schemeClr val="tx1"/>
                </a:solidFill>
                <a:effectLst/>
                <a:latin typeface="+mn-lt"/>
                <a:ea typeface="+mn-ea"/>
                <a:cs typeface="+mn-cs"/>
              </a:rPr>
              <a:t>La théorie 'L'Univers est au Carré' propose une interprétation de l'univers où les transformations géométriques, telles que la quadrature, servent de moyen pour révéler les propriétés cachées des structures fondamentales. Ce concept suggère que l'univers pourrait être compris en termes de transformations non linéaires qui échappent à la perception conventionnelle. En introduisant la formalisation rigoureuse via des outils comme Isabelle/HOL, la théorie insiste sur une épistémologie où la vérité scientifique dépend autant de l'élégance des transformations géométriques que de leur démonstration formelle. Ce changement de paradigme pourrait conduire à une vision où le savoir n'est plus une simple accumulation de faits linéaires mais une compréhension profonde des interactions complexes entre les concepts mathématiques, redéfinissant ainsi notre compréhension philosophique des lois régissant la réalité et notre place dans l'univers.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
        <p:nvSpPr>
          <p:cNvPr id="6" name="ZoneTexte 5">
            <a:extLst>
              <a:ext uri="{FF2B5EF4-FFF2-40B4-BE49-F238E27FC236}">
                <a16:creationId xmlns:a16="http://schemas.microsoft.com/office/drawing/2014/main" id="{5D3C0B13-C3F6-CDA6-0805-D9B345D48DD6}"/>
              </a:ext>
            </a:extLst>
          </p:cNvPr>
          <p:cNvSpPr txBox="1"/>
          <p:nvPr/>
        </p:nvSpPr>
        <p:spPr>
          <a:xfrm>
            <a:off x="0" y="228600"/>
            <a:ext cx="5143500" cy="9787295"/>
          </a:xfrm>
          <a:prstGeom prst="rect">
            <a:avLst/>
          </a:prstGeom>
          <a:noFill/>
        </p:spPr>
        <p:txBody>
          <a:bodyPr wrap="square" rtlCol="0">
            <a:spAutoFit/>
          </a:bodyPr>
          <a:lstStyle/>
          <a:p>
            <a:r>
              <a:rPr lang="fr-CA" dirty="0"/>
              <a:t>Questionnement de la théorie de l'univers est au carré:</a:t>
            </a:r>
          </a:p>
          <a:p>
            <a:br>
              <a:rPr lang="fr-CA" dirty="0"/>
            </a:br>
            <a:endParaRPr lang="fr-CA" dirty="0"/>
          </a:p>
          <a:p>
            <a:r>
              <a:rPr lang="fr-CA" dirty="0"/>
              <a:t>Comment la théorie 'L'Univers est au Carré', avec ses concepts de transformation géométrique et de validation formelle, remet-elle en question notre vision conventionnelle de l'univers comme un espace de dimensions interagissant linéairement, et quelles implications cela a-t-il sur la nature même du savoir scientifique et notre compréhension philosophique de la réalité ?</a:t>
            </a:r>
          </a:p>
          <a:p>
            <a:br>
              <a:rPr lang="fr-CA" dirty="0"/>
            </a:br>
            <a:endParaRPr lang="fr-CA" dirty="0"/>
          </a:p>
          <a:p>
            <a:r>
              <a:rPr lang="fr-CA" dirty="0"/>
              <a:t>La théorie 'L'Univers est au Carré' propose une interprétation de l'univers où les transformations géométriques, telles que la quadrature, servent de moyen pour révéler les propriétés cachées des structures fondamentales. Ce concept suggère que l'univers pourrait être compris en termes de transformations non linéaires qui échappent à la perception conventionnelle. En introduisant la formalisation rigoureuse via des outils comme Isabelle/HOL, la théorie insiste sur une épistémologie où la vérité scientifique dépend autant de l'élégance des transformations géométriques que de leur démonstration formelle. Ce changement de paradigme pourrait conduire à une vision où le savoir n'est plus une simple accumulation de faits linéaires mais une compréhension profonde des interactions complexes entre les concepts mathématiques, redéfinissant ainsi notre compréhension philosophique des lois régissant la réalité et notre place dans l'univers.</a:t>
            </a:r>
          </a:p>
          <a:p>
            <a:endParaRPr lang="fr-CA"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b="0" kern="1200" dirty="0">
                    <a:solidFill>
                      <a:schemeClr val="tx1"/>
                    </a:solidFill>
                    <a:effectLst/>
                    <a:latin typeface="+mn-lt"/>
                    <a:ea typeface="+mn-ea"/>
                    <a:cs typeface="+mn-cs"/>
                  </a:rPr>
                  <a:t>La géométrie du spectre des nombres premiers est une exploration qui trouve son origine dans une observation simple, mais profondément significative : lorsqu'on examine les relations entre des nombres entiers successifs, un rapport constant émerge. Ce rapport se révèle être un fondement crucial pour l'élaboration des méthodes ultérieures, ouvrant ainsi une perspective unique sur la compréhension de la nature des nombres premier</a:t>
                </a:r>
              </a:p>
              <a:p>
                <a:r>
                  <a:rPr lang="en-US" dirty="0"/>
                  <a:t>Cette </a:t>
                </a:r>
                <a:r>
                  <a:rPr lang="en-US" dirty="0" err="1"/>
                  <a:t>géométrie</a:t>
                </a:r>
                <a:r>
                  <a:rPr lang="en-US" dirty="0"/>
                  <a:t> qui a </a:t>
                </a:r>
                <a:r>
                  <a:rPr lang="en-US" dirty="0" err="1"/>
                  <a:t>été</a:t>
                </a:r>
                <a:r>
                  <a:rPr lang="en-US" dirty="0"/>
                  <a:t> </a:t>
                </a:r>
                <a:r>
                  <a:rPr lang="en-US" dirty="0" err="1"/>
                  <a:t>conçu</a:t>
                </a:r>
                <a:r>
                  <a:rPr lang="en-US" dirty="0"/>
                  <a:t> par </a:t>
                </a:r>
                <a:r>
                  <a:rPr lang="en-US" dirty="0" err="1"/>
                  <a:t>l’auteur</a:t>
                </a:r>
                <a:r>
                  <a:rPr lang="en-US" dirty="0"/>
                  <a:t> Philippe Thomas Savard dans le but de </a:t>
                </a:r>
                <a:r>
                  <a:rPr lang="en-US" dirty="0" err="1"/>
                  <a:t>concevoir</a:t>
                </a:r>
                <a:r>
                  <a:rPr lang="en-US" dirty="0"/>
                  <a:t> </a:t>
                </a:r>
                <a:r>
                  <a:rPr lang="en-US" dirty="0" err="1"/>
                  <a:t>une</a:t>
                </a:r>
                <a:r>
                  <a:rPr lang="en-US" dirty="0"/>
                  <a:t> </a:t>
                </a:r>
                <a:r>
                  <a:rPr lang="en-US" dirty="0" err="1"/>
                  <a:t>méthode</a:t>
                </a:r>
                <a:r>
                  <a:rPr lang="en-US" dirty="0"/>
                  <a:t> </a:t>
                </a:r>
                <a:r>
                  <a:rPr lang="en-US" dirty="0" err="1"/>
                  <a:t>innovante</a:t>
                </a:r>
                <a:r>
                  <a:rPr lang="en-US" dirty="0"/>
                  <a:t> </a:t>
                </a:r>
                <a:r>
                  <a:rPr lang="en-US" dirty="0" err="1"/>
                  <a:t>afin</a:t>
                </a:r>
                <a:r>
                  <a:rPr lang="en-US" dirty="0"/>
                  <a:t> de </a:t>
                </a:r>
                <a:r>
                  <a:rPr lang="en-US" dirty="0" err="1"/>
                  <a:t>résoudre</a:t>
                </a:r>
                <a:r>
                  <a:rPr lang="en-US" dirty="0"/>
                  <a:t> la question de </a:t>
                </a:r>
                <a:r>
                  <a:rPr lang="en-US" dirty="0" err="1"/>
                  <a:t>l’énigme</a:t>
                </a:r>
                <a:r>
                  <a:rPr lang="en-US" dirty="0"/>
                  <a:t> de Bernhard Riemann? Cette </a:t>
                </a:r>
                <a:r>
                  <a:rPr lang="en-US" dirty="0" err="1"/>
                  <a:t>géométrie</a:t>
                </a:r>
                <a:r>
                  <a:rPr lang="en-US" dirty="0"/>
                  <a:t> </a:t>
                </a:r>
                <a:r>
                  <a:rPr lang="en-US" dirty="0" err="1"/>
                  <a:t>démontrerait</a:t>
                </a:r>
                <a:r>
                  <a:rPr lang="en-US" dirty="0"/>
                  <a:t> </a:t>
                </a:r>
                <a:r>
                  <a:rPr lang="en-US" dirty="0" err="1"/>
                  <a:t>qu’il</a:t>
                </a:r>
                <a:r>
                  <a:rPr lang="en-US" dirty="0"/>
                  <a:t> </a:t>
                </a:r>
                <a:r>
                  <a:rPr lang="en-US" dirty="0" err="1"/>
                  <a:t>existe</a:t>
                </a:r>
                <a:r>
                  <a:rPr lang="en-US" dirty="0"/>
                  <a:t> dans </a:t>
                </a:r>
                <a:r>
                  <a:rPr lang="en-US" dirty="0" err="1"/>
                  <a:t>l’ensemble</a:t>
                </a:r>
                <a:r>
                  <a:rPr lang="en-US" dirty="0"/>
                  <a:t> des </a:t>
                </a:r>
                <a:r>
                  <a:rPr lang="en-US" dirty="0" err="1"/>
                  <a:t>nombres</a:t>
                </a:r>
                <a:r>
                  <a:rPr lang="en-US" dirty="0"/>
                  <a:t> </a:t>
                </a:r>
                <a:r>
                  <a:rPr lang="en-US" dirty="0" err="1"/>
                  <a:t>entiers</a:t>
                </a:r>
                <a:r>
                  <a:rPr lang="en-US" dirty="0"/>
                  <a:t> </a:t>
                </a:r>
                <a:r>
                  <a:rPr lang="en-US" dirty="0" err="1"/>
                  <a:t>naturels</a:t>
                </a:r>
                <a:r>
                  <a:rPr lang="en-US" dirty="0"/>
                  <a:t> un code secret qui </a:t>
                </a:r>
                <a:r>
                  <a:rPr lang="en-US" dirty="0" err="1"/>
                  <a:t>permet</a:t>
                </a:r>
                <a:r>
                  <a:rPr lang="en-US" dirty="0"/>
                  <a:t> </a:t>
                </a:r>
                <a:r>
                  <a:rPr lang="en-US" dirty="0" err="1"/>
                  <a:t>d’observer</a:t>
                </a:r>
                <a:r>
                  <a:rPr lang="en-US" dirty="0"/>
                  <a:t> </a:t>
                </a:r>
                <a:r>
                  <a:rPr lang="en-US" dirty="0" err="1"/>
                  <a:t>qu’entre</a:t>
                </a:r>
                <a:r>
                  <a:rPr lang="en-US" dirty="0"/>
                  <a:t> les </a:t>
                </a:r>
                <a:r>
                  <a:rPr lang="en-US" dirty="0" err="1"/>
                  <a:t>nombres</a:t>
                </a:r>
                <a:r>
                  <a:rPr lang="en-US" dirty="0"/>
                  <a:t> premiers il </a:t>
                </a:r>
                <a:r>
                  <a:rPr lang="en-US" dirty="0" err="1"/>
                  <a:t>puisse</a:t>
                </a:r>
                <a:r>
                  <a:rPr lang="en-US" dirty="0"/>
                  <a:t> y </a:t>
                </a:r>
                <a:r>
                  <a:rPr lang="en-US" dirty="0" err="1"/>
                  <a:t>avoir</a:t>
                </a:r>
                <a:r>
                  <a:rPr lang="en-US" dirty="0"/>
                  <a:t> un rapport </a:t>
                </a:r>
                <a:r>
                  <a:rPr lang="en-US" dirty="0" err="1"/>
                  <a:t>commun</a:t>
                </a:r>
                <a:r>
                  <a:rPr lang="en-US" dirty="0"/>
                  <a:t> spectral </a:t>
                </a:r>
                <a14:m>
                  <m:oMath xmlns:m="http://schemas.openxmlformats.org/officeDocument/2006/math">
                    <m:f>
                      <m:fPr>
                        <m:ctrlPr>
                          <a:rPr lang="en-US"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𝑘</m:t>
                        </m:r>
                      </m:den>
                    </m:f>
                    <m:r>
                      <a:rPr lang="fr-CA" b="0" i="1" smtClean="0">
                        <a:latin typeface="Cambria Math" panose="02040503050406030204" pitchFamily="18" charset="0"/>
                      </a:rPr>
                      <m:t> </m:t>
                    </m:r>
                  </m:oMath>
                </a14:m>
                <a:r>
                  <a:rPr lang="en-US" dirty="0" err="1"/>
                  <a:t>ce</a:t>
                </a:r>
                <a:r>
                  <a:rPr lang="en-US" dirty="0"/>
                  <a:t> rapport</a:t>
                </a:r>
                <a:r>
                  <a:rPr lang="en-US" baseline="0" dirty="0"/>
                  <a:t> est </a:t>
                </a:r>
                <a:r>
                  <a:rPr lang="en-US" baseline="0" dirty="0" err="1"/>
                  <a:t>commun</a:t>
                </a:r>
                <a:r>
                  <a:rPr lang="en-US" baseline="0" dirty="0"/>
                  <a:t> et determine </a:t>
                </a:r>
                <a:r>
                  <a:rPr lang="en-US" baseline="0" dirty="0" err="1"/>
                  <a:t>qu’entre</a:t>
                </a:r>
                <a:r>
                  <a:rPr lang="en-US" baseline="0" dirty="0"/>
                  <a:t> les </a:t>
                </a:r>
                <a:r>
                  <a:rPr lang="en-US" baseline="0" dirty="0" err="1"/>
                  <a:t>nombres</a:t>
                </a:r>
                <a:r>
                  <a:rPr lang="en-US" baseline="0" dirty="0"/>
                  <a:t> premiers il </a:t>
                </a:r>
                <a:r>
                  <a:rPr lang="en-US" baseline="0" dirty="0" err="1"/>
                  <a:t>puisse</a:t>
                </a:r>
                <a:r>
                  <a:rPr lang="en-US" baseline="0" dirty="0"/>
                  <a:t> y </a:t>
                </a:r>
                <a:r>
                  <a:rPr lang="en-US" baseline="0" dirty="0" err="1"/>
                  <a:t>avoir</a:t>
                </a:r>
                <a:r>
                  <a:rPr lang="en-US" baseline="0" dirty="0"/>
                  <a:t> un </a:t>
                </a:r>
                <a:r>
                  <a:rPr lang="en-US" baseline="0" dirty="0" err="1"/>
                  <a:t>écart</a:t>
                </a:r>
                <a:r>
                  <a:rPr lang="en-US" baseline="0" dirty="0"/>
                  <a:t> de </a:t>
                </a:r>
                <a:r>
                  <a:rPr lang="en-US" baseline="0" dirty="0" err="1"/>
                  <a:t>moins</a:t>
                </a:r>
                <a:r>
                  <a:rPr lang="en-US" baseline="0" dirty="0"/>
                  <a:t> 1 entre chacun et par </a:t>
                </a:r>
                <a:r>
                  <a:rPr lang="en-US" baseline="0" dirty="0" err="1"/>
                  <a:t>groupe</a:t>
                </a:r>
                <a:r>
                  <a:rPr lang="en-US" baseline="0" dirty="0"/>
                  <a:t> </a:t>
                </a:r>
                <a:r>
                  <a:rPr lang="en-US" baseline="0" dirty="0" err="1"/>
                  <a:t>symétrique</a:t>
                </a:r>
                <a:r>
                  <a:rPr lang="en-US" baseline="0" dirty="0"/>
                  <a:t> et </a:t>
                </a:r>
                <a:r>
                  <a:rPr lang="en-US" baseline="0" dirty="0" err="1"/>
                  <a:t>asymétrique</a:t>
                </a:r>
                <a:r>
                  <a:rPr lang="en-US" baseline="0" dirty="0"/>
                  <a:t> </a:t>
                </a:r>
                <a:r>
                  <a:rPr lang="en-US" baseline="0" dirty="0" err="1"/>
                  <a:t>également</a:t>
                </a:r>
                <a:r>
                  <a:rPr lang="en-US" baseline="0" dirty="0"/>
                  <a:t>? Une evidence </a:t>
                </a:r>
                <a:r>
                  <a:rPr lang="en-US" baseline="0" dirty="0" err="1"/>
                  <a:t>surgit</a:t>
                </a:r>
                <a:r>
                  <a:rPr lang="en-US" baseline="0" dirty="0"/>
                  <a:t> de </a:t>
                </a:r>
                <a:r>
                  <a:rPr lang="en-US" baseline="0" dirty="0" err="1"/>
                  <a:t>cette</a:t>
                </a:r>
                <a:r>
                  <a:rPr lang="en-US" baseline="0" dirty="0"/>
                  <a:t> </a:t>
                </a:r>
                <a:r>
                  <a:rPr lang="en-US" baseline="0" dirty="0" err="1"/>
                  <a:t>géométrie</a:t>
                </a:r>
                <a:r>
                  <a:rPr lang="en-US" baseline="0" dirty="0"/>
                  <a:t> spectral de </a:t>
                </a:r>
                <a:r>
                  <a:rPr lang="en-US" baseline="0" dirty="0" err="1"/>
                  <a:t>nombres</a:t>
                </a:r>
                <a:r>
                  <a:rPr lang="en-US" baseline="0" dirty="0"/>
                  <a:t> premiers? </a:t>
                </a:r>
              </a:p>
              <a:p>
                <a:endParaRPr lang="en-US" baseline="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b="0" kern="1200" dirty="0">
                    <a:solidFill>
                      <a:schemeClr val="tx1"/>
                    </a:solidFill>
                    <a:effectLst/>
                    <a:latin typeface="+mn-lt"/>
                    <a:ea typeface="+mn-ea"/>
                    <a:cs typeface="+mn-cs"/>
                  </a:rPr>
                  <a:t>La géométrie du spectre des nombres premiers est une exploration qui trouve son origine dans une observation simple, mais profondément significative : lorsqu'on examine les relations entre des nombres entiers successifs, un rapport constant émerge. Ce rapport se révèle être un fondement crucial pour l'élaboration des méthodes ultérieures, ouvrant ainsi une perspective unique sur la compréhension de la nature des nombres premier</a:t>
                </a:r>
              </a:p>
              <a:p>
                <a:r>
                  <a:rPr lang="en-US" dirty="0"/>
                  <a:t>Cette </a:t>
                </a:r>
                <a:r>
                  <a:rPr lang="en-US" dirty="0" err="1"/>
                  <a:t>géométrie</a:t>
                </a:r>
                <a:r>
                  <a:rPr lang="en-US" dirty="0"/>
                  <a:t> qui a </a:t>
                </a:r>
                <a:r>
                  <a:rPr lang="en-US" dirty="0" err="1"/>
                  <a:t>été</a:t>
                </a:r>
                <a:r>
                  <a:rPr lang="en-US" dirty="0"/>
                  <a:t> </a:t>
                </a:r>
                <a:r>
                  <a:rPr lang="en-US" dirty="0" err="1"/>
                  <a:t>conçu</a:t>
                </a:r>
                <a:r>
                  <a:rPr lang="en-US" dirty="0"/>
                  <a:t> par </a:t>
                </a:r>
                <a:r>
                  <a:rPr lang="en-US" dirty="0" err="1"/>
                  <a:t>l’auteur</a:t>
                </a:r>
                <a:r>
                  <a:rPr lang="en-US" dirty="0"/>
                  <a:t> Philippe Thomas Savard dans le but de </a:t>
                </a:r>
                <a:r>
                  <a:rPr lang="en-US" dirty="0" err="1"/>
                  <a:t>concevoir</a:t>
                </a:r>
                <a:r>
                  <a:rPr lang="en-US" dirty="0"/>
                  <a:t> </a:t>
                </a:r>
                <a:r>
                  <a:rPr lang="en-US" dirty="0" err="1"/>
                  <a:t>une</a:t>
                </a:r>
                <a:r>
                  <a:rPr lang="en-US" dirty="0"/>
                  <a:t> </a:t>
                </a:r>
                <a:r>
                  <a:rPr lang="en-US" dirty="0" err="1"/>
                  <a:t>méthode</a:t>
                </a:r>
                <a:r>
                  <a:rPr lang="en-US" dirty="0"/>
                  <a:t> </a:t>
                </a:r>
                <a:r>
                  <a:rPr lang="en-US" dirty="0" err="1"/>
                  <a:t>innovante</a:t>
                </a:r>
                <a:r>
                  <a:rPr lang="en-US" dirty="0"/>
                  <a:t> </a:t>
                </a:r>
                <a:r>
                  <a:rPr lang="en-US" dirty="0" err="1"/>
                  <a:t>afin</a:t>
                </a:r>
                <a:r>
                  <a:rPr lang="en-US" dirty="0"/>
                  <a:t> de </a:t>
                </a:r>
                <a:r>
                  <a:rPr lang="en-US" dirty="0" err="1"/>
                  <a:t>résoudre</a:t>
                </a:r>
                <a:r>
                  <a:rPr lang="en-US" dirty="0"/>
                  <a:t> la question de </a:t>
                </a:r>
                <a:r>
                  <a:rPr lang="en-US" dirty="0" err="1"/>
                  <a:t>l’énigme</a:t>
                </a:r>
                <a:r>
                  <a:rPr lang="en-US" dirty="0"/>
                  <a:t> de Bernhard Riemann? Cette </a:t>
                </a:r>
                <a:r>
                  <a:rPr lang="en-US" dirty="0" err="1"/>
                  <a:t>géométrie</a:t>
                </a:r>
                <a:r>
                  <a:rPr lang="en-US" dirty="0"/>
                  <a:t> </a:t>
                </a:r>
                <a:r>
                  <a:rPr lang="en-US" dirty="0" err="1"/>
                  <a:t>démontrerait</a:t>
                </a:r>
                <a:r>
                  <a:rPr lang="en-US" dirty="0"/>
                  <a:t> </a:t>
                </a:r>
                <a:r>
                  <a:rPr lang="en-US" dirty="0" err="1"/>
                  <a:t>qu’il</a:t>
                </a:r>
                <a:r>
                  <a:rPr lang="en-US" dirty="0"/>
                  <a:t> </a:t>
                </a:r>
                <a:r>
                  <a:rPr lang="en-US" dirty="0" err="1"/>
                  <a:t>existe</a:t>
                </a:r>
                <a:r>
                  <a:rPr lang="en-US" dirty="0"/>
                  <a:t> dans </a:t>
                </a:r>
                <a:r>
                  <a:rPr lang="en-US" dirty="0" err="1"/>
                  <a:t>l’ensemble</a:t>
                </a:r>
                <a:r>
                  <a:rPr lang="en-US" dirty="0"/>
                  <a:t> des </a:t>
                </a:r>
                <a:r>
                  <a:rPr lang="en-US" dirty="0" err="1"/>
                  <a:t>nombres</a:t>
                </a:r>
                <a:r>
                  <a:rPr lang="en-US" dirty="0"/>
                  <a:t> </a:t>
                </a:r>
                <a:r>
                  <a:rPr lang="en-US" dirty="0" err="1"/>
                  <a:t>entiers</a:t>
                </a:r>
                <a:r>
                  <a:rPr lang="en-US" dirty="0"/>
                  <a:t> </a:t>
                </a:r>
                <a:r>
                  <a:rPr lang="en-US" dirty="0" err="1"/>
                  <a:t>naturels</a:t>
                </a:r>
                <a:r>
                  <a:rPr lang="en-US" dirty="0"/>
                  <a:t> un code secret qui </a:t>
                </a:r>
                <a:r>
                  <a:rPr lang="en-US" dirty="0" err="1"/>
                  <a:t>permet</a:t>
                </a:r>
                <a:r>
                  <a:rPr lang="en-US" dirty="0"/>
                  <a:t> </a:t>
                </a:r>
                <a:r>
                  <a:rPr lang="en-US" dirty="0" err="1"/>
                  <a:t>d’observer</a:t>
                </a:r>
                <a:r>
                  <a:rPr lang="en-US" dirty="0"/>
                  <a:t> </a:t>
                </a:r>
                <a:r>
                  <a:rPr lang="en-US" dirty="0" err="1"/>
                  <a:t>qu’entre</a:t>
                </a:r>
                <a:r>
                  <a:rPr lang="en-US" dirty="0"/>
                  <a:t> les </a:t>
                </a:r>
                <a:r>
                  <a:rPr lang="en-US" dirty="0" err="1"/>
                  <a:t>nombres</a:t>
                </a:r>
                <a:r>
                  <a:rPr lang="en-US" dirty="0"/>
                  <a:t> premiers il </a:t>
                </a:r>
                <a:r>
                  <a:rPr lang="en-US" dirty="0" err="1"/>
                  <a:t>puisse</a:t>
                </a:r>
                <a:r>
                  <a:rPr lang="en-US" dirty="0"/>
                  <a:t> y </a:t>
                </a:r>
                <a:r>
                  <a:rPr lang="en-US" dirty="0" err="1"/>
                  <a:t>avoir</a:t>
                </a:r>
                <a:r>
                  <a:rPr lang="en-US" dirty="0"/>
                  <a:t> un rapport </a:t>
                </a:r>
                <a:r>
                  <a:rPr lang="en-US" dirty="0" err="1"/>
                  <a:t>commun</a:t>
                </a:r>
                <a:r>
                  <a:rPr lang="en-US" dirty="0"/>
                  <a:t> spectral </a:t>
                </a:r>
                <a:r>
                  <a:rPr lang="fr-CA" b="0" i="0">
                    <a:latin typeface="Cambria Math" panose="02040503050406030204" pitchFamily="18" charset="0"/>
                  </a:rPr>
                  <a:t>1</a:t>
                </a:r>
                <a:r>
                  <a:rPr lang="en-US" b="0" i="0">
                    <a:latin typeface="Cambria Math" panose="02040503050406030204" pitchFamily="18" charset="0"/>
                  </a:rPr>
                  <a:t>/</a:t>
                </a:r>
                <a:r>
                  <a:rPr lang="fr-CA" b="0" i="0">
                    <a:latin typeface="Cambria Math" panose="02040503050406030204" pitchFamily="18" charset="0"/>
                  </a:rPr>
                  <a:t>𝑘  </a:t>
                </a:r>
                <a:r>
                  <a:rPr lang="en-US" dirty="0" err="1"/>
                  <a:t>ce</a:t>
                </a:r>
                <a:r>
                  <a:rPr lang="en-US" dirty="0"/>
                  <a:t> rapport</a:t>
                </a:r>
                <a:r>
                  <a:rPr lang="en-US" baseline="0" dirty="0"/>
                  <a:t> est </a:t>
                </a:r>
                <a:r>
                  <a:rPr lang="en-US" baseline="0" dirty="0" err="1"/>
                  <a:t>commun</a:t>
                </a:r>
                <a:r>
                  <a:rPr lang="en-US" baseline="0" dirty="0"/>
                  <a:t> et determine </a:t>
                </a:r>
                <a:r>
                  <a:rPr lang="en-US" baseline="0" dirty="0" err="1"/>
                  <a:t>qu’entre</a:t>
                </a:r>
                <a:r>
                  <a:rPr lang="en-US" baseline="0" dirty="0"/>
                  <a:t> les </a:t>
                </a:r>
                <a:r>
                  <a:rPr lang="en-US" baseline="0" dirty="0" err="1"/>
                  <a:t>nombres</a:t>
                </a:r>
                <a:r>
                  <a:rPr lang="en-US" baseline="0" dirty="0"/>
                  <a:t> premiers il </a:t>
                </a:r>
                <a:r>
                  <a:rPr lang="en-US" baseline="0" dirty="0" err="1"/>
                  <a:t>puisse</a:t>
                </a:r>
                <a:r>
                  <a:rPr lang="en-US" baseline="0" dirty="0"/>
                  <a:t> y </a:t>
                </a:r>
                <a:r>
                  <a:rPr lang="en-US" baseline="0" dirty="0" err="1"/>
                  <a:t>avoir</a:t>
                </a:r>
                <a:r>
                  <a:rPr lang="en-US" baseline="0" dirty="0"/>
                  <a:t> un </a:t>
                </a:r>
                <a:r>
                  <a:rPr lang="en-US" baseline="0" dirty="0" err="1"/>
                  <a:t>écart</a:t>
                </a:r>
                <a:r>
                  <a:rPr lang="en-US" baseline="0" dirty="0"/>
                  <a:t> de </a:t>
                </a:r>
                <a:r>
                  <a:rPr lang="en-US" baseline="0" dirty="0" err="1"/>
                  <a:t>moins</a:t>
                </a:r>
                <a:r>
                  <a:rPr lang="en-US" baseline="0" dirty="0"/>
                  <a:t> 1 entre chacun et par </a:t>
                </a:r>
                <a:r>
                  <a:rPr lang="en-US" baseline="0" dirty="0" err="1"/>
                  <a:t>groupe</a:t>
                </a:r>
                <a:r>
                  <a:rPr lang="en-US" baseline="0" dirty="0"/>
                  <a:t> </a:t>
                </a:r>
                <a:r>
                  <a:rPr lang="en-US" baseline="0" dirty="0" err="1"/>
                  <a:t>symétrique</a:t>
                </a:r>
                <a:r>
                  <a:rPr lang="en-US" baseline="0" dirty="0"/>
                  <a:t> et </a:t>
                </a:r>
                <a:r>
                  <a:rPr lang="en-US" baseline="0" dirty="0" err="1"/>
                  <a:t>asymétrique</a:t>
                </a:r>
                <a:r>
                  <a:rPr lang="en-US" baseline="0" dirty="0"/>
                  <a:t> </a:t>
                </a:r>
                <a:r>
                  <a:rPr lang="en-US" baseline="0" dirty="0" err="1"/>
                  <a:t>également</a:t>
                </a:r>
                <a:r>
                  <a:rPr lang="en-US" baseline="0" dirty="0"/>
                  <a:t>? Une evidence </a:t>
                </a:r>
                <a:r>
                  <a:rPr lang="en-US" baseline="0" dirty="0" err="1"/>
                  <a:t>surgit</a:t>
                </a:r>
                <a:r>
                  <a:rPr lang="en-US" baseline="0" dirty="0"/>
                  <a:t> de </a:t>
                </a:r>
                <a:r>
                  <a:rPr lang="en-US" baseline="0" dirty="0" err="1"/>
                  <a:t>cette</a:t>
                </a:r>
                <a:r>
                  <a:rPr lang="en-US" baseline="0" dirty="0"/>
                  <a:t> </a:t>
                </a:r>
                <a:r>
                  <a:rPr lang="en-US" baseline="0" dirty="0" err="1"/>
                  <a:t>géométrie</a:t>
                </a:r>
                <a:r>
                  <a:rPr lang="en-US" baseline="0" dirty="0"/>
                  <a:t> spectral de </a:t>
                </a:r>
                <a:r>
                  <a:rPr lang="en-US" baseline="0" dirty="0" err="1"/>
                  <a:t>nombres</a:t>
                </a:r>
                <a:r>
                  <a:rPr lang="en-US" baseline="0" dirty="0"/>
                  <a:t> premiers? </a:t>
                </a:r>
              </a:p>
              <a:p>
                <a:endParaRPr lang="en-US" baseline="0"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Pour determiner le rapport spectral de la </a:t>
                </a:r>
                <a:r>
                  <a:rPr lang="en-US" dirty="0" err="1"/>
                  <a:t>méthode</a:t>
                </a:r>
                <a:r>
                  <a:rPr lang="en-US" dirty="0"/>
                  <a:t> </a:t>
                </a:r>
                <a:r>
                  <a:rPr lang="en-US" dirty="0" err="1"/>
                  <a:t>décrite</a:t>
                </a:r>
                <a:r>
                  <a:rPr lang="en-US" dirty="0"/>
                  <a:t> par la </a:t>
                </a:r>
                <a:r>
                  <a:rPr lang="en-US" dirty="0" err="1"/>
                  <a:t>géométrie</a:t>
                </a:r>
                <a:r>
                  <a:rPr lang="en-US" dirty="0"/>
                  <a:t> du </a:t>
                </a:r>
                <a:r>
                  <a:rPr lang="en-US" dirty="0" err="1"/>
                  <a:t>spectre</a:t>
                </a:r>
                <a:r>
                  <a:rPr lang="en-US" dirty="0"/>
                  <a:t> des </a:t>
                </a:r>
                <a:r>
                  <a:rPr lang="en-US" dirty="0" err="1"/>
                  <a:t>nombres</a:t>
                </a:r>
                <a:r>
                  <a:rPr lang="en-US" dirty="0"/>
                  <a:t> premiers. Il faut commencer par determiner deux suites A et B. Les deux suites A et B </a:t>
                </a:r>
                <a:r>
                  <a:rPr lang="en-US" dirty="0" err="1"/>
                  <a:t>onT</a:t>
                </a:r>
                <a:r>
                  <a:rPr lang="en-US" dirty="0"/>
                  <a:t> </a:t>
                </a:r>
                <a:r>
                  <a:rPr lang="en-US" dirty="0" err="1"/>
                  <a:t>respectivement</a:t>
                </a:r>
                <a:r>
                  <a:rPr lang="en-US" dirty="0"/>
                  <a:t> la</a:t>
                </a:r>
                <a:r>
                  <a:rPr lang="en-US" baseline="0" dirty="0"/>
                  <a:t> </a:t>
                </a:r>
                <a:r>
                  <a:rPr lang="en-US" baseline="0" dirty="0" err="1"/>
                  <a:t>même</a:t>
                </a:r>
                <a:r>
                  <a:rPr lang="en-US" baseline="0" dirty="0"/>
                  <a:t> </a:t>
                </a:r>
                <a:r>
                  <a:rPr lang="en-US" baseline="0" dirty="0" err="1"/>
                  <a:t>quantité</a:t>
                </a:r>
                <a:r>
                  <a:rPr lang="en-US" dirty="0"/>
                  <a:t> de </a:t>
                </a:r>
                <a:r>
                  <a:rPr lang="en-US" dirty="0" err="1"/>
                  <a:t>termes</a:t>
                </a:r>
                <a:r>
                  <a:rPr lang="en-US" dirty="0"/>
                  <a:t>. </a:t>
                </a:r>
                <a:r>
                  <a:rPr lang="en-US" dirty="0" err="1"/>
                  <a:t>Ces</a:t>
                </a:r>
                <a:r>
                  <a:rPr lang="en-US" dirty="0"/>
                  <a:t> suites </a:t>
                </a:r>
                <a:r>
                  <a:rPr lang="en-US" dirty="0" err="1"/>
                  <a:t>sont</a:t>
                </a:r>
                <a:r>
                  <a:rPr lang="en-US" dirty="0"/>
                  <a:t> </a:t>
                </a:r>
                <a:r>
                  <a:rPr lang="en-US" dirty="0" err="1"/>
                  <a:t>constituées</a:t>
                </a:r>
                <a:r>
                  <a:rPr lang="en-US" dirty="0"/>
                  <a:t> de 1 a </a:t>
                </a:r>
                <a:r>
                  <a:rPr lang="en-US" dirty="0" err="1"/>
                  <a:t>une</a:t>
                </a:r>
                <a:r>
                  <a:rPr lang="en-US" dirty="0"/>
                  <a:t> </a:t>
                </a:r>
                <a:r>
                  <a:rPr lang="en-US" dirty="0" err="1"/>
                  <a:t>infinité</a:t>
                </a:r>
                <a:r>
                  <a:rPr lang="en-US" dirty="0"/>
                  <a:t> de </a:t>
                </a:r>
                <a:r>
                  <a:rPr lang="en-US" dirty="0" err="1"/>
                  <a:t>termes</a:t>
                </a:r>
                <a:r>
                  <a:rPr lang="en-US" dirty="0"/>
                  <a:t>. Pour le rapport spectral </a:t>
                </a:r>
                <a14:m>
                  <m:oMath xmlns:m="http://schemas.openxmlformats.org/officeDocument/2006/math">
                    <m:f>
                      <m:fPr>
                        <m:ctrlPr>
                          <a:rPr lang="en-US"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𝑘</m:t>
                        </m:r>
                      </m:den>
                    </m:f>
                  </m:oMath>
                </a14:m>
                <a:r>
                  <a:rPr lang="en-US" dirty="0"/>
                  <a:t> =</a:t>
                </a:r>
                <a14:m>
                  <m:oMath xmlns:m="http://schemas.openxmlformats.org/officeDocument/2006/math">
                    <m:f>
                      <m:fPr>
                        <m:ctrlPr>
                          <a:rPr lang="en-US" i="1" dirty="0" smtClean="0">
                            <a:latin typeface="Cambria Math" panose="02040503050406030204" pitchFamily="18" charset="0"/>
                          </a:rPr>
                        </m:ctrlPr>
                      </m:fPr>
                      <m:num>
                        <m:r>
                          <a:rPr lang="fr-CA" b="0" i="1" dirty="0" smtClean="0">
                            <a:latin typeface="Cambria Math" panose="02040503050406030204" pitchFamily="18" charset="0"/>
                          </a:rPr>
                          <m:t>1</m:t>
                        </m:r>
                      </m:num>
                      <m:den>
                        <m:r>
                          <a:rPr lang="fr-CA" b="0" i="1" dirty="0" smtClean="0">
                            <a:latin typeface="Cambria Math" panose="02040503050406030204" pitchFamily="18" charset="0"/>
                          </a:rPr>
                          <m:t>2</m:t>
                        </m:r>
                      </m:den>
                    </m:f>
                  </m:oMath>
                </a14:m>
                <a:r>
                  <a:rPr lang="en-US" dirty="0"/>
                  <a:t>, la </a:t>
                </a:r>
                <a:r>
                  <a:rPr lang="en-US" dirty="0" err="1"/>
                  <a:t>quantité</a:t>
                </a:r>
                <a:r>
                  <a:rPr lang="en-US" dirty="0"/>
                  <a:t> de </a:t>
                </a:r>
                <a:r>
                  <a:rPr lang="en-US" dirty="0" err="1"/>
                  <a:t>terme</a:t>
                </a:r>
                <a:r>
                  <a:rPr lang="en-US" baseline="0" dirty="0"/>
                  <a:t> dans les suites A et B correspond a la position du </a:t>
                </a:r>
                <a:r>
                  <a:rPr lang="en-US" baseline="0" dirty="0" err="1"/>
                  <a:t>nombre</a:t>
                </a:r>
                <a:r>
                  <a:rPr lang="en-US" baseline="0" dirty="0"/>
                  <a:t> premier </a:t>
                </a:r>
                <a:r>
                  <a:rPr lang="en-US" baseline="0" dirty="0" err="1"/>
                  <a:t>exacte</a:t>
                </a:r>
                <a:r>
                  <a:rPr lang="en-US" baseline="0" dirty="0"/>
                  <a:t> </a:t>
                </a:r>
                <a:r>
                  <a:rPr lang="en-US" baseline="0" dirty="0" err="1"/>
                  <a:t>autant</a:t>
                </a:r>
                <a:r>
                  <a:rPr lang="en-US" baseline="0" dirty="0"/>
                  <a:t> pour les suites A et B positive </a:t>
                </a:r>
                <a:r>
                  <a:rPr lang="en-US" baseline="0" dirty="0" err="1"/>
                  <a:t>que</a:t>
                </a:r>
                <a:r>
                  <a:rPr lang="en-US" baseline="0" dirty="0"/>
                  <a:t> negative </a:t>
                </a:r>
                <a:r>
                  <a:rPr lang="en-US" baseline="0" dirty="0" err="1"/>
                  <a:t>quand</a:t>
                </a:r>
                <a:r>
                  <a:rPr lang="en-US" baseline="0" dirty="0"/>
                  <a:t> 2 est le premier </a:t>
                </a:r>
                <a:r>
                  <a:rPr lang="en-US" baseline="0" dirty="0" err="1"/>
                  <a:t>nombre</a:t>
                </a:r>
                <a:r>
                  <a:rPr lang="en-US" baseline="0" dirty="0"/>
                  <a:t> premier </a:t>
                </a:r>
                <a:r>
                  <a:rPr lang="en-US" baseline="0" dirty="0" err="1"/>
                  <a:t>positif</a:t>
                </a:r>
                <a:r>
                  <a:rPr lang="en-US" baseline="0" dirty="0"/>
                  <a:t>, 3 le deuxième 5 le </a:t>
                </a:r>
                <a:r>
                  <a:rPr lang="en-US" baseline="0" dirty="0" err="1"/>
                  <a:t>troisème</a:t>
                </a:r>
                <a:r>
                  <a:rPr lang="en-US" baseline="0" dirty="0"/>
                  <a:t> et </a:t>
                </a:r>
                <a:r>
                  <a:rPr lang="en-US" baseline="0" dirty="0" err="1"/>
                  <a:t>ainsi</a:t>
                </a:r>
                <a:r>
                  <a:rPr lang="en-US" baseline="0" dirty="0"/>
                  <a:t> de suite vers </a:t>
                </a:r>
                <a:r>
                  <a:rPr lang="en-US" baseline="0" dirty="0" err="1"/>
                  <a:t>l’infini</a:t>
                </a:r>
                <a:r>
                  <a:rPr lang="en-US" baseline="0" dirty="0"/>
                  <a:t> positive dans </a:t>
                </a:r>
                <a:r>
                  <a:rPr lang="en-US" baseline="0" dirty="0" err="1"/>
                  <a:t>l’ordre</a:t>
                </a:r>
                <a:r>
                  <a:rPr lang="en-US" baseline="0" dirty="0"/>
                  <a:t> </a:t>
                </a:r>
                <a:r>
                  <a:rPr lang="en-US" baseline="0" dirty="0" err="1"/>
                  <a:t>chronologique</a:t>
                </a:r>
                <a:r>
                  <a:rPr lang="en-US" baseline="0" dirty="0"/>
                  <a:t> croissant. Le </a:t>
                </a:r>
                <a:r>
                  <a:rPr lang="en-US" baseline="0" dirty="0" err="1"/>
                  <a:t>même</a:t>
                </a:r>
                <a:r>
                  <a:rPr lang="en-US" baseline="0" dirty="0"/>
                  <a:t> </a:t>
                </a:r>
                <a:r>
                  <a:rPr lang="en-US" baseline="0" dirty="0" err="1"/>
                  <a:t>ordre</a:t>
                </a:r>
                <a:r>
                  <a:rPr lang="en-US" baseline="0" dirty="0"/>
                  <a:t> est </a:t>
                </a:r>
                <a:r>
                  <a:rPr lang="en-US" baseline="0" dirty="0" err="1"/>
                  <a:t>aussi</a:t>
                </a:r>
                <a:r>
                  <a:rPr lang="en-US" baseline="0" dirty="0"/>
                  <a:t> applicable pour les premiers </a:t>
                </a:r>
                <a:r>
                  <a:rPr lang="en-US" baseline="0" dirty="0" err="1"/>
                  <a:t>négatifs</a:t>
                </a:r>
                <a:r>
                  <a:rPr lang="en-US" baseline="0" dirty="0"/>
                  <a:t> dans </a:t>
                </a:r>
                <a:r>
                  <a:rPr lang="en-US" baseline="0" dirty="0" err="1"/>
                  <a:t>l’ordre</a:t>
                </a:r>
                <a:r>
                  <a:rPr lang="en-US" baseline="0" dirty="0"/>
                  <a:t> </a:t>
                </a:r>
                <a:r>
                  <a:rPr lang="en-US" baseline="0" dirty="0" err="1"/>
                  <a:t>décroissant</a:t>
                </a:r>
                <a:r>
                  <a:rPr lang="en-US" baseline="0" dirty="0"/>
                  <a:t> </a:t>
                </a:r>
                <a:r>
                  <a:rPr lang="en-US" baseline="0" dirty="0" err="1"/>
                  <a:t>chronologique</a:t>
                </a:r>
                <a:r>
                  <a:rPr lang="en-US" baseline="0" dirty="0"/>
                  <a:t>. Comme nous </a:t>
                </a:r>
                <a:r>
                  <a:rPr lang="en-US" baseline="0" dirty="0" err="1"/>
                  <a:t>pouvons</a:t>
                </a:r>
                <a:r>
                  <a:rPr lang="en-US" baseline="0" dirty="0"/>
                  <a:t> </a:t>
                </a:r>
                <a:r>
                  <a:rPr lang="en-US" baseline="0" dirty="0" err="1"/>
                  <a:t>l’observer</a:t>
                </a:r>
                <a:r>
                  <a:rPr lang="en-US" baseline="0" dirty="0"/>
                  <a:t> sur </a:t>
                </a:r>
                <a:r>
                  <a:rPr lang="en-US" baseline="0" dirty="0" err="1"/>
                  <a:t>cette</a:t>
                </a:r>
                <a:r>
                  <a:rPr lang="en-US" baseline="0" dirty="0"/>
                  <a:t> diapositive deux </a:t>
                </a:r>
                <a:r>
                  <a:rPr lang="en-US" baseline="0" dirty="0" err="1"/>
                  <a:t>équations</a:t>
                </a:r>
                <a:r>
                  <a:rPr lang="en-US" baseline="0" dirty="0"/>
                  <a:t> </a:t>
                </a:r>
                <a:r>
                  <a:rPr lang="en-US" baseline="0" dirty="0" err="1"/>
                  <a:t>permettent</a:t>
                </a:r>
                <a:r>
                  <a:rPr lang="en-US" baseline="0" dirty="0"/>
                  <a:t> de </a:t>
                </a:r>
                <a:r>
                  <a:rPr lang="en-US" baseline="0" dirty="0" err="1"/>
                  <a:t>trouver</a:t>
                </a:r>
                <a:r>
                  <a:rPr lang="en-US" baseline="0" dirty="0"/>
                  <a:t> la </a:t>
                </a:r>
                <a:r>
                  <a:rPr lang="en-US" baseline="0" dirty="0" err="1"/>
                  <a:t>réponse</a:t>
                </a:r>
                <a:r>
                  <a:rPr lang="en-US" baseline="0" dirty="0"/>
                  <a:t> aux suites A et B positives et deux pour les suites A et B negatives. </a:t>
                </a:r>
                <a:endParaRPr lang="en-US" dirty="0"/>
              </a:p>
            </p:txBody>
          </p:sp>
        </mc:Choice>
        <mc:Fallback xmlns="">
          <p:sp>
            <p:nvSpPr>
              <p:cNvPr id="3" name="Notes Placeholder 2"/>
              <p:cNvSpPr>
                <a:spLocks noGrp="1"/>
              </p:cNvSpPr>
              <p:nvPr>
                <p:ph type="body" idx="1"/>
              </p:nvPr>
            </p:nvSpPr>
            <p:spPr/>
            <p:txBody>
              <a:bodyPr/>
              <a:lstStyle/>
              <a:p>
                <a:r>
                  <a:rPr lang="en-US" dirty="0"/>
                  <a:t>Pour determiner le rapport spectral de la </a:t>
                </a:r>
                <a:r>
                  <a:rPr lang="en-US" dirty="0" err="1"/>
                  <a:t>méthode</a:t>
                </a:r>
                <a:r>
                  <a:rPr lang="en-US" dirty="0"/>
                  <a:t> </a:t>
                </a:r>
                <a:r>
                  <a:rPr lang="en-US" dirty="0" err="1"/>
                  <a:t>décrite</a:t>
                </a:r>
                <a:r>
                  <a:rPr lang="en-US" dirty="0"/>
                  <a:t> par la </a:t>
                </a:r>
                <a:r>
                  <a:rPr lang="en-US" dirty="0" err="1"/>
                  <a:t>géométrie</a:t>
                </a:r>
                <a:r>
                  <a:rPr lang="en-US" dirty="0"/>
                  <a:t> du </a:t>
                </a:r>
                <a:r>
                  <a:rPr lang="en-US" dirty="0" err="1"/>
                  <a:t>spectre</a:t>
                </a:r>
                <a:r>
                  <a:rPr lang="en-US" dirty="0"/>
                  <a:t> des </a:t>
                </a:r>
                <a:r>
                  <a:rPr lang="en-US" dirty="0" err="1"/>
                  <a:t>nombres</a:t>
                </a:r>
                <a:r>
                  <a:rPr lang="en-US" dirty="0"/>
                  <a:t> premiers. Il faut commencer par determiner deux suites A et B. Les deux suites A et B </a:t>
                </a:r>
                <a:r>
                  <a:rPr lang="en-US" dirty="0" err="1"/>
                  <a:t>onT</a:t>
                </a:r>
                <a:r>
                  <a:rPr lang="en-US" dirty="0"/>
                  <a:t> </a:t>
                </a:r>
                <a:r>
                  <a:rPr lang="en-US" dirty="0" err="1"/>
                  <a:t>respectivement</a:t>
                </a:r>
                <a:r>
                  <a:rPr lang="en-US" dirty="0"/>
                  <a:t> la</a:t>
                </a:r>
                <a:r>
                  <a:rPr lang="en-US" baseline="0" dirty="0"/>
                  <a:t> </a:t>
                </a:r>
                <a:r>
                  <a:rPr lang="en-US" baseline="0" dirty="0" err="1"/>
                  <a:t>même</a:t>
                </a:r>
                <a:r>
                  <a:rPr lang="en-US" baseline="0" dirty="0"/>
                  <a:t> </a:t>
                </a:r>
                <a:r>
                  <a:rPr lang="en-US" baseline="0" dirty="0" err="1"/>
                  <a:t>quantité</a:t>
                </a:r>
                <a:r>
                  <a:rPr lang="en-US" dirty="0"/>
                  <a:t> de </a:t>
                </a:r>
                <a:r>
                  <a:rPr lang="en-US" dirty="0" err="1"/>
                  <a:t>termes</a:t>
                </a:r>
                <a:r>
                  <a:rPr lang="en-US" dirty="0"/>
                  <a:t>. </a:t>
                </a:r>
                <a:r>
                  <a:rPr lang="en-US" dirty="0" err="1"/>
                  <a:t>Ces</a:t>
                </a:r>
                <a:r>
                  <a:rPr lang="en-US" dirty="0"/>
                  <a:t> suites </a:t>
                </a:r>
                <a:r>
                  <a:rPr lang="en-US" dirty="0" err="1"/>
                  <a:t>sont</a:t>
                </a:r>
                <a:r>
                  <a:rPr lang="en-US" dirty="0"/>
                  <a:t> </a:t>
                </a:r>
                <a:r>
                  <a:rPr lang="en-US" dirty="0" err="1"/>
                  <a:t>constituées</a:t>
                </a:r>
                <a:r>
                  <a:rPr lang="en-US" dirty="0"/>
                  <a:t> de 1 a </a:t>
                </a:r>
                <a:r>
                  <a:rPr lang="en-US" dirty="0" err="1"/>
                  <a:t>une</a:t>
                </a:r>
                <a:r>
                  <a:rPr lang="en-US" dirty="0"/>
                  <a:t> </a:t>
                </a:r>
                <a:r>
                  <a:rPr lang="en-US" dirty="0" err="1"/>
                  <a:t>infinité</a:t>
                </a:r>
                <a:r>
                  <a:rPr lang="en-US" dirty="0"/>
                  <a:t> de </a:t>
                </a:r>
                <a:r>
                  <a:rPr lang="en-US" dirty="0" err="1"/>
                  <a:t>termes</a:t>
                </a:r>
                <a:r>
                  <a:rPr lang="en-US" dirty="0"/>
                  <a:t>. Pour le rapport spectral </a:t>
                </a:r>
                <a:r>
                  <a:rPr lang="fr-CA" b="0" i="0">
                    <a:latin typeface="Cambria Math" panose="02040503050406030204" pitchFamily="18" charset="0"/>
                  </a:rPr>
                  <a:t>1</a:t>
                </a:r>
                <a:r>
                  <a:rPr lang="en-US" b="0" i="0">
                    <a:latin typeface="Cambria Math" panose="02040503050406030204" pitchFamily="18" charset="0"/>
                  </a:rPr>
                  <a:t>/</a:t>
                </a:r>
                <a:r>
                  <a:rPr lang="fr-CA" b="0" i="0">
                    <a:latin typeface="Cambria Math" panose="02040503050406030204" pitchFamily="18" charset="0"/>
                  </a:rPr>
                  <a:t>𝑘</a:t>
                </a:r>
                <a:r>
                  <a:rPr lang="en-US" dirty="0"/>
                  <a:t> =</a:t>
                </a:r>
                <a:r>
                  <a:rPr lang="fr-CA" b="0" i="0" dirty="0">
                    <a:latin typeface="Cambria Math" panose="02040503050406030204" pitchFamily="18" charset="0"/>
                  </a:rPr>
                  <a:t>1</a:t>
                </a:r>
                <a:r>
                  <a:rPr lang="en-US" b="0" i="0" dirty="0">
                    <a:latin typeface="Cambria Math" panose="02040503050406030204" pitchFamily="18" charset="0"/>
                  </a:rPr>
                  <a:t>/</a:t>
                </a:r>
                <a:r>
                  <a:rPr lang="fr-CA" b="0" i="0" dirty="0">
                    <a:latin typeface="Cambria Math" panose="02040503050406030204" pitchFamily="18" charset="0"/>
                  </a:rPr>
                  <a:t>2</a:t>
                </a:r>
                <a:r>
                  <a:rPr lang="en-US" dirty="0"/>
                  <a:t>, la </a:t>
                </a:r>
                <a:r>
                  <a:rPr lang="en-US" dirty="0" err="1"/>
                  <a:t>quantité</a:t>
                </a:r>
                <a:r>
                  <a:rPr lang="en-US" dirty="0"/>
                  <a:t> de </a:t>
                </a:r>
                <a:r>
                  <a:rPr lang="en-US" dirty="0" err="1"/>
                  <a:t>terme</a:t>
                </a:r>
                <a:r>
                  <a:rPr lang="en-US" baseline="0" dirty="0"/>
                  <a:t> dans les suites A et B correspond a la position du </a:t>
                </a:r>
                <a:r>
                  <a:rPr lang="en-US" baseline="0" dirty="0" err="1"/>
                  <a:t>nombre</a:t>
                </a:r>
                <a:r>
                  <a:rPr lang="en-US" baseline="0" dirty="0"/>
                  <a:t> premier </a:t>
                </a:r>
                <a:r>
                  <a:rPr lang="en-US" baseline="0" dirty="0" err="1"/>
                  <a:t>exacte</a:t>
                </a:r>
                <a:r>
                  <a:rPr lang="en-US" baseline="0" dirty="0"/>
                  <a:t> </a:t>
                </a:r>
                <a:r>
                  <a:rPr lang="en-US" baseline="0" dirty="0" err="1"/>
                  <a:t>autant</a:t>
                </a:r>
                <a:r>
                  <a:rPr lang="en-US" baseline="0" dirty="0"/>
                  <a:t> pour les suites A et B positive </a:t>
                </a:r>
                <a:r>
                  <a:rPr lang="en-US" baseline="0" dirty="0" err="1"/>
                  <a:t>que</a:t>
                </a:r>
                <a:r>
                  <a:rPr lang="en-US" baseline="0" dirty="0"/>
                  <a:t> negative </a:t>
                </a:r>
                <a:r>
                  <a:rPr lang="en-US" baseline="0" dirty="0" err="1"/>
                  <a:t>quand</a:t>
                </a:r>
                <a:r>
                  <a:rPr lang="en-US" baseline="0" dirty="0"/>
                  <a:t> 2 est le premier </a:t>
                </a:r>
                <a:r>
                  <a:rPr lang="en-US" baseline="0" dirty="0" err="1"/>
                  <a:t>nombre</a:t>
                </a:r>
                <a:r>
                  <a:rPr lang="en-US" baseline="0" dirty="0"/>
                  <a:t> premier </a:t>
                </a:r>
                <a:r>
                  <a:rPr lang="en-US" baseline="0" dirty="0" err="1"/>
                  <a:t>positif</a:t>
                </a:r>
                <a:r>
                  <a:rPr lang="en-US" baseline="0" dirty="0"/>
                  <a:t>, 3 le deuxième 5 le </a:t>
                </a:r>
                <a:r>
                  <a:rPr lang="en-US" baseline="0" dirty="0" err="1"/>
                  <a:t>troisème</a:t>
                </a:r>
                <a:r>
                  <a:rPr lang="en-US" baseline="0" dirty="0"/>
                  <a:t> et </a:t>
                </a:r>
                <a:r>
                  <a:rPr lang="en-US" baseline="0" dirty="0" err="1"/>
                  <a:t>ainsi</a:t>
                </a:r>
                <a:r>
                  <a:rPr lang="en-US" baseline="0" dirty="0"/>
                  <a:t> de suite vers </a:t>
                </a:r>
                <a:r>
                  <a:rPr lang="en-US" baseline="0" dirty="0" err="1"/>
                  <a:t>l’infini</a:t>
                </a:r>
                <a:r>
                  <a:rPr lang="en-US" baseline="0" dirty="0"/>
                  <a:t> positive dans </a:t>
                </a:r>
                <a:r>
                  <a:rPr lang="en-US" baseline="0" dirty="0" err="1"/>
                  <a:t>l’ordre</a:t>
                </a:r>
                <a:r>
                  <a:rPr lang="en-US" baseline="0" dirty="0"/>
                  <a:t> </a:t>
                </a:r>
                <a:r>
                  <a:rPr lang="en-US" baseline="0" dirty="0" err="1"/>
                  <a:t>chronologique</a:t>
                </a:r>
                <a:r>
                  <a:rPr lang="en-US" baseline="0" dirty="0"/>
                  <a:t> croissant. Le </a:t>
                </a:r>
                <a:r>
                  <a:rPr lang="en-US" baseline="0" dirty="0" err="1"/>
                  <a:t>même</a:t>
                </a:r>
                <a:r>
                  <a:rPr lang="en-US" baseline="0" dirty="0"/>
                  <a:t> </a:t>
                </a:r>
                <a:r>
                  <a:rPr lang="en-US" baseline="0" dirty="0" err="1"/>
                  <a:t>ordre</a:t>
                </a:r>
                <a:r>
                  <a:rPr lang="en-US" baseline="0" dirty="0"/>
                  <a:t> est </a:t>
                </a:r>
                <a:r>
                  <a:rPr lang="en-US" baseline="0" dirty="0" err="1"/>
                  <a:t>aussi</a:t>
                </a:r>
                <a:r>
                  <a:rPr lang="en-US" baseline="0" dirty="0"/>
                  <a:t> applicable pour les premiers </a:t>
                </a:r>
                <a:r>
                  <a:rPr lang="en-US" baseline="0" dirty="0" err="1"/>
                  <a:t>négatifs</a:t>
                </a:r>
                <a:r>
                  <a:rPr lang="en-US" baseline="0" dirty="0"/>
                  <a:t> dans </a:t>
                </a:r>
                <a:r>
                  <a:rPr lang="en-US" baseline="0" dirty="0" err="1"/>
                  <a:t>l’ordre</a:t>
                </a:r>
                <a:r>
                  <a:rPr lang="en-US" baseline="0" dirty="0"/>
                  <a:t> </a:t>
                </a:r>
                <a:r>
                  <a:rPr lang="en-US" baseline="0" dirty="0" err="1"/>
                  <a:t>décroissant</a:t>
                </a:r>
                <a:r>
                  <a:rPr lang="en-US" baseline="0" dirty="0"/>
                  <a:t> </a:t>
                </a:r>
                <a:r>
                  <a:rPr lang="en-US" baseline="0" dirty="0" err="1"/>
                  <a:t>chronologique</a:t>
                </a:r>
                <a:r>
                  <a:rPr lang="en-US" baseline="0" dirty="0"/>
                  <a:t>. Comme nous </a:t>
                </a:r>
                <a:r>
                  <a:rPr lang="en-US" baseline="0" dirty="0" err="1"/>
                  <a:t>pouvons</a:t>
                </a:r>
                <a:r>
                  <a:rPr lang="en-US" baseline="0" dirty="0"/>
                  <a:t> </a:t>
                </a:r>
                <a:r>
                  <a:rPr lang="en-US" baseline="0" dirty="0" err="1"/>
                  <a:t>l’observer</a:t>
                </a:r>
                <a:r>
                  <a:rPr lang="en-US" baseline="0" dirty="0"/>
                  <a:t> sur </a:t>
                </a:r>
                <a:r>
                  <a:rPr lang="en-US" baseline="0" dirty="0" err="1"/>
                  <a:t>cette</a:t>
                </a:r>
                <a:r>
                  <a:rPr lang="en-US" baseline="0" dirty="0"/>
                  <a:t> diapositive deux </a:t>
                </a:r>
                <a:r>
                  <a:rPr lang="en-US" baseline="0" dirty="0" err="1"/>
                  <a:t>équations</a:t>
                </a:r>
                <a:r>
                  <a:rPr lang="en-US" baseline="0" dirty="0"/>
                  <a:t> </a:t>
                </a:r>
                <a:r>
                  <a:rPr lang="en-US" baseline="0" dirty="0" err="1"/>
                  <a:t>permettent</a:t>
                </a:r>
                <a:r>
                  <a:rPr lang="en-US" baseline="0" dirty="0"/>
                  <a:t> de </a:t>
                </a:r>
                <a:r>
                  <a:rPr lang="en-US" baseline="0" dirty="0" err="1"/>
                  <a:t>trouver</a:t>
                </a:r>
                <a:r>
                  <a:rPr lang="en-US" baseline="0" dirty="0"/>
                  <a:t> la </a:t>
                </a:r>
                <a:r>
                  <a:rPr lang="en-US" baseline="0" dirty="0" err="1"/>
                  <a:t>réponse</a:t>
                </a:r>
                <a:r>
                  <a:rPr lang="en-US" baseline="0" dirty="0"/>
                  <a:t> aux suites A et B positives et deux pour les suites A et B negatives. </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a:t>
            </a:r>
            <a:r>
              <a:rPr lang="en-US" dirty="0" err="1"/>
              <a:t>sytème</a:t>
            </a:r>
            <a:r>
              <a:rPr lang="en-US" dirty="0"/>
              <a:t> de numeration grecque le </a:t>
            </a:r>
            <a:r>
              <a:rPr lang="en-US" dirty="0" err="1"/>
              <a:t>Zêta</a:t>
            </a:r>
            <a:r>
              <a:rPr lang="en-US" dirty="0"/>
              <a:t> </a:t>
            </a:r>
            <a:r>
              <a:rPr lang="en-US" dirty="0" err="1"/>
              <a:t>vaut</a:t>
            </a:r>
            <a:r>
              <a:rPr lang="en-US" dirty="0"/>
              <a:t> 7 bien </a:t>
            </a:r>
            <a:r>
              <a:rPr lang="en-US" dirty="0" err="1"/>
              <a:t>qu’il</a:t>
            </a:r>
            <a:r>
              <a:rPr lang="en-US" dirty="0"/>
              <a:t> </a:t>
            </a:r>
            <a:r>
              <a:rPr lang="en-US" dirty="0" err="1"/>
              <a:t>occupe</a:t>
            </a:r>
            <a:r>
              <a:rPr lang="en-US" dirty="0"/>
              <a:t> la 6ième position. Ceci est </a:t>
            </a:r>
            <a:r>
              <a:rPr lang="en-US" dirty="0" err="1"/>
              <a:t>dû</a:t>
            </a:r>
            <a:r>
              <a:rPr lang="en-US" dirty="0"/>
              <a:t> a l’ancienne existence du Digamma </a:t>
            </a:r>
            <a:r>
              <a:rPr lang="en-US" dirty="0" err="1"/>
              <a:t>situé</a:t>
            </a:r>
            <a:r>
              <a:rPr lang="en-US" dirty="0"/>
              <a:t> entre </a:t>
            </a:r>
            <a:r>
              <a:rPr lang="en-US" dirty="0" err="1"/>
              <a:t>l’epsilon</a:t>
            </a:r>
            <a:r>
              <a:rPr lang="en-US" dirty="0"/>
              <a:t> et le </a:t>
            </a:r>
            <a:r>
              <a:rPr lang="en-US" dirty="0" err="1"/>
              <a:t>Zêta</a:t>
            </a:r>
            <a:r>
              <a:rPr lang="en-US" dirty="0"/>
              <a:t>. Un definition sur </a:t>
            </a:r>
            <a:r>
              <a:rPr lang="en-US" dirty="0" err="1"/>
              <a:t>l’encyclopédie</a:t>
            </a:r>
            <a:r>
              <a:rPr lang="en-US" dirty="0"/>
              <a:t> libre </a:t>
            </a:r>
            <a:r>
              <a:rPr lang="en-US" dirty="0" err="1"/>
              <a:t>Wikipédia</a:t>
            </a:r>
            <a:r>
              <a:rPr lang="en-US" dirty="0"/>
              <a:t> sur le web.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a:t>
            </a:r>
            <a:r>
              <a:rPr lang="en-US" dirty="0" err="1"/>
              <a:t>élabore</a:t>
            </a:r>
            <a:r>
              <a:rPr lang="en-US" dirty="0"/>
              <a:t> sur un </a:t>
            </a:r>
            <a:r>
              <a:rPr lang="en-US" dirty="0" err="1"/>
              <a:t>exemple</a:t>
            </a:r>
            <a:r>
              <a:rPr lang="en-US" dirty="0"/>
              <a:t> de suite A et B negative. Comme dans </a:t>
            </a:r>
            <a:r>
              <a:rPr lang="en-US" dirty="0" err="1"/>
              <a:t>l’exemple</a:t>
            </a:r>
            <a:r>
              <a:rPr lang="en-US" dirty="0"/>
              <a:t> </a:t>
            </a:r>
            <a:r>
              <a:rPr lang="en-US" dirty="0" err="1"/>
              <a:t>concerne</a:t>
            </a:r>
            <a:r>
              <a:rPr lang="en-US" dirty="0"/>
              <a:t> le 3ième </a:t>
            </a:r>
            <a:r>
              <a:rPr lang="en-US" dirty="0" err="1"/>
              <a:t>nombre</a:t>
            </a:r>
            <a:r>
              <a:rPr lang="en-US" dirty="0"/>
              <a:t> premier </a:t>
            </a:r>
            <a:r>
              <a:rPr lang="en-US" dirty="0" err="1"/>
              <a:t>négatif</a:t>
            </a:r>
            <a:r>
              <a:rPr lang="en-US" dirty="0"/>
              <a:t> -5. Les trois </a:t>
            </a:r>
            <a:r>
              <a:rPr lang="en-US" dirty="0" err="1"/>
              <a:t>termes</a:t>
            </a:r>
            <a:r>
              <a:rPr lang="en-US" dirty="0"/>
              <a:t> de la suite </a:t>
            </a:r>
            <a:r>
              <a:rPr lang="en-US" dirty="0" err="1"/>
              <a:t>ceux</a:t>
            </a:r>
            <a:r>
              <a:rPr lang="en-US" dirty="0"/>
              <a:t> qui ne </a:t>
            </a:r>
            <a:r>
              <a:rPr lang="en-US" dirty="0" err="1"/>
              <a:t>sont</a:t>
            </a:r>
            <a:r>
              <a:rPr lang="en-US" dirty="0"/>
              <a:t> pas 13/4 et -2 pour la suite A et 13/2 et -66 pour la suite B </a:t>
            </a:r>
            <a:r>
              <a:rPr lang="en-US" dirty="0" err="1"/>
              <a:t>respectant</a:t>
            </a:r>
            <a:r>
              <a:rPr lang="en-US" dirty="0"/>
              <a:t> la </a:t>
            </a:r>
            <a:r>
              <a:rPr lang="en-US" dirty="0" err="1"/>
              <a:t>règle</a:t>
            </a:r>
            <a:r>
              <a:rPr lang="en-US" dirty="0"/>
              <a:t> </a:t>
            </a:r>
            <a:r>
              <a:rPr lang="en-US" dirty="0" err="1"/>
              <a:t>établit</a:t>
            </a:r>
            <a:r>
              <a:rPr lang="en-US" dirty="0"/>
              <a:t> qui </a:t>
            </a:r>
            <a:r>
              <a:rPr lang="en-US" dirty="0" err="1"/>
              <a:t>veux</a:t>
            </a:r>
            <a:r>
              <a:rPr lang="en-US" dirty="0"/>
              <a:t> </a:t>
            </a:r>
            <a:r>
              <a:rPr lang="en-US" dirty="0" err="1"/>
              <a:t>que</a:t>
            </a:r>
            <a:r>
              <a:rPr lang="en-US" dirty="0"/>
              <a:t> la </a:t>
            </a:r>
            <a:r>
              <a:rPr lang="en-US" dirty="0" err="1"/>
              <a:t>quantité</a:t>
            </a:r>
            <a:r>
              <a:rPr lang="en-US" dirty="0"/>
              <a:t> de </a:t>
            </a:r>
            <a:r>
              <a:rPr lang="en-US" dirty="0" err="1"/>
              <a:t>termes</a:t>
            </a:r>
            <a:r>
              <a:rPr lang="en-US" dirty="0"/>
              <a:t> dans les suites A et B </a:t>
            </a:r>
            <a:r>
              <a:rPr lang="en-US" dirty="0" err="1"/>
              <a:t>égale</a:t>
            </a:r>
            <a:r>
              <a:rPr lang="en-US" dirty="0"/>
              <a:t> la position du </a:t>
            </a:r>
            <a:r>
              <a:rPr lang="en-US" dirty="0" err="1"/>
              <a:t>nombre</a:t>
            </a:r>
            <a:r>
              <a:rPr lang="en-US" dirty="0"/>
              <a:t> premier et par consequent a la </a:t>
            </a:r>
            <a:r>
              <a:rPr lang="en-US" dirty="0" err="1"/>
              <a:t>valeur</a:t>
            </a:r>
            <a:r>
              <a:rPr lang="en-US" dirty="0"/>
              <a:t> de 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diapositive </a:t>
            </a:r>
            <a:r>
              <a:rPr lang="en-US" dirty="0" err="1"/>
              <a:t>suivante</a:t>
            </a:r>
            <a:r>
              <a:rPr lang="en-US" dirty="0"/>
              <a:t> </a:t>
            </a:r>
            <a:r>
              <a:rPr lang="en-US" dirty="0" err="1"/>
              <a:t>donne</a:t>
            </a:r>
            <a:r>
              <a:rPr lang="en-US" dirty="0"/>
              <a:t> deux </a:t>
            </a:r>
            <a:r>
              <a:rPr lang="en-US" dirty="0" err="1"/>
              <a:t>exemples</a:t>
            </a:r>
            <a:r>
              <a:rPr lang="en-US" dirty="0"/>
              <a:t> sur comment determiner le </a:t>
            </a:r>
            <a:r>
              <a:rPr lang="en-US" dirty="0" err="1"/>
              <a:t>nombre</a:t>
            </a:r>
            <a:r>
              <a:rPr lang="en-US" dirty="0"/>
              <a:t> premier </a:t>
            </a:r>
            <a:r>
              <a:rPr lang="en-US" dirty="0" err="1"/>
              <a:t>une</a:t>
            </a:r>
            <a:r>
              <a:rPr lang="en-US" dirty="0"/>
              <a:t> </a:t>
            </a:r>
            <a:r>
              <a:rPr lang="en-US" dirty="0" err="1"/>
              <a:t>fois</a:t>
            </a:r>
            <a:r>
              <a:rPr lang="en-US" dirty="0"/>
              <a:t> </a:t>
            </a:r>
            <a:r>
              <a:rPr lang="en-US" dirty="0" err="1"/>
              <a:t>que</a:t>
            </a:r>
            <a:r>
              <a:rPr lang="en-US" dirty="0"/>
              <a:t> les deux suites et </a:t>
            </a:r>
            <a:r>
              <a:rPr lang="en-US" dirty="0" err="1"/>
              <a:t>leurs</a:t>
            </a:r>
            <a:r>
              <a:rPr lang="en-US" dirty="0"/>
              <a:t> </a:t>
            </a:r>
            <a:r>
              <a:rPr lang="en-US" dirty="0" err="1"/>
              <a:t>sommes</a:t>
            </a:r>
            <a:r>
              <a:rPr lang="en-US" dirty="0"/>
              <a:t> </a:t>
            </a:r>
            <a:r>
              <a:rPr lang="en-US" dirty="0" err="1"/>
              <a:t>ont</a:t>
            </a:r>
            <a:r>
              <a:rPr lang="en-US" dirty="0"/>
              <a:t> </a:t>
            </a:r>
            <a:r>
              <a:rPr lang="en-US" dirty="0" err="1"/>
              <a:t>été</a:t>
            </a:r>
            <a:r>
              <a:rPr lang="en-US" dirty="0"/>
              <a:t> </a:t>
            </a:r>
            <a:r>
              <a:rPr lang="en-US" dirty="0" err="1"/>
              <a:t>calculés</a:t>
            </a:r>
            <a:r>
              <a:rPr lang="en-US" dirty="0"/>
              <a:t>. Nous </a:t>
            </a:r>
            <a:r>
              <a:rPr lang="en-US" dirty="0" err="1"/>
              <a:t>pouvons</a:t>
            </a:r>
            <a:r>
              <a:rPr lang="en-US" dirty="0"/>
              <a:t> observer </a:t>
            </a:r>
            <a:r>
              <a:rPr lang="en-US" dirty="0" err="1"/>
              <a:t>que</a:t>
            </a:r>
            <a:r>
              <a:rPr lang="en-US" dirty="0"/>
              <a:t> </a:t>
            </a:r>
            <a:r>
              <a:rPr lang="en-US" dirty="0" err="1"/>
              <a:t>dansles</a:t>
            </a:r>
            <a:r>
              <a:rPr lang="en-US" dirty="0"/>
              <a:t> deux il </a:t>
            </a:r>
            <a:r>
              <a:rPr lang="en-US" dirty="0" err="1"/>
              <a:t>suffit</a:t>
            </a:r>
            <a:r>
              <a:rPr lang="en-US" dirty="0"/>
              <a:t> de </a:t>
            </a:r>
            <a:r>
              <a:rPr lang="en-US" dirty="0" err="1"/>
              <a:t>soustraire</a:t>
            </a:r>
            <a:r>
              <a:rPr lang="en-US" dirty="0"/>
              <a:t> a la </a:t>
            </a:r>
            <a:r>
              <a:rPr lang="en-US" dirty="0" err="1"/>
              <a:t>somme</a:t>
            </a:r>
            <a:r>
              <a:rPr lang="en-US" dirty="0"/>
              <a:t> de la suite B le Digamma et de </a:t>
            </a:r>
            <a:r>
              <a:rPr lang="en-US" dirty="0" err="1"/>
              <a:t>diviser</a:t>
            </a:r>
            <a:r>
              <a:rPr lang="en-US" dirty="0"/>
              <a:t> par le </a:t>
            </a:r>
            <a:r>
              <a:rPr lang="en-US" dirty="0" err="1"/>
              <a:t>zêta</a:t>
            </a:r>
            <a:r>
              <a:rPr lang="en-US" dirty="0"/>
              <a:t> la 6ième position de la suite A qui est la </a:t>
            </a:r>
            <a:r>
              <a:rPr lang="en-US" dirty="0" err="1"/>
              <a:t>valeur</a:t>
            </a:r>
            <a:r>
              <a:rPr lang="en-US" dirty="0"/>
              <a:t> </a:t>
            </a:r>
            <a:r>
              <a:rPr lang="en-US" dirty="0" err="1"/>
              <a:t>substitué</a:t>
            </a:r>
            <a:r>
              <a:rPr lang="en-US" dirty="0"/>
              <a:t> dans la suite B qui correspond a la 6ième position de la suite A et qui est </a:t>
            </a:r>
            <a:r>
              <a:rPr lang="en-US" dirty="0" err="1"/>
              <a:t>substitué</a:t>
            </a:r>
            <a:r>
              <a:rPr lang="en-US" dirty="0"/>
              <a:t> dans la suite B par la 7ième position de la suite A. Nous </a:t>
            </a:r>
            <a:r>
              <a:rPr lang="en-US" dirty="0" err="1"/>
              <a:t>pouvons</a:t>
            </a:r>
            <a:r>
              <a:rPr lang="en-US" dirty="0"/>
              <a:t> </a:t>
            </a:r>
            <a:r>
              <a:rPr lang="en-US" dirty="0" err="1"/>
              <a:t>alors</a:t>
            </a:r>
            <a:r>
              <a:rPr lang="en-US" dirty="0"/>
              <a:t> observer </a:t>
            </a:r>
            <a:r>
              <a:rPr lang="en-US" dirty="0" err="1"/>
              <a:t>que</a:t>
            </a:r>
            <a:r>
              <a:rPr lang="en-US" dirty="0"/>
              <a:t> les deux </a:t>
            </a:r>
            <a:r>
              <a:rPr lang="en-US" dirty="0" err="1"/>
              <a:t>nombres</a:t>
            </a:r>
            <a:r>
              <a:rPr lang="en-US" dirty="0"/>
              <a:t> premiers 29 et -5 </a:t>
            </a:r>
            <a:r>
              <a:rPr lang="en-US" dirty="0" err="1"/>
              <a:t>sont</a:t>
            </a:r>
            <a:r>
              <a:rPr lang="en-US" dirty="0"/>
              <a:t> bien la </a:t>
            </a:r>
            <a:r>
              <a:rPr lang="en-US" dirty="0" err="1"/>
              <a:t>valeur</a:t>
            </a:r>
            <a:r>
              <a:rPr lang="en-US" dirty="0"/>
              <a:t> </a:t>
            </a:r>
            <a:r>
              <a:rPr lang="en-US" dirty="0" err="1"/>
              <a:t>attendu</a:t>
            </a:r>
            <a:r>
              <a:rPr lang="en-US" dirty="0"/>
              <a:t> et </a:t>
            </a:r>
            <a:r>
              <a:rPr lang="en-US" dirty="0" err="1"/>
              <a:t>qu’elle</a:t>
            </a:r>
            <a:r>
              <a:rPr lang="en-US" dirty="0"/>
              <a:t> est </a:t>
            </a:r>
            <a:r>
              <a:rPr lang="en-US" dirty="0" err="1"/>
              <a:t>effectivement</a:t>
            </a:r>
            <a:r>
              <a:rPr lang="en-US" dirty="0"/>
              <a:t> </a:t>
            </a:r>
            <a:r>
              <a:rPr lang="en-US" dirty="0" err="1"/>
              <a:t>celle</a:t>
            </a:r>
            <a:r>
              <a:rPr lang="en-US" dirty="0"/>
              <a:t> </a:t>
            </a:r>
            <a:r>
              <a:rPr lang="en-US" dirty="0" err="1"/>
              <a:t>dévoilé</a:t>
            </a:r>
            <a:r>
              <a:rPr lang="en-US" dirty="0"/>
              <a:t> par le </a:t>
            </a:r>
            <a:r>
              <a:rPr lang="en-US" dirty="0" err="1"/>
              <a:t>résultat</a:t>
            </a:r>
            <a:r>
              <a:rPr lang="en-US" dirty="0"/>
              <a:t> de </a:t>
            </a:r>
            <a:r>
              <a:rPr lang="en-US" dirty="0" err="1"/>
              <a:t>l’équation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t>
            </a:r>
            <a:r>
              <a:rPr lang="en-US" dirty="0" err="1"/>
              <a:t>verons</a:t>
            </a:r>
            <a:r>
              <a:rPr lang="en-US" dirty="0"/>
              <a:t> dans les </a:t>
            </a:r>
            <a:r>
              <a:rPr lang="en-US" dirty="0" err="1"/>
              <a:t>prochaines</a:t>
            </a:r>
            <a:r>
              <a:rPr lang="en-US" dirty="0"/>
              <a:t> sections comment determiner le rapport spectral a </a:t>
            </a:r>
            <a:r>
              <a:rPr lang="en-US" dirty="0" err="1"/>
              <a:t>l’aide</a:t>
            </a:r>
            <a:r>
              <a:rPr lang="en-US" dirty="0"/>
              <a:t> des deux </a:t>
            </a:r>
            <a:r>
              <a:rPr lang="en-US" dirty="0" err="1"/>
              <a:t>équations</a:t>
            </a:r>
            <a:r>
              <a:rPr lang="en-US" dirty="0"/>
              <a:t> et de la </a:t>
            </a:r>
            <a:r>
              <a:rPr lang="en-US" dirty="0" err="1"/>
              <a:t>somme</a:t>
            </a:r>
            <a:r>
              <a:rPr lang="en-US" dirty="0"/>
              <a:t> des suites A et B pour trois types de </a:t>
            </a:r>
            <a:r>
              <a:rPr lang="en-US" dirty="0" err="1"/>
              <a:t>comparaisons</a:t>
            </a:r>
            <a:r>
              <a:rPr lang="en-US" dirty="0"/>
              <a:t> </a:t>
            </a:r>
            <a:r>
              <a:rPr lang="en-US" dirty="0" err="1"/>
              <a:t>différentes</a:t>
            </a:r>
            <a:r>
              <a:rPr lang="en-US" dirty="0"/>
              <a:t>. LA </a:t>
            </a:r>
            <a:r>
              <a:rPr lang="en-US" dirty="0" err="1"/>
              <a:t>comparaison</a:t>
            </a:r>
            <a:r>
              <a:rPr lang="en-US" dirty="0"/>
              <a:t> </a:t>
            </a:r>
            <a:r>
              <a:rPr lang="en-US" dirty="0" err="1"/>
              <a:t>symétrique</a:t>
            </a:r>
            <a:r>
              <a:rPr lang="en-US" dirty="0"/>
              <a:t> n*n la </a:t>
            </a:r>
            <a:r>
              <a:rPr lang="en-US" dirty="0" err="1"/>
              <a:t>comparaison</a:t>
            </a:r>
            <a:r>
              <a:rPr lang="en-US" dirty="0"/>
              <a:t> </a:t>
            </a:r>
            <a:r>
              <a:rPr lang="en-US" dirty="0" err="1"/>
              <a:t>asymétrique</a:t>
            </a:r>
            <a:r>
              <a:rPr lang="en-US" dirty="0"/>
              <a:t> qui pour </a:t>
            </a:r>
            <a:r>
              <a:rPr lang="en-US" dirty="0" err="1"/>
              <a:t>cette</a:t>
            </a:r>
            <a:r>
              <a:rPr lang="en-US" dirty="0"/>
              <a:t> </a:t>
            </a:r>
            <a:r>
              <a:rPr lang="en-US" dirty="0" err="1"/>
              <a:t>possibilité</a:t>
            </a:r>
            <a:r>
              <a:rPr lang="en-US" dirty="0"/>
              <a:t> </a:t>
            </a:r>
            <a:r>
              <a:rPr lang="en-US" dirty="0" err="1"/>
              <a:t>permet</a:t>
            </a:r>
            <a:r>
              <a:rPr lang="en-US" dirty="0"/>
              <a:t> deux </a:t>
            </a:r>
            <a:r>
              <a:rPr lang="en-US" dirty="0" err="1"/>
              <a:t>comparaison</a:t>
            </a:r>
            <a:r>
              <a:rPr lang="en-US" dirty="0"/>
              <a:t> </a:t>
            </a:r>
            <a:r>
              <a:rPr lang="en-US" dirty="0" err="1"/>
              <a:t>différentes</a:t>
            </a:r>
            <a:r>
              <a:rPr lang="en-US" dirty="0"/>
              <a:t>. La </a:t>
            </a:r>
            <a:r>
              <a:rPr lang="en-US" dirty="0" err="1"/>
              <a:t>comparaison</a:t>
            </a:r>
            <a:r>
              <a:rPr lang="en-US" dirty="0"/>
              <a:t> </a:t>
            </a:r>
            <a:r>
              <a:rPr lang="en-US" dirty="0" err="1"/>
              <a:t>asymétrique</a:t>
            </a:r>
            <a:r>
              <a:rPr lang="en-US" dirty="0"/>
              <a:t> </a:t>
            </a:r>
            <a:r>
              <a:rPr lang="en-US" dirty="0" err="1"/>
              <a:t>ordonnée</a:t>
            </a:r>
            <a:r>
              <a:rPr lang="en-US" dirty="0"/>
              <a:t> et la </a:t>
            </a:r>
            <a:r>
              <a:rPr lang="en-US" dirty="0" err="1"/>
              <a:t>comparaison</a:t>
            </a:r>
            <a:r>
              <a:rPr lang="en-US" dirty="0"/>
              <a:t> </a:t>
            </a:r>
            <a:r>
              <a:rPr lang="en-US" dirty="0" err="1"/>
              <a:t>asymétrique</a:t>
            </a:r>
            <a:r>
              <a:rPr lang="en-US" dirty="0"/>
              <a:t> </a:t>
            </a:r>
            <a:r>
              <a:rPr lang="en-US" dirty="0" err="1"/>
              <a:t>chaotique</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A present la diapositive nous </a:t>
                </a:r>
                <a:r>
                  <a:rPr lang="en-US" dirty="0" err="1"/>
                  <a:t>permet</a:t>
                </a:r>
                <a:r>
                  <a:rPr lang="en-US" dirty="0"/>
                  <a:t> </a:t>
                </a:r>
                <a:r>
                  <a:rPr lang="en-US" dirty="0" err="1"/>
                  <a:t>d’observer</a:t>
                </a:r>
                <a:r>
                  <a:rPr lang="en-US" dirty="0"/>
                  <a:t> </a:t>
                </a:r>
                <a:r>
                  <a:rPr lang="en-US" dirty="0" err="1"/>
                  <a:t>une</a:t>
                </a:r>
                <a:r>
                  <a:rPr lang="en-US" dirty="0"/>
                  <a:t> </a:t>
                </a:r>
                <a:r>
                  <a:rPr lang="en-US" dirty="0" err="1"/>
                  <a:t>comparaison</a:t>
                </a:r>
                <a:r>
                  <a:rPr lang="en-US" dirty="0"/>
                  <a:t> </a:t>
                </a:r>
                <a:r>
                  <a:rPr lang="en-US" dirty="0" err="1"/>
                  <a:t>symétrique</a:t>
                </a:r>
                <a:r>
                  <a:rPr lang="en-US" dirty="0"/>
                  <a:t> entre deux premier(-5 et 29)? Il est possible </a:t>
                </a:r>
                <a:r>
                  <a:rPr lang="en-US" dirty="0" err="1"/>
                  <a:t>d’étendre</a:t>
                </a:r>
                <a:r>
                  <a:rPr lang="en-US" dirty="0"/>
                  <a:t> la </a:t>
                </a:r>
                <a:r>
                  <a:rPr lang="en-US" dirty="0" err="1"/>
                  <a:t>méthode</a:t>
                </a:r>
                <a:r>
                  <a:rPr lang="en-US" dirty="0"/>
                  <a:t> pour </a:t>
                </a:r>
                <a:r>
                  <a:rPr lang="en-US" dirty="0" err="1"/>
                  <a:t>une</a:t>
                </a:r>
                <a:r>
                  <a:rPr lang="en-US" dirty="0"/>
                  <a:t> </a:t>
                </a:r>
                <a:r>
                  <a:rPr lang="en-US" dirty="0" err="1"/>
                  <a:t>comparaison</a:t>
                </a:r>
                <a:r>
                  <a:rPr lang="en-US" dirty="0"/>
                  <a:t> </a:t>
                </a:r>
                <a:r>
                  <a:rPr lang="en-US" dirty="0" err="1"/>
                  <a:t>symétrique</a:t>
                </a:r>
                <a:r>
                  <a:rPr lang="en-US" dirty="0"/>
                  <a:t> </a:t>
                </a:r>
                <a14:m>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1</m:t>
                        </m:r>
                      </m:num>
                      <m:den>
                        <m:r>
                          <a:rPr lang="fr-CA" b="0" i="1" smtClean="0">
                            <a:latin typeface="Cambria Math" panose="02040503050406030204" pitchFamily="18" charset="0"/>
                            <a:ea typeface="Cambria Math" panose="02040503050406030204" pitchFamily="18" charset="0"/>
                          </a:rPr>
                          <m:t>𝑘</m:t>
                        </m:r>
                      </m:den>
                    </m:f>
                    <m:r>
                      <a:rPr lang="fr-CA" b="0" i="1" smtClean="0">
                        <a:latin typeface="Cambria Math" panose="02040503050406030204" pitchFamily="18" charset="0"/>
                        <a:ea typeface="Cambria Math" panose="02040503050406030204" pitchFamily="18" charset="0"/>
                      </a:rPr>
                      <m:t>𝑟𝑎𝑝𝑝𝑜𝑟𝑡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𝑠𝑝𝑒𝑐𝑡𝑟𝑎𝑙</m:t>
                    </m:r>
                    <m:r>
                      <a:rPr lang="fr-CA"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 name="Notes Placeholder 2"/>
              <p:cNvSpPr>
                <a:spLocks noGrp="1"/>
              </p:cNvSpPr>
              <p:nvPr>
                <p:ph type="body" idx="1"/>
              </p:nvPr>
            </p:nvSpPr>
            <p:spPr/>
            <p:txBody>
              <a:bodyPr/>
              <a:lstStyle/>
              <a:p>
                <a:r>
                  <a:rPr lang="en-US" dirty="0"/>
                  <a:t>A present la diapositive nous </a:t>
                </a:r>
                <a:r>
                  <a:rPr lang="en-US" dirty="0" err="1"/>
                  <a:t>permet</a:t>
                </a:r>
                <a:r>
                  <a:rPr lang="en-US" dirty="0"/>
                  <a:t> </a:t>
                </a:r>
                <a:r>
                  <a:rPr lang="en-US" dirty="0" err="1"/>
                  <a:t>d’observer</a:t>
                </a:r>
                <a:r>
                  <a:rPr lang="en-US" dirty="0"/>
                  <a:t> </a:t>
                </a:r>
                <a:r>
                  <a:rPr lang="en-US" dirty="0" err="1"/>
                  <a:t>une</a:t>
                </a:r>
                <a:r>
                  <a:rPr lang="en-US" dirty="0"/>
                  <a:t> </a:t>
                </a:r>
                <a:r>
                  <a:rPr lang="en-US" dirty="0" err="1"/>
                  <a:t>comparaison</a:t>
                </a:r>
                <a:r>
                  <a:rPr lang="en-US" dirty="0"/>
                  <a:t> </a:t>
                </a:r>
                <a:r>
                  <a:rPr lang="en-US" dirty="0" err="1"/>
                  <a:t>symétrique</a:t>
                </a:r>
                <a:r>
                  <a:rPr lang="en-US" dirty="0"/>
                  <a:t> entre deux premier(-5 et 29)? Il est possible </a:t>
                </a:r>
                <a:r>
                  <a:rPr lang="en-US" dirty="0" err="1"/>
                  <a:t>d’étendre</a:t>
                </a:r>
                <a:r>
                  <a:rPr lang="en-US" dirty="0"/>
                  <a:t> la </a:t>
                </a:r>
                <a:r>
                  <a:rPr lang="en-US" dirty="0" err="1"/>
                  <a:t>méthode</a:t>
                </a:r>
                <a:r>
                  <a:rPr lang="en-US" dirty="0"/>
                  <a:t> pour </a:t>
                </a:r>
                <a:r>
                  <a:rPr lang="en-US" dirty="0" err="1"/>
                  <a:t>une</a:t>
                </a:r>
                <a:r>
                  <a:rPr lang="en-US" dirty="0"/>
                  <a:t> </a:t>
                </a:r>
                <a:r>
                  <a:rPr lang="en-US" dirty="0" err="1"/>
                  <a:t>comparaison</a:t>
                </a:r>
                <a:r>
                  <a:rPr lang="en-US" dirty="0"/>
                  <a:t> </a:t>
                </a:r>
                <a:r>
                  <a:rPr lang="en-US" dirty="0" err="1"/>
                  <a:t>symétrique</a:t>
                </a:r>
                <a:r>
                  <a:rPr lang="en-US" dirty="0"/>
                  <a:t> </a:t>
                </a:r>
                <a:r>
                  <a:rPr lang="fr-CA" b="0" i="0">
                    <a:latin typeface="Cambria Math" panose="02040503050406030204" pitchFamily="18" charset="0"/>
                  </a:rPr>
                  <a:t>𝑛</a:t>
                </a:r>
                <a:r>
                  <a:rPr lang="fr-CA" b="0" i="0">
                    <a:latin typeface="Cambria Math" panose="02040503050406030204" pitchFamily="18" charset="0"/>
                    <a:ea typeface="Cambria Math" panose="02040503050406030204" pitchFamily="18" charset="0"/>
                  </a:rPr>
                  <a:t>×𝑛=1/𝑘 𝑟𝑎𝑝𝑝𝑜𝑟𝑡 𝑠𝑝𝑒𝑐𝑡𝑟𝑎𝑙.</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a:t>
            </a:r>
            <a:r>
              <a:rPr lang="en-US" dirty="0" err="1"/>
              <a:t>cette</a:t>
            </a:r>
            <a:r>
              <a:rPr lang="en-US" dirty="0"/>
              <a:t> </a:t>
            </a:r>
            <a:r>
              <a:rPr lang="en-US" dirty="0" err="1"/>
              <a:t>seconde</a:t>
            </a:r>
            <a:r>
              <a:rPr lang="en-US" dirty="0"/>
              <a:t> diapositive </a:t>
            </a:r>
            <a:r>
              <a:rPr lang="en-US" dirty="0" err="1"/>
              <a:t>portant</a:t>
            </a:r>
            <a:r>
              <a:rPr lang="en-US" dirty="0"/>
              <a:t> sur la </a:t>
            </a:r>
            <a:r>
              <a:rPr lang="en-US" dirty="0" err="1"/>
              <a:t>méthode</a:t>
            </a:r>
            <a:r>
              <a:rPr lang="en-US" dirty="0"/>
              <a:t> qui </a:t>
            </a:r>
            <a:r>
              <a:rPr lang="en-US" dirty="0" err="1"/>
              <a:t>permet</a:t>
            </a:r>
            <a:r>
              <a:rPr lang="en-US" dirty="0"/>
              <a:t> de determiner le rapport spectral et qui dans </a:t>
            </a:r>
            <a:r>
              <a:rPr lang="en-US" dirty="0" err="1"/>
              <a:t>cet</a:t>
            </a:r>
            <a:r>
              <a:rPr lang="en-US" dirty="0"/>
              <a:t> </a:t>
            </a:r>
            <a:r>
              <a:rPr lang="en-US" dirty="0" err="1"/>
              <a:t>exemple</a:t>
            </a:r>
            <a:r>
              <a:rPr lang="en-US" dirty="0"/>
              <a:t> </a:t>
            </a:r>
            <a:r>
              <a:rPr lang="en-US" dirty="0" err="1"/>
              <a:t>concerne</a:t>
            </a:r>
            <a:r>
              <a:rPr lang="en-US" dirty="0"/>
              <a:t> =la </a:t>
            </a:r>
            <a:r>
              <a:rPr lang="en-US" dirty="0" err="1"/>
              <a:t>comparaison</a:t>
            </a:r>
            <a:r>
              <a:rPr lang="en-US" dirty="0"/>
              <a:t> </a:t>
            </a:r>
            <a:r>
              <a:rPr lang="en-US" dirty="0" err="1"/>
              <a:t>asymétrique</a:t>
            </a:r>
            <a:r>
              <a:rPr lang="en-US" dirty="0"/>
              <a:t> </a:t>
            </a:r>
            <a:r>
              <a:rPr lang="en-US" dirty="0" err="1"/>
              <a:t>ordonnée</a:t>
            </a:r>
            <a:r>
              <a:rPr lang="en-US" dirty="0"/>
              <a:t>. La </a:t>
            </a:r>
            <a:r>
              <a:rPr lang="en-US" dirty="0" err="1"/>
              <a:t>comparaison</a:t>
            </a:r>
            <a:r>
              <a:rPr lang="en-US" dirty="0"/>
              <a:t> </a:t>
            </a:r>
            <a:r>
              <a:rPr lang="en-US" dirty="0" err="1"/>
              <a:t>asymétrique</a:t>
            </a:r>
            <a:r>
              <a:rPr lang="en-US" dirty="0"/>
              <a:t> </a:t>
            </a:r>
            <a:r>
              <a:rPr lang="en-US" dirty="0" err="1"/>
              <a:t>ordonnée</a:t>
            </a:r>
            <a:r>
              <a:rPr lang="en-US" dirty="0"/>
              <a:t> doit respecter deux </a:t>
            </a:r>
            <a:r>
              <a:rPr lang="en-US" dirty="0" err="1"/>
              <a:t>critères</a:t>
            </a:r>
            <a:r>
              <a:rPr lang="en-US" dirty="0"/>
              <a:t> </a:t>
            </a:r>
            <a:r>
              <a:rPr lang="en-US" dirty="0" err="1"/>
              <a:t>différents</a:t>
            </a:r>
            <a:r>
              <a:rPr lang="en-US" dirty="0"/>
              <a:t> pour </a:t>
            </a:r>
            <a:r>
              <a:rPr lang="en-US" dirty="0" err="1"/>
              <a:t>être</a:t>
            </a:r>
            <a:r>
              <a:rPr lang="en-US" dirty="0"/>
              <a:t> </a:t>
            </a:r>
            <a:r>
              <a:rPr lang="en-US" dirty="0" err="1"/>
              <a:t>ainsi</a:t>
            </a:r>
            <a:r>
              <a:rPr lang="en-US" dirty="0"/>
              <a:t> </a:t>
            </a:r>
            <a:r>
              <a:rPr lang="en-US" dirty="0" err="1"/>
              <a:t>qualifié</a:t>
            </a:r>
            <a:r>
              <a:rPr lang="en-US" dirty="0"/>
              <a:t>? Le premier </a:t>
            </a:r>
            <a:r>
              <a:rPr lang="en-US" dirty="0" err="1"/>
              <a:t>étant</a:t>
            </a:r>
            <a:r>
              <a:rPr lang="en-US" dirty="0"/>
              <a:t> </a:t>
            </a:r>
            <a:r>
              <a:rPr lang="en-US" dirty="0" err="1"/>
              <a:t>que</a:t>
            </a:r>
            <a:r>
              <a:rPr lang="en-US" dirty="0"/>
              <a:t> la </a:t>
            </a:r>
            <a:r>
              <a:rPr lang="en-US" dirty="0" err="1"/>
              <a:t>comparaison</a:t>
            </a:r>
            <a:r>
              <a:rPr lang="en-US" dirty="0"/>
              <a:t> doit </a:t>
            </a:r>
            <a:r>
              <a:rPr lang="en-US" dirty="0" err="1"/>
              <a:t>être</a:t>
            </a:r>
            <a:r>
              <a:rPr lang="en-US" dirty="0"/>
              <a:t> entre deux bloc de </a:t>
            </a:r>
            <a:r>
              <a:rPr lang="en-US" dirty="0" err="1"/>
              <a:t>nombres</a:t>
            </a:r>
            <a:r>
              <a:rPr lang="en-US" dirty="0"/>
              <a:t> premiers? Le bloc A et le bloc B qui dans </a:t>
            </a:r>
            <a:r>
              <a:rPr lang="en-US" dirty="0" err="1"/>
              <a:t>cet</a:t>
            </a:r>
            <a:r>
              <a:rPr lang="en-US" dirty="0"/>
              <a:t> </a:t>
            </a:r>
            <a:r>
              <a:rPr lang="en-US" dirty="0" err="1"/>
              <a:t>exemple</a:t>
            </a:r>
            <a:r>
              <a:rPr lang="en-US" dirty="0"/>
              <a:t> le bloc A est compose des premiers (2-3-5-711) qui </a:t>
            </a:r>
            <a:r>
              <a:rPr lang="en-US" dirty="0" err="1"/>
              <a:t>sont</a:t>
            </a:r>
            <a:r>
              <a:rPr lang="en-US" dirty="0"/>
              <a:t> les 5 premiers. Le bloc B qui </a:t>
            </a:r>
            <a:r>
              <a:rPr lang="en-US" dirty="0" err="1"/>
              <a:t>égale</a:t>
            </a:r>
            <a:r>
              <a:rPr lang="en-US" dirty="0"/>
              <a:t> </a:t>
            </a:r>
            <a:r>
              <a:rPr lang="en-US" dirty="0" err="1"/>
              <a:t>toujours</a:t>
            </a:r>
            <a:r>
              <a:rPr lang="en-US" dirty="0"/>
              <a:t> B=A+1. La deuxième </a:t>
            </a:r>
            <a:r>
              <a:rPr lang="en-US" dirty="0" err="1"/>
              <a:t>règle</a:t>
            </a:r>
            <a:r>
              <a:rPr lang="en-US" dirty="0"/>
              <a:t> </a:t>
            </a:r>
            <a:r>
              <a:rPr lang="en-US" dirty="0" err="1"/>
              <a:t>que</a:t>
            </a:r>
            <a:r>
              <a:rPr lang="en-US" dirty="0"/>
              <a:t> la </a:t>
            </a:r>
            <a:r>
              <a:rPr lang="en-US" dirty="0" err="1"/>
              <a:t>comparaison</a:t>
            </a:r>
            <a:r>
              <a:rPr lang="en-US" dirty="0"/>
              <a:t> </a:t>
            </a:r>
            <a:r>
              <a:rPr lang="en-US" dirty="0" err="1"/>
              <a:t>asymétrique</a:t>
            </a:r>
            <a:r>
              <a:rPr lang="en-US" dirty="0"/>
              <a:t> </a:t>
            </a:r>
            <a:r>
              <a:rPr lang="en-US" dirty="0" err="1"/>
              <a:t>ordonnée</a:t>
            </a:r>
            <a:r>
              <a:rPr lang="en-US" dirty="0"/>
              <a:t> doit respecter est </a:t>
            </a:r>
            <a:r>
              <a:rPr lang="en-US" dirty="0" err="1"/>
              <a:t>que</a:t>
            </a:r>
            <a:r>
              <a:rPr lang="en-US" dirty="0"/>
              <a:t> les </a:t>
            </a:r>
            <a:r>
              <a:rPr lang="en-US" dirty="0" err="1"/>
              <a:t>nombres</a:t>
            </a:r>
            <a:r>
              <a:rPr lang="en-US" dirty="0"/>
              <a:t> premier </a:t>
            </a:r>
            <a:r>
              <a:rPr lang="en-US" dirty="0" err="1"/>
              <a:t>en</a:t>
            </a:r>
            <a:r>
              <a:rPr lang="en-US" dirty="0"/>
              <a:t> plus du </a:t>
            </a:r>
            <a:r>
              <a:rPr lang="en-US" dirty="0" err="1"/>
              <a:t>débalacement</a:t>
            </a:r>
            <a:r>
              <a:rPr lang="en-US" dirty="0"/>
              <a:t> B=A+1 </a:t>
            </a:r>
            <a:r>
              <a:rPr lang="en-US" dirty="0" err="1"/>
              <a:t>doivent</a:t>
            </a:r>
            <a:r>
              <a:rPr lang="en-US" dirty="0"/>
              <a:t> </a:t>
            </a:r>
            <a:r>
              <a:rPr lang="en-US" dirty="0" err="1"/>
              <a:t>être</a:t>
            </a:r>
            <a:r>
              <a:rPr lang="en-US" dirty="0"/>
              <a:t> dans </a:t>
            </a:r>
            <a:r>
              <a:rPr lang="en-US" dirty="0" err="1"/>
              <a:t>l’ordre</a:t>
            </a:r>
            <a:r>
              <a:rPr lang="en-US" dirty="0"/>
              <a:t> croissant </a:t>
            </a:r>
            <a:r>
              <a:rPr lang="en-US" dirty="0" err="1"/>
              <a:t>chronolgique</a:t>
            </a:r>
            <a:r>
              <a:rPr lang="en-US" dirty="0"/>
              <a:t> </a:t>
            </a:r>
            <a:r>
              <a:rPr lang="en-US" dirty="0" err="1"/>
              <a:t>comme</a:t>
            </a:r>
            <a:r>
              <a:rPr lang="en-US" dirty="0"/>
              <a:t> dans </a:t>
            </a:r>
            <a:r>
              <a:rPr lang="en-US" dirty="0" err="1"/>
              <a:t>cette</a:t>
            </a:r>
            <a:r>
              <a:rPr lang="en-US" dirty="0"/>
              <a:t> </a:t>
            </a:r>
            <a:r>
              <a:rPr lang="en-US" dirty="0" err="1"/>
              <a:t>exemple</a:t>
            </a:r>
            <a:r>
              <a:rPr lang="en-US" dirty="0"/>
              <a:t> la bloc A est compose des 5 premiers </a:t>
            </a:r>
            <a:r>
              <a:rPr lang="en-US" dirty="0" err="1"/>
              <a:t>nombres</a:t>
            </a:r>
            <a:r>
              <a:rPr lang="en-US" dirty="0"/>
              <a:t> premiers et le bloc B des 6 </a:t>
            </a:r>
            <a:r>
              <a:rPr lang="en-US" dirty="0" err="1"/>
              <a:t>suivant</a:t>
            </a:r>
            <a:r>
              <a:rPr lang="en-US" dirty="0"/>
              <a:t> </a:t>
            </a:r>
            <a:r>
              <a:rPr lang="en-US" dirty="0" err="1"/>
              <a:t>donnat</a:t>
            </a:r>
            <a:r>
              <a:rPr lang="en-US" dirty="0"/>
              <a:t> la suite </a:t>
            </a:r>
            <a:r>
              <a:rPr lang="en-US" dirty="0" err="1"/>
              <a:t>croissante</a:t>
            </a:r>
            <a:r>
              <a:rPr lang="en-US" dirty="0"/>
              <a:t> </a:t>
            </a:r>
            <a:r>
              <a:rPr lang="en-US" dirty="0" err="1"/>
              <a:t>chronologique</a:t>
            </a:r>
            <a:r>
              <a:rPr lang="en-US" dirty="0"/>
              <a:t> 2,3,5,7,11,13,17,19,23,29 et 31 les 11 premiers </a:t>
            </a:r>
            <a:r>
              <a:rPr lang="en-US" dirty="0" err="1"/>
              <a:t>nombres</a:t>
            </a:r>
            <a:r>
              <a:rPr lang="en-US" dirty="0"/>
              <a:t> premiers.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La </a:t>
                </a:r>
                <a:r>
                  <a:rPr lang="en-US" dirty="0" err="1"/>
                  <a:t>comparaison</a:t>
                </a:r>
                <a:r>
                  <a:rPr lang="en-US" dirty="0"/>
                  <a:t> </a:t>
                </a:r>
                <a:r>
                  <a:rPr lang="en-US" dirty="0" err="1"/>
                  <a:t>asymétrique</a:t>
                </a:r>
                <a:r>
                  <a:rPr lang="en-US" dirty="0"/>
                  <a:t> </a:t>
                </a:r>
                <a:r>
                  <a:rPr lang="en-US" dirty="0" err="1"/>
                  <a:t>chaotique</a:t>
                </a:r>
                <a:r>
                  <a:rPr lang="en-US" dirty="0"/>
                  <a:t> est pour </a:t>
                </a:r>
                <a:r>
                  <a:rPr lang="en-US" dirty="0" err="1"/>
                  <a:t>sa</a:t>
                </a:r>
                <a:r>
                  <a:rPr lang="en-US" dirty="0"/>
                  <a:t> part </a:t>
                </a:r>
                <a:r>
                  <a:rPr lang="en-US" dirty="0" err="1"/>
                  <a:t>une</a:t>
                </a:r>
                <a:r>
                  <a:rPr lang="en-US" dirty="0"/>
                  <a:t> </a:t>
                </a:r>
                <a:r>
                  <a:rPr lang="en-US" dirty="0" err="1"/>
                  <a:t>comparaison</a:t>
                </a:r>
                <a:r>
                  <a:rPr lang="en-US" dirty="0"/>
                  <a:t> qui est compose d’un </a:t>
                </a:r>
                <a:r>
                  <a:rPr lang="en-US" dirty="0" err="1"/>
                  <a:t>déséquilibre</a:t>
                </a:r>
                <a:r>
                  <a:rPr lang="en-US" dirty="0"/>
                  <a:t> entre les blocs A et B </a:t>
                </a:r>
                <a:r>
                  <a:rPr lang="en-US" dirty="0" err="1"/>
                  <a:t>mais</a:t>
                </a:r>
                <a:r>
                  <a:rPr lang="en-US" dirty="0"/>
                  <a:t> </a:t>
                </a:r>
                <a:r>
                  <a:rPr lang="en-US" dirty="0" err="1"/>
                  <a:t>dont</a:t>
                </a:r>
                <a:r>
                  <a:rPr lang="en-US" dirty="0"/>
                  <a:t> B&gt;A </a:t>
                </a:r>
                <a:r>
                  <a:rPr lang="en-US" dirty="0" err="1"/>
                  <a:t>obligatoirement</a:t>
                </a:r>
                <a:r>
                  <a:rPr lang="en-US" dirty="0"/>
                  <a:t> </a:t>
                </a:r>
                <a:r>
                  <a:rPr lang="en-US" dirty="0" err="1"/>
                  <a:t>mais</a:t>
                </a:r>
                <a:r>
                  <a:rPr lang="en-US" dirty="0"/>
                  <a:t> </a:t>
                </a:r>
                <a:r>
                  <a:rPr lang="en-US" dirty="0" err="1"/>
                  <a:t>peut</a:t>
                </a:r>
                <a:r>
                  <a:rPr lang="en-US" dirty="0"/>
                  <a:t> </a:t>
                </a:r>
                <a:r>
                  <a:rPr lang="en-US" dirty="0" err="1"/>
                  <a:t>contenir</a:t>
                </a:r>
                <a:r>
                  <a:rPr lang="en-US" dirty="0"/>
                  <a:t> </a:t>
                </a:r>
                <a14:m>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rPr>
                      <m:t> </m:t>
                    </m:r>
                    <m:r>
                      <a:rPr lang="fr-CA" b="0" i="1" smtClean="0">
                        <a:latin typeface="Cambria Math" panose="02040503050406030204" pitchFamily="18" charset="0"/>
                      </a:rPr>
                      <m:t>𝑡𝑒𝑟𝑚𝑒𝑠</m:t>
                    </m:r>
                  </m:oMath>
                </a14:m>
                <a:r>
                  <a:rPr lang="en-US" dirty="0"/>
                  <a:t> de pus </a:t>
                </a:r>
                <a:r>
                  <a:rPr lang="en-US" dirty="0" err="1"/>
                  <a:t>que</a:t>
                </a:r>
                <a:r>
                  <a:rPr lang="en-US" dirty="0"/>
                  <a:t> A et </a:t>
                </a:r>
                <a:r>
                  <a:rPr lang="en-US" dirty="0" err="1"/>
                  <a:t>n’est</a:t>
                </a:r>
                <a:r>
                  <a:rPr lang="en-US" dirty="0"/>
                  <a:t> pas </a:t>
                </a:r>
                <a:r>
                  <a:rPr lang="en-US" dirty="0" err="1"/>
                  <a:t>obligatoirement</a:t>
                </a:r>
                <a:r>
                  <a:rPr lang="en-US" dirty="0"/>
                  <a:t> dans </a:t>
                </a:r>
                <a:r>
                  <a:rPr lang="en-US" dirty="0" err="1"/>
                  <a:t>l’ordre</a:t>
                </a:r>
                <a:r>
                  <a:rPr lang="en-US" dirty="0"/>
                  <a:t> croissant</a:t>
                </a:r>
                <a:r>
                  <a:rPr lang="en-US" baseline="0" dirty="0"/>
                  <a:t> </a:t>
                </a:r>
                <a:r>
                  <a:rPr lang="en-US" baseline="0" dirty="0" err="1"/>
                  <a:t>chronologique</a:t>
                </a:r>
                <a:r>
                  <a:rPr lang="en-US" baseline="0" dirty="0"/>
                  <a:t>. La </a:t>
                </a:r>
                <a:r>
                  <a:rPr lang="en-US" baseline="0" dirty="0" err="1"/>
                  <a:t>comparaison</a:t>
                </a:r>
                <a:r>
                  <a:rPr lang="en-US" baseline="0" dirty="0"/>
                  <a:t> est </a:t>
                </a:r>
                <a:r>
                  <a:rPr lang="en-US" baseline="0" dirty="0" err="1"/>
                  <a:t>alors</a:t>
                </a:r>
                <a:r>
                  <a:rPr lang="en-US" baseline="0" dirty="0"/>
                  <a:t> </a:t>
                </a:r>
                <a:r>
                  <a:rPr lang="en-US" baseline="0" dirty="0" err="1"/>
                  <a:t>appelé</a:t>
                </a:r>
                <a:r>
                  <a:rPr lang="en-US" baseline="0" dirty="0"/>
                  <a:t> </a:t>
                </a:r>
                <a:r>
                  <a:rPr lang="en-US" baseline="0" dirty="0" err="1"/>
                  <a:t>asymétrique</a:t>
                </a:r>
                <a:r>
                  <a:rPr lang="en-US" baseline="0" dirty="0"/>
                  <a:t> </a:t>
                </a:r>
                <a:r>
                  <a:rPr lang="en-US" baseline="0" dirty="0" err="1"/>
                  <a:t>chaotique</a:t>
                </a:r>
                <a:r>
                  <a:rPr lang="en-US" baseline="0" dirty="0"/>
                  <a:t>.</a:t>
                </a:r>
                <a:endParaRPr lang="en-US" dirty="0"/>
              </a:p>
            </p:txBody>
          </p:sp>
        </mc:Choice>
        <mc:Fallback xmlns="">
          <p:sp>
            <p:nvSpPr>
              <p:cNvPr id="3" name="Notes Placeholder 2"/>
              <p:cNvSpPr>
                <a:spLocks noGrp="1"/>
              </p:cNvSpPr>
              <p:nvPr>
                <p:ph type="body" idx="1"/>
              </p:nvPr>
            </p:nvSpPr>
            <p:spPr/>
            <p:txBody>
              <a:bodyPr/>
              <a:lstStyle/>
              <a:p>
                <a:r>
                  <a:rPr lang="en-US" dirty="0"/>
                  <a:t>La </a:t>
                </a:r>
                <a:r>
                  <a:rPr lang="en-US" dirty="0" err="1"/>
                  <a:t>comparaison</a:t>
                </a:r>
                <a:r>
                  <a:rPr lang="en-US" dirty="0"/>
                  <a:t> </a:t>
                </a:r>
                <a:r>
                  <a:rPr lang="en-US" dirty="0" err="1"/>
                  <a:t>asymétrique</a:t>
                </a:r>
                <a:r>
                  <a:rPr lang="en-US" dirty="0"/>
                  <a:t> </a:t>
                </a:r>
                <a:r>
                  <a:rPr lang="en-US" dirty="0" err="1"/>
                  <a:t>chaotique</a:t>
                </a:r>
                <a:r>
                  <a:rPr lang="en-US" dirty="0"/>
                  <a:t> est pour </a:t>
                </a:r>
                <a:r>
                  <a:rPr lang="en-US" dirty="0" err="1"/>
                  <a:t>sa</a:t>
                </a:r>
                <a:r>
                  <a:rPr lang="en-US" dirty="0"/>
                  <a:t> part </a:t>
                </a:r>
                <a:r>
                  <a:rPr lang="en-US" dirty="0" err="1"/>
                  <a:t>une</a:t>
                </a:r>
                <a:r>
                  <a:rPr lang="en-US" dirty="0"/>
                  <a:t> </a:t>
                </a:r>
                <a:r>
                  <a:rPr lang="en-US" dirty="0" err="1"/>
                  <a:t>comparaison</a:t>
                </a:r>
                <a:r>
                  <a:rPr lang="en-US" dirty="0"/>
                  <a:t> qui est compose d’un </a:t>
                </a:r>
                <a:r>
                  <a:rPr lang="en-US" dirty="0" err="1"/>
                  <a:t>déséquilibre</a:t>
                </a:r>
                <a:r>
                  <a:rPr lang="en-US" dirty="0"/>
                  <a:t> entre les blocs A et B </a:t>
                </a:r>
                <a:r>
                  <a:rPr lang="en-US" dirty="0" err="1"/>
                  <a:t>mais</a:t>
                </a:r>
                <a:r>
                  <a:rPr lang="en-US" dirty="0"/>
                  <a:t> </a:t>
                </a:r>
                <a:r>
                  <a:rPr lang="en-US" dirty="0" err="1"/>
                  <a:t>dont</a:t>
                </a:r>
                <a:r>
                  <a:rPr lang="en-US" dirty="0"/>
                  <a:t> B&gt;A </a:t>
                </a:r>
                <a:r>
                  <a:rPr lang="en-US" dirty="0" err="1"/>
                  <a:t>obligatoirement</a:t>
                </a:r>
                <a:r>
                  <a:rPr lang="en-US" dirty="0"/>
                  <a:t> </a:t>
                </a:r>
                <a:r>
                  <a:rPr lang="en-US" dirty="0" err="1"/>
                  <a:t>mais</a:t>
                </a:r>
                <a:r>
                  <a:rPr lang="en-US" dirty="0"/>
                  <a:t> </a:t>
                </a:r>
                <a:r>
                  <a:rPr lang="en-US" dirty="0" err="1"/>
                  <a:t>peut</a:t>
                </a:r>
                <a:r>
                  <a:rPr lang="en-US" dirty="0"/>
                  <a:t> </a:t>
                </a:r>
                <a:r>
                  <a:rPr lang="en-US" dirty="0" err="1"/>
                  <a:t>contenir</a:t>
                </a:r>
                <a:r>
                  <a:rPr lang="en-US" dirty="0"/>
                  <a:t> </a:t>
                </a:r>
                <a:r>
                  <a:rPr lang="fr-CA" b="0" i="0">
                    <a:latin typeface="Cambria Math" panose="02040503050406030204" pitchFamily="18" charset="0"/>
                  </a:rPr>
                  <a:t>𝑛 𝑡𝑒𝑟𝑚𝑒𝑠</a:t>
                </a:r>
                <a:r>
                  <a:rPr lang="en-US" dirty="0"/>
                  <a:t> de pus </a:t>
                </a:r>
                <a:r>
                  <a:rPr lang="en-US" dirty="0" err="1"/>
                  <a:t>que</a:t>
                </a:r>
                <a:r>
                  <a:rPr lang="en-US" dirty="0"/>
                  <a:t> A et </a:t>
                </a:r>
                <a:r>
                  <a:rPr lang="en-US" dirty="0" err="1"/>
                  <a:t>n’est</a:t>
                </a:r>
                <a:r>
                  <a:rPr lang="en-US" dirty="0"/>
                  <a:t> pas </a:t>
                </a:r>
                <a:r>
                  <a:rPr lang="en-US" dirty="0" err="1"/>
                  <a:t>obligatoirement</a:t>
                </a:r>
                <a:r>
                  <a:rPr lang="en-US" dirty="0"/>
                  <a:t> dans </a:t>
                </a:r>
                <a:r>
                  <a:rPr lang="en-US" dirty="0" err="1"/>
                  <a:t>l’ordre</a:t>
                </a:r>
                <a:r>
                  <a:rPr lang="en-US" dirty="0"/>
                  <a:t> croissant</a:t>
                </a:r>
                <a:r>
                  <a:rPr lang="en-US" baseline="0" dirty="0"/>
                  <a:t> </a:t>
                </a:r>
                <a:r>
                  <a:rPr lang="en-US" baseline="0" dirty="0" err="1"/>
                  <a:t>chronologique</a:t>
                </a:r>
                <a:r>
                  <a:rPr lang="en-US" baseline="0" dirty="0"/>
                  <a:t>. La </a:t>
                </a:r>
                <a:r>
                  <a:rPr lang="en-US" baseline="0" dirty="0" err="1"/>
                  <a:t>comparaison</a:t>
                </a:r>
                <a:r>
                  <a:rPr lang="en-US" baseline="0" dirty="0"/>
                  <a:t> est </a:t>
                </a:r>
                <a:r>
                  <a:rPr lang="en-US" baseline="0" dirty="0" err="1"/>
                  <a:t>alors</a:t>
                </a:r>
                <a:r>
                  <a:rPr lang="en-US" baseline="0" dirty="0"/>
                  <a:t> </a:t>
                </a:r>
                <a:r>
                  <a:rPr lang="en-US" baseline="0" dirty="0" err="1"/>
                  <a:t>appelé</a:t>
                </a:r>
                <a:r>
                  <a:rPr lang="en-US" baseline="0" dirty="0"/>
                  <a:t> </a:t>
                </a:r>
                <a:r>
                  <a:rPr lang="en-US" baseline="0" dirty="0" err="1"/>
                  <a:t>asymétrique</a:t>
                </a:r>
                <a:r>
                  <a:rPr lang="en-US" baseline="0" dirty="0"/>
                  <a:t> </a:t>
                </a:r>
                <a:r>
                  <a:rPr lang="en-US" baseline="0" dirty="0" err="1"/>
                  <a:t>chaotique</a:t>
                </a:r>
                <a:r>
                  <a:rPr lang="en-US" baseline="0" dirty="0"/>
                  <a:t>.</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Savard </a:t>
                </a:r>
                <a:r>
                  <a:rPr lang="en-US" dirty="0" err="1"/>
                  <a:t>mentionne</a:t>
                </a:r>
                <a:r>
                  <a:rPr lang="en-US" dirty="0"/>
                  <a:t> dans son travail sur la </a:t>
                </a:r>
                <a:r>
                  <a:rPr lang="en-US" dirty="0" err="1"/>
                  <a:t>géométrie</a:t>
                </a:r>
                <a:r>
                  <a:rPr lang="en-US" dirty="0"/>
                  <a:t> du </a:t>
                </a:r>
                <a:r>
                  <a:rPr lang="en-US" dirty="0" err="1"/>
                  <a:t>spectre</a:t>
                </a:r>
                <a:r>
                  <a:rPr lang="en-US" dirty="0"/>
                  <a:t> des </a:t>
                </a:r>
                <a:r>
                  <a:rPr lang="en-US" dirty="0" err="1"/>
                  <a:t>nombres</a:t>
                </a:r>
                <a:r>
                  <a:rPr lang="en-US" dirty="0"/>
                  <a:t> premiers </a:t>
                </a:r>
                <a:r>
                  <a:rPr lang="en-US" dirty="0" err="1"/>
                  <a:t>que</a:t>
                </a:r>
                <a:r>
                  <a:rPr lang="en-US" dirty="0"/>
                  <a:t> </a:t>
                </a:r>
                <a:r>
                  <a:rPr lang="en-US" dirty="0" err="1"/>
                  <a:t>l’evidence</a:t>
                </a:r>
                <a:r>
                  <a:rPr lang="en-US" dirty="0"/>
                  <a:t> de son </a:t>
                </a:r>
                <a:r>
                  <a:rPr lang="en-US" dirty="0" err="1"/>
                  <a:t>théorème</a:t>
                </a:r>
                <a:r>
                  <a:rPr lang="en-US" dirty="0"/>
                  <a:t> sur les </a:t>
                </a:r>
                <a:r>
                  <a:rPr lang="en-US" dirty="0" err="1"/>
                  <a:t>nombres</a:t>
                </a:r>
                <a:r>
                  <a:rPr lang="en-US" dirty="0"/>
                  <a:t> premiers </a:t>
                </a:r>
                <a:r>
                  <a:rPr lang="en-US" dirty="0" err="1"/>
                  <a:t>permettre</a:t>
                </a:r>
                <a:r>
                  <a:rPr lang="en-US" dirty="0"/>
                  <a:t> </a:t>
                </a:r>
                <a:r>
                  <a:rPr lang="en-US" dirty="0" err="1"/>
                  <a:t>d’établir</a:t>
                </a:r>
                <a:r>
                  <a:rPr lang="en-US" dirty="0"/>
                  <a:t> </a:t>
                </a:r>
                <a:r>
                  <a:rPr lang="en-US" dirty="0" err="1"/>
                  <a:t>d’une</a:t>
                </a:r>
                <a:r>
                  <a:rPr lang="en-US" dirty="0"/>
                  <a:t> part </a:t>
                </a:r>
                <a:r>
                  <a:rPr lang="en-US" dirty="0" err="1"/>
                  <a:t>que</a:t>
                </a:r>
                <a:r>
                  <a:rPr lang="en-US" dirty="0"/>
                  <a:t> le rapport spectral </a:t>
                </a:r>
                <a14:m>
                  <m:oMath xmlns:m="http://schemas.openxmlformats.org/officeDocument/2006/math">
                    <m:f>
                      <m:fPr>
                        <m:ctrlPr>
                          <a:rPr lang="en-US"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𝑘</m:t>
                        </m:r>
                      </m:den>
                    </m:f>
                    <m:r>
                      <a:rPr lang="fr-CA" b="0" i="0" smtClean="0">
                        <a:latin typeface="Cambria Math" panose="02040503050406030204" pitchFamily="18" charset="0"/>
                      </a:rPr>
                      <m:t>  </m:t>
                    </m:r>
                  </m:oMath>
                </a14:m>
                <a:r>
                  <a:rPr lang="en-US" dirty="0"/>
                  <a:t>est </a:t>
                </a:r>
                <a:r>
                  <a:rPr lang="en-US" dirty="0" err="1"/>
                  <a:t>toujours</a:t>
                </a:r>
                <a:r>
                  <a:rPr lang="en-US" dirty="0"/>
                  <a:t> </a:t>
                </a:r>
                <a:r>
                  <a:rPr lang="en-US" dirty="0" err="1"/>
                  <a:t>respecté</a:t>
                </a:r>
                <a:r>
                  <a:rPr lang="en-US" dirty="0"/>
                  <a:t> et </a:t>
                </a:r>
                <a:r>
                  <a:rPr lang="en-US" dirty="0" err="1"/>
                  <a:t>que</a:t>
                </a:r>
                <a:r>
                  <a:rPr lang="en-US" dirty="0"/>
                  <a:t> n </a:t>
                </a:r>
                <a:r>
                  <a:rPr lang="en-US" dirty="0" err="1"/>
                  <a:t>conrespond</a:t>
                </a:r>
                <a:r>
                  <a:rPr lang="en-US" dirty="0"/>
                  <a:t> </a:t>
                </a:r>
                <a:r>
                  <a:rPr lang="en-US" dirty="0" err="1"/>
                  <a:t>toujours</a:t>
                </a:r>
                <a:r>
                  <a:rPr lang="en-US" dirty="0"/>
                  <a:t> </a:t>
                </a:r>
                <a:r>
                  <a:rPr lang="en-US" dirty="0" err="1"/>
                  <a:t>en</a:t>
                </a:r>
                <a:r>
                  <a:rPr lang="en-US" dirty="0"/>
                  <a:t> rapport spectral </a:t>
                </a:r>
                <a14:m>
                  <m:oMath xmlns:m="http://schemas.openxmlformats.org/officeDocument/2006/math">
                    <m:f>
                      <m:fPr>
                        <m:ctrlPr>
                          <a:rPr lang="en-US"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𝑘</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2</m:t>
                        </m:r>
                      </m:den>
                    </m:f>
                    <m:r>
                      <a:rPr lang="fr-CA" b="0" i="0" smtClean="0">
                        <a:latin typeface="Cambria Math" panose="02040503050406030204" pitchFamily="18" charset="0"/>
                      </a:rPr>
                      <m:t> </m:t>
                    </m:r>
                    <m:r>
                      <m:rPr>
                        <m:sty m:val="p"/>
                      </m:rPr>
                      <a:rPr lang="fr-CA" b="0" i="0" smtClean="0">
                        <a:latin typeface="Cambria Math" panose="02040503050406030204" pitchFamily="18" charset="0"/>
                      </a:rPr>
                      <m:t>a</m:t>
                    </m:r>
                    <m:r>
                      <a:rPr lang="fr-CA" b="0" i="0" smtClean="0">
                        <a:latin typeface="Cambria Math" panose="02040503050406030204" pitchFamily="18" charset="0"/>
                      </a:rPr>
                      <m:t> </m:t>
                    </m:r>
                    <m:r>
                      <m:rPr>
                        <m:sty m:val="p"/>
                      </m:rPr>
                      <a:rPr lang="fr-CA" b="0" i="0" smtClean="0">
                        <a:latin typeface="Cambria Math" panose="02040503050406030204" pitchFamily="18" charset="0"/>
                      </a:rPr>
                      <m:t>la</m:t>
                    </m:r>
                    <m:r>
                      <a:rPr lang="fr-CA" b="0" i="0" smtClean="0">
                        <a:latin typeface="Cambria Math" panose="02040503050406030204" pitchFamily="18" charset="0"/>
                      </a:rPr>
                      <m:t> </m:t>
                    </m:r>
                    <m:r>
                      <m:rPr>
                        <m:sty m:val="p"/>
                      </m:rPr>
                      <a:rPr lang="fr-CA" b="0" i="0" smtClean="0">
                        <a:latin typeface="Cambria Math" panose="02040503050406030204" pitchFamily="18" charset="0"/>
                      </a:rPr>
                      <m:t>position</m:t>
                    </m:r>
                    <m:r>
                      <a:rPr lang="fr-CA" b="0" i="0" smtClean="0">
                        <a:latin typeface="Cambria Math" panose="02040503050406030204" pitchFamily="18" charset="0"/>
                      </a:rPr>
                      <m:t> </m:t>
                    </m:r>
                    <m:r>
                      <m:rPr>
                        <m:sty m:val="p"/>
                      </m:rPr>
                      <a:rPr lang="fr-CA" b="0" i="0" smtClean="0">
                        <a:latin typeface="Cambria Math" panose="02040503050406030204" pitchFamily="18" charset="0"/>
                      </a:rPr>
                      <m:t>du</m:t>
                    </m:r>
                    <m:r>
                      <a:rPr lang="fr-CA" b="0" i="0" smtClean="0">
                        <a:latin typeface="Cambria Math" panose="02040503050406030204" pitchFamily="18" charset="0"/>
                      </a:rPr>
                      <m:t> </m:t>
                    </m:r>
                    <m:r>
                      <m:rPr>
                        <m:sty m:val="p"/>
                      </m:rPr>
                      <a:rPr lang="fr-CA" b="0" i="0" smtClean="0">
                        <a:latin typeface="Cambria Math" panose="02040503050406030204" pitchFamily="18" charset="0"/>
                      </a:rPr>
                      <m:t>n</m:t>
                    </m:r>
                  </m:oMath>
                </a14:m>
                <a:r>
                  <a:rPr lang="en-US" dirty="0"/>
                  <a:t>ombre premier </a:t>
                </a:r>
                <a:r>
                  <a:rPr lang="en-US" dirty="0" err="1"/>
                  <a:t>t’en</a:t>
                </a:r>
                <a:r>
                  <a:rPr lang="en-US" dirty="0"/>
                  <a:t> </a:t>
                </a:r>
                <a:r>
                  <a:rPr lang="en-US" dirty="0" err="1"/>
                  <a:t>négatif</a:t>
                </a:r>
                <a:r>
                  <a:rPr lang="en-US" baseline="0" dirty="0"/>
                  <a:t> </a:t>
                </a:r>
                <a:r>
                  <a:rPr lang="en-US" baseline="0" dirty="0" err="1"/>
                  <a:t>que</a:t>
                </a:r>
                <a:r>
                  <a:rPr lang="en-US" baseline="0" dirty="0"/>
                  <a:t> </a:t>
                </a:r>
                <a:r>
                  <a:rPr lang="en-US" baseline="0" dirty="0" err="1"/>
                  <a:t>positif</a:t>
                </a:r>
                <a:r>
                  <a:rPr lang="en-US" baseline="0" dirty="0"/>
                  <a:t> </a:t>
                </a:r>
                <a:r>
                  <a:rPr lang="en-US" baseline="0" dirty="0" err="1"/>
                  <a:t>possibilité</a:t>
                </a:r>
                <a:r>
                  <a:rPr lang="en-US" baseline="0" dirty="0"/>
                  <a:t> </a:t>
                </a:r>
                <a:r>
                  <a:rPr lang="en-US" baseline="0" dirty="0" err="1"/>
                  <a:t>assossiable</a:t>
                </a:r>
                <a:r>
                  <a:rPr lang="en-US" baseline="0" dirty="0"/>
                  <a:t> a la function </a:t>
                </a:r>
                <a:r>
                  <a:rPr lang="en-US" baseline="0" dirty="0" err="1"/>
                  <a:t>zêta</a:t>
                </a:r>
                <a:r>
                  <a:rPr lang="en-US" baseline="0" dirty="0"/>
                  <a:t> qui determine </a:t>
                </a:r>
                <a:r>
                  <a:rPr lang="en-US" baseline="0" dirty="0" err="1"/>
                  <a:t>elle</a:t>
                </a:r>
                <a:r>
                  <a:rPr lang="en-US" baseline="0" dirty="0"/>
                  <a:t> </a:t>
                </a:r>
                <a:r>
                  <a:rPr lang="en-US" baseline="0" dirty="0" err="1"/>
                  <a:t>aussi</a:t>
                </a:r>
                <a:r>
                  <a:rPr lang="en-US" baseline="0" dirty="0"/>
                  <a:t> la position des </a:t>
                </a:r>
                <a:r>
                  <a:rPr lang="en-US" baseline="0" dirty="0" err="1"/>
                  <a:t>tous</a:t>
                </a:r>
                <a:r>
                  <a:rPr lang="en-US" baseline="0" dirty="0"/>
                  <a:t> les </a:t>
                </a:r>
                <a:r>
                  <a:rPr lang="en-US" baseline="0" dirty="0" err="1"/>
                  <a:t>nombres</a:t>
                </a:r>
                <a:r>
                  <a:rPr lang="en-US" baseline="0" dirty="0"/>
                  <a:t> premiers. Il </a:t>
                </a:r>
                <a:r>
                  <a:rPr lang="en-US" baseline="0" dirty="0" err="1"/>
                  <a:t>mentionne</a:t>
                </a:r>
                <a:r>
                  <a:rPr lang="en-US" baseline="0" dirty="0"/>
                  <a:t> </a:t>
                </a:r>
                <a:r>
                  <a:rPr lang="en-US" baseline="0" dirty="0" err="1"/>
                  <a:t>que</a:t>
                </a:r>
                <a:r>
                  <a:rPr lang="en-US" baseline="0" dirty="0"/>
                  <a:t> le rapport spectral </a:t>
                </a:r>
                <a:r>
                  <a:rPr lang="en-US" baseline="0" dirty="0" err="1"/>
                  <a:t>lui</a:t>
                </a:r>
                <a:r>
                  <a:rPr lang="en-US" baseline="0" dirty="0"/>
                  <a:t> </a:t>
                </a:r>
                <a:r>
                  <a:rPr lang="en-US" baseline="0" dirty="0" err="1"/>
                  <a:t>semble</a:t>
                </a:r>
                <a:r>
                  <a:rPr lang="en-US" baseline="0" dirty="0"/>
                  <a:t> </a:t>
                </a:r>
                <a:r>
                  <a:rPr lang="en-US" baseline="0" dirty="0" err="1"/>
                  <a:t>évidament</a:t>
                </a:r>
                <a:r>
                  <a:rPr lang="en-US" baseline="0" dirty="0"/>
                  <a:t> </a:t>
                </a:r>
                <a:r>
                  <a:rPr lang="en-US" baseline="0" dirty="0" err="1"/>
                  <a:t>numériquement</a:t>
                </a:r>
                <a:r>
                  <a:rPr lang="en-US" baseline="0" dirty="0"/>
                  <a:t> </a:t>
                </a:r>
                <a:r>
                  <a:rPr lang="en-US" baseline="0" dirty="0" err="1"/>
                  <a:t>valide</a:t>
                </a:r>
                <a:r>
                  <a:rPr lang="en-US" baseline="0" dirty="0"/>
                  <a:t> </a:t>
                </a:r>
                <a:r>
                  <a:rPr lang="en-US" baseline="0" dirty="0" err="1"/>
                  <a:t>mais</a:t>
                </a:r>
                <a:r>
                  <a:rPr lang="en-US" baseline="0" dirty="0"/>
                  <a:t> </a:t>
                </a:r>
                <a:r>
                  <a:rPr lang="en-US" baseline="0" dirty="0" err="1"/>
                  <a:t>algébriquement</a:t>
                </a:r>
                <a:r>
                  <a:rPr lang="en-US" baseline="0" dirty="0"/>
                  <a:t> incoherent. </a:t>
                </a:r>
                <a:r>
                  <a:rPr lang="en-US" baseline="0" dirty="0" err="1"/>
                  <a:t>Puisque</a:t>
                </a:r>
                <a:r>
                  <a:rPr lang="en-US" baseline="0" dirty="0"/>
                  <a:t> bien </a:t>
                </a:r>
                <a:r>
                  <a:rPr lang="en-US" baseline="0" dirty="0" err="1"/>
                  <a:t>que</a:t>
                </a:r>
                <a:r>
                  <a:rPr lang="en-US" baseline="0" dirty="0"/>
                  <a:t> la simplification 3.25/6.5 </a:t>
                </a:r>
                <a:r>
                  <a:rPr lang="en-US" baseline="0" dirty="0" err="1"/>
                  <a:t>algébrique</a:t>
                </a:r>
                <a:r>
                  <a:rPr lang="en-US" baseline="0" dirty="0"/>
                  <a:t> </a:t>
                </a:r>
                <a:r>
                  <a:rPr lang="en-US" baseline="0" dirty="0" err="1"/>
                  <a:t>permet</a:t>
                </a:r>
                <a:r>
                  <a:rPr lang="en-US" baseline="0" dirty="0"/>
                  <a:t> pour </a:t>
                </a:r>
                <a:r>
                  <a:rPr lang="en-US" baseline="0" dirty="0" err="1"/>
                  <a:t>résulta</a:t>
                </a:r>
                <a:r>
                  <a:rPr lang="en-US" baseline="0" dirty="0"/>
                  <a:t> ½ pour le rapport spectral dans </a:t>
                </a:r>
                <a:r>
                  <a:rPr lang="en-US" baseline="0" dirty="0" err="1"/>
                  <a:t>l’équation</a:t>
                </a:r>
                <a:r>
                  <a:rPr lang="en-US" baseline="0" dirty="0"/>
                  <a:t> propose pour le rapport spectral? Ce </a:t>
                </a:r>
                <a:r>
                  <a:rPr lang="en-US" baseline="0" dirty="0" err="1"/>
                  <a:t>équations</a:t>
                </a:r>
                <a:r>
                  <a:rPr lang="en-US" baseline="0" dirty="0"/>
                  <a:t> </a:t>
                </a:r>
                <a:r>
                  <a:rPr lang="en-US" baseline="0" dirty="0" err="1"/>
                  <a:t>ont</a:t>
                </a:r>
                <a:r>
                  <a:rPr lang="en-US" baseline="0" dirty="0"/>
                  <a:t> </a:t>
                </a:r>
                <a:r>
                  <a:rPr lang="en-US" baseline="0" dirty="0" err="1"/>
                  <a:t>une</a:t>
                </a:r>
                <a:r>
                  <a:rPr lang="en-US" baseline="0" dirty="0"/>
                  <a:t> </a:t>
                </a:r>
                <a:r>
                  <a:rPr lang="en-US" baseline="0" dirty="0" err="1"/>
                  <a:t>valeur</a:t>
                </a:r>
                <a:r>
                  <a:rPr lang="en-US" baseline="0" dirty="0"/>
                  <a:t> </a:t>
                </a:r>
                <a:r>
                  <a:rPr lang="en-US" baseline="0" dirty="0" err="1"/>
                  <a:t>prédéterminé</a:t>
                </a:r>
                <a:r>
                  <a:rPr lang="en-US" baseline="0" dirty="0"/>
                  <a:t> et </a:t>
                </a:r>
                <a:r>
                  <a:rPr lang="en-US" baseline="0" dirty="0" err="1"/>
                  <a:t>que</a:t>
                </a:r>
                <a:r>
                  <a:rPr lang="en-US" baseline="0" dirty="0"/>
                  <a:t> </a:t>
                </a:r>
                <a:r>
                  <a:rPr lang="en-US" baseline="0" dirty="0" err="1"/>
                  <a:t>lorsque</a:t>
                </a:r>
                <a:r>
                  <a:rPr lang="en-US" baseline="0" dirty="0"/>
                  <a:t> </a:t>
                </a:r>
                <a:r>
                  <a:rPr lang="en-US" baseline="0" dirty="0" err="1"/>
                  <a:t>l’on</a:t>
                </a:r>
                <a:r>
                  <a:rPr lang="en-US" baseline="0" dirty="0"/>
                  <a:t> </a:t>
                </a:r>
                <a:r>
                  <a:rPr lang="en-US" baseline="0" dirty="0" err="1"/>
                  <a:t>remplace</a:t>
                </a:r>
                <a:r>
                  <a:rPr lang="en-US" baseline="0" dirty="0"/>
                  <a:t> les inconnu par la </a:t>
                </a:r>
                <a:r>
                  <a:rPr lang="en-US" baseline="0" dirty="0" err="1"/>
                  <a:t>valeur</a:t>
                </a:r>
                <a:r>
                  <a:rPr lang="en-US" baseline="0" dirty="0"/>
                  <a:t> numérique la simplification  </a:t>
                </a:r>
                <a:r>
                  <a:rPr lang="en-US" baseline="0" dirty="0" err="1"/>
                  <a:t>algébrique</a:t>
                </a:r>
                <a:r>
                  <a:rPr lang="en-US" baseline="0" dirty="0"/>
                  <a:t> 3.25/6.5&lt;&gt;1/2, il </a:t>
                </a:r>
                <a:r>
                  <a:rPr lang="en-US" baseline="0" dirty="0" err="1"/>
                  <a:t>donne</a:t>
                </a:r>
                <a:r>
                  <a:rPr lang="en-US" baseline="0" dirty="0"/>
                  <a:t> dans </a:t>
                </a:r>
                <a:r>
                  <a:rPr lang="en-US" baseline="0" dirty="0" err="1"/>
                  <a:t>cette</a:t>
                </a:r>
                <a:r>
                  <a:rPr lang="en-US" baseline="0" dirty="0"/>
                  <a:t> diapositive </a:t>
                </a:r>
                <a:r>
                  <a:rPr lang="en-US" baseline="0" dirty="0" err="1"/>
                  <a:t>l’exemple</a:t>
                </a:r>
                <a:r>
                  <a:rPr lang="en-US" baseline="0" dirty="0"/>
                  <a:t> </a:t>
                </a:r>
                <a:r>
                  <a:rPr lang="en-US" baseline="0" dirty="0" err="1"/>
                  <a:t>d’une</a:t>
                </a:r>
                <a:r>
                  <a:rPr lang="en-US" baseline="0" dirty="0"/>
                  <a:t> simplification </a:t>
                </a:r>
                <a:r>
                  <a:rPr lang="en-US" baseline="0" dirty="0" err="1"/>
                  <a:t>algébrique</a:t>
                </a:r>
                <a:r>
                  <a:rPr lang="en-US" baseline="0" dirty="0"/>
                  <a:t> </a:t>
                </a:r>
                <a:r>
                  <a:rPr lang="en-US" baseline="0" dirty="0" err="1"/>
                  <a:t>ou</a:t>
                </a:r>
                <a:r>
                  <a:rPr lang="en-US" baseline="0" dirty="0"/>
                  <a:t> 2x+4=9 et </a:t>
                </a:r>
                <a:r>
                  <a:rPr lang="en-US" baseline="0" dirty="0" err="1"/>
                  <a:t>que</a:t>
                </a:r>
                <a:r>
                  <a:rPr lang="en-US" baseline="0" dirty="0"/>
                  <a:t> 4x+8=11bien </a:t>
                </a:r>
                <a:r>
                  <a:rPr lang="en-US" baseline="0" dirty="0" err="1"/>
                  <a:t>qu’une</a:t>
                </a:r>
                <a:r>
                  <a:rPr lang="en-US" baseline="0" dirty="0"/>
                  <a:t> </a:t>
                </a:r>
                <a:r>
                  <a:rPr lang="en-US" baseline="0" dirty="0" err="1"/>
                  <a:t>fois</a:t>
                </a:r>
                <a:r>
                  <a:rPr lang="en-US" baseline="0" dirty="0"/>
                  <a:t> </a:t>
                </a:r>
                <a:r>
                  <a:rPr lang="en-US" baseline="0" dirty="0" err="1"/>
                  <a:t>simplifié</a:t>
                </a:r>
                <a:r>
                  <a:rPr lang="en-US" baseline="0" dirty="0"/>
                  <a:t> (2x+4)/(4x+8)=1/2 il </a:t>
                </a:r>
                <a:r>
                  <a:rPr lang="en-US" baseline="0" dirty="0" err="1"/>
                  <a:t>mentionne</a:t>
                </a:r>
                <a:r>
                  <a:rPr lang="en-US" baseline="0" dirty="0"/>
                  <a:t> </a:t>
                </a:r>
                <a:r>
                  <a:rPr lang="en-US" baseline="0" dirty="0" err="1"/>
                  <a:t>que</a:t>
                </a:r>
                <a:r>
                  <a:rPr lang="en-US" baseline="0" dirty="0"/>
                  <a:t> </a:t>
                </a:r>
                <a:r>
                  <a:rPr lang="en-US" baseline="0" dirty="0" err="1"/>
                  <a:t>cette</a:t>
                </a:r>
                <a:r>
                  <a:rPr lang="en-US" baseline="0" dirty="0"/>
                  <a:t> simplification est </a:t>
                </a:r>
                <a:r>
                  <a:rPr lang="en-US" baseline="0" dirty="0" err="1"/>
                  <a:t>incohérente</a:t>
                </a:r>
                <a:r>
                  <a:rPr lang="en-US" baseline="0" dirty="0"/>
                  <a:t> </a:t>
                </a:r>
                <a:r>
                  <a:rPr lang="en-US" baseline="0" dirty="0" err="1"/>
                  <a:t>puisque</a:t>
                </a:r>
                <a:r>
                  <a:rPr lang="en-US" baseline="0" dirty="0"/>
                  <a:t> la </a:t>
                </a:r>
                <a:r>
                  <a:rPr lang="en-US" baseline="0" dirty="0" err="1"/>
                  <a:t>valeur</a:t>
                </a:r>
                <a:r>
                  <a:rPr lang="en-US" baseline="0" dirty="0"/>
                  <a:t> de 9 et 11 a </a:t>
                </a:r>
                <a:r>
                  <a:rPr lang="en-US" baseline="0" dirty="0" err="1"/>
                  <a:t>été</a:t>
                </a:r>
                <a:r>
                  <a:rPr lang="en-US" baseline="0" dirty="0"/>
                  <a:t> determine au </a:t>
                </a:r>
                <a:r>
                  <a:rPr lang="en-US" baseline="0" dirty="0" err="1"/>
                  <a:t>préalable</a:t>
                </a:r>
                <a:r>
                  <a:rPr lang="en-US" baseline="0" dirty="0"/>
                  <a:t> et </a:t>
                </a:r>
                <a:r>
                  <a:rPr lang="en-US" baseline="0" dirty="0" err="1"/>
                  <a:t>que</a:t>
                </a:r>
                <a:r>
                  <a:rPr lang="en-US" baseline="0" dirty="0"/>
                  <a:t> 9/11&lt;&gt;1/2.</a:t>
                </a:r>
                <a:endParaRPr lang="en-US" dirty="0"/>
              </a:p>
            </p:txBody>
          </p:sp>
        </mc:Choice>
        <mc:Fallback xmlns="">
          <p:sp>
            <p:nvSpPr>
              <p:cNvPr id="3" name="Notes Placeholder 2"/>
              <p:cNvSpPr>
                <a:spLocks noGrp="1"/>
              </p:cNvSpPr>
              <p:nvPr>
                <p:ph type="body" idx="1"/>
              </p:nvPr>
            </p:nvSpPr>
            <p:spPr/>
            <p:txBody>
              <a:bodyPr/>
              <a:lstStyle/>
              <a:p>
                <a:r>
                  <a:rPr lang="en-US" dirty="0"/>
                  <a:t>Savard </a:t>
                </a:r>
                <a:r>
                  <a:rPr lang="en-US" dirty="0" err="1"/>
                  <a:t>mentionne</a:t>
                </a:r>
                <a:r>
                  <a:rPr lang="en-US" dirty="0"/>
                  <a:t> dans son travail sur la </a:t>
                </a:r>
                <a:r>
                  <a:rPr lang="en-US" dirty="0" err="1"/>
                  <a:t>géométrie</a:t>
                </a:r>
                <a:r>
                  <a:rPr lang="en-US" dirty="0"/>
                  <a:t> du </a:t>
                </a:r>
                <a:r>
                  <a:rPr lang="en-US" dirty="0" err="1"/>
                  <a:t>spectre</a:t>
                </a:r>
                <a:r>
                  <a:rPr lang="en-US" dirty="0"/>
                  <a:t> des </a:t>
                </a:r>
                <a:r>
                  <a:rPr lang="en-US" dirty="0" err="1"/>
                  <a:t>nombres</a:t>
                </a:r>
                <a:r>
                  <a:rPr lang="en-US" dirty="0"/>
                  <a:t> premiers </a:t>
                </a:r>
                <a:r>
                  <a:rPr lang="en-US" dirty="0" err="1"/>
                  <a:t>que</a:t>
                </a:r>
                <a:r>
                  <a:rPr lang="en-US" dirty="0"/>
                  <a:t> </a:t>
                </a:r>
                <a:r>
                  <a:rPr lang="en-US" dirty="0" err="1"/>
                  <a:t>l’evidence</a:t>
                </a:r>
                <a:r>
                  <a:rPr lang="en-US" dirty="0"/>
                  <a:t> de son </a:t>
                </a:r>
                <a:r>
                  <a:rPr lang="en-US" dirty="0" err="1"/>
                  <a:t>théorème</a:t>
                </a:r>
                <a:r>
                  <a:rPr lang="en-US" dirty="0"/>
                  <a:t> sur les </a:t>
                </a:r>
                <a:r>
                  <a:rPr lang="en-US" dirty="0" err="1"/>
                  <a:t>nombres</a:t>
                </a:r>
                <a:r>
                  <a:rPr lang="en-US" dirty="0"/>
                  <a:t> premiers </a:t>
                </a:r>
                <a:r>
                  <a:rPr lang="en-US" dirty="0" err="1"/>
                  <a:t>permettre</a:t>
                </a:r>
                <a:r>
                  <a:rPr lang="en-US" dirty="0"/>
                  <a:t> </a:t>
                </a:r>
                <a:r>
                  <a:rPr lang="en-US" dirty="0" err="1"/>
                  <a:t>d’établir</a:t>
                </a:r>
                <a:r>
                  <a:rPr lang="en-US" dirty="0"/>
                  <a:t> </a:t>
                </a:r>
                <a:r>
                  <a:rPr lang="en-US" dirty="0" err="1"/>
                  <a:t>d’une</a:t>
                </a:r>
                <a:r>
                  <a:rPr lang="en-US" dirty="0"/>
                  <a:t> part </a:t>
                </a:r>
                <a:r>
                  <a:rPr lang="en-US" dirty="0" err="1"/>
                  <a:t>que</a:t>
                </a:r>
                <a:r>
                  <a:rPr lang="en-US" dirty="0"/>
                  <a:t> le rapport spectral </a:t>
                </a:r>
                <a:r>
                  <a:rPr lang="fr-CA" b="0" i="0">
                    <a:latin typeface="Cambria Math" panose="02040503050406030204" pitchFamily="18" charset="0"/>
                  </a:rPr>
                  <a:t>1</a:t>
                </a:r>
                <a:r>
                  <a:rPr lang="en-US" b="0" i="0">
                    <a:latin typeface="Cambria Math" panose="02040503050406030204" pitchFamily="18" charset="0"/>
                  </a:rPr>
                  <a:t>/</a:t>
                </a:r>
                <a:r>
                  <a:rPr lang="fr-CA" b="0" i="0">
                    <a:latin typeface="Cambria Math" panose="02040503050406030204" pitchFamily="18" charset="0"/>
                  </a:rPr>
                  <a:t>𝑘   </a:t>
                </a:r>
                <a:r>
                  <a:rPr lang="en-US" dirty="0"/>
                  <a:t>est </a:t>
                </a:r>
                <a:r>
                  <a:rPr lang="en-US" dirty="0" err="1"/>
                  <a:t>toujours</a:t>
                </a:r>
                <a:r>
                  <a:rPr lang="en-US" dirty="0"/>
                  <a:t> </a:t>
                </a:r>
                <a:r>
                  <a:rPr lang="en-US" dirty="0" err="1"/>
                  <a:t>respecté</a:t>
                </a:r>
                <a:r>
                  <a:rPr lang="en-US" dirty="0"/>
                  <a:t> et </a:t>
                </a:r>
                <a:r>
                  <a:rPr lang="en-US" dirty="0" err="1"/>
                  <a:t>que</a:t>
                </a:r>
                <a:r>
                  <a:rPr lang="en-US" dirty="0"/>
                  <a:t> n </a:t>
                </a:r>
                <a:r>
                  <a:rPr lang="en-US" dirty="0" err="1"/>
                  <a:t>conrespond</a:t>
                </a:r>
                <a:r>
                  <a:rPr lang="en-US" dirty="0"/>
                  <a:t> </a:t>
                </a:r>
                <a:r>
                  <a:rPr lang="en-US" dirty="0" err="1"/>
                  <a:t>toujours</a:t>
                </a:r>
                <a:r>
                  <a:rPr lang="en-US" dirty="0"/>
                  <a:t> </a:t>
                </a:r>
                <a:r>
                  <a:rPr lang="en-US" dirty="0" err="1"/>
                  <a:t>en</a:t>
                </a:r>
                <a:r>
                  <a:rPr lang="en-US" dirty="0"/>
                  <a:t> rapport spectral </a:t>
                </a:r>
                <a:r>
                  <a:rPr lang="fr-CA" b="0" i="0">
                    <a:latin typeface="Cambria Math" panose="02040503050406030204" pitchFamily="18" charset="0"/>
                  </a:rPr>
                  <a:t>1</a:t>
                </a:r>
                <a:r>
                  <a:rPr lang="en-US" b="0" i="0">
                    <a:latin typeface="Cambria Math" panose="02040503050406030204" pitchFamily="18" charset="0"/>
                  </a:rPr>
                  <a:t>/</a:t>
                </a:r>
                <a:r>
                  <a:rPr lang="fr-CA" b="0" i="0">
                    <a:latin typeface="Cambria Math" panose="02040503050406030204" pitchFamily="18" charset="0"/>
                  </a:rPr>
                  <a:t>𝑘=1/2  a la position du n</a:t>
                </a:r>
                <a:r>
                  <a:rPr lang="en-US" dirty="0"/>
                  <a:t>ombre premier </a:t>
                </a:r>
                <a:r>
                  <a:rPr lang="en-US" dirty="0" err="1"/>
                  <a:t>t’en</a:t>
                </a:r>
                <a:r>
                  <a:rPr lang="en-US" dirty="0"/>
                  <a:t> </a:t>
                </a:r>
                <a:r>
                  <a:rPr lang="en-US" dirty="0" err="1"/>
                  <a:t>négatif</a:t>
                </a:r>
                <a:r>
                  <a:rPr lang="en-US" baseline="0" dirty="0"/>
                  <a:t> </a:t>
                </a:r>
                <a:r>
                  <a:rPr lang="en-US" baseline="0" dirty="0" err="1"/>
                  <a:t>que</a:t>
                </a:r>
                <a:r>
                  <a:rPr lang="en-US" baseline="0" dirty="0"/>
                  <a:t> </a:t>
                </a:r>
                <a:r>
                  <a:rPr lang="en-US" baseline="0" dirty="0" err="1"/>
                  <a:t>positif</a:t>
                </a:r>
                <a:r>
                  <a:rPr lang="en-US" baseline="0" dirty="0"/>
                  <a:t> </a:t>
                </a:r>
                <a:r>
                  <a:rPr lang="en-US" baseline="0" dirty="0" err="1"/>
                  <a:t>possibilité</a:t>
                </a:r>
                <a:r>
                  <a:rPr lang="en-US" baseline="0" dirty="0"/>
                  <a:t> </a:t>
                </a:r>
                <a:r>
                  <a:rPr lang="en-US" baseline="0" dirty="0" err="1"/>
                  <a:t>assossiable</a:t>
                </a:r>
                <a:r>
                  <a:rPr lang="en-US" baseline="0" dirty="0"/>
                  <a:t> a la function </a:t>
                </a:r>
                <a:r>
                  <a:rPr lang="en-US" baseline="0" dirty="0" err="1"/>
                  <a:t>zêta</a:t>
                </a:r>
                <a:r>
                  <a:rPr lang="en-US" baseline="0" dirty="0"/>
                  <a:t> qui determine </a:t>
                </a:r>
                <a:r>
                  <a:rPr lang="en-US" baseline="0" dirty="0" err="1"/>
                  <a:t>elle</a:t>
                </a:r>
                <a:r>
                  <a:rPr lang="en-US" baseline="0" dirty="0"/>
                  <a:t> </a:t>
                </a:r>
                <a:r>
                  <a:rPr lang="en-US" baseline="0" dirty="0" err="1"/>
                  <a:t>aussi</a:t>
                </a:r>
                <a:r>
                  <a:rPr lang="en-US" baseline="0" dirty="0"/>
                  <a:t> la position des </a:t>
                </a:r>
                <a:r>
                  <a:rPr lang="en-US" baseline="0" dirty="0" err="1"/>
                  <a:t>tous</a:t>
                </a:r>
                <a:r>
                  <a:rPr lang="en-US" baseline="0" dirty="0"/>
                  <a:t> les </a:t>
                </a:r>
                <a:r>
                  <a:rPr lang="en-US" baseline="0" dirty="0" err="1"/>
                  <a:t>nombres</a:t>
                </a:r>
                <a:r>
                  <a:rPr lang="en-US" baseline="0" dirty="0"/>
                  <a:t> premiers. Il </a:t>
                </a:r>
                <a:r>
                  <a:rPr lang="en-US" baseline="0" dirty="0" err="1"/>
                  <a:t>mentionne</a:t>
                </a:r>
                <a:r>
                  <a:rPr lang="en-US" baseline="0" dirty="0"/>
                  <a:t> </a:t>
                </a:r>
                <a:r>
                  <a:rPr lang="en-US" baseline="0" dirty="0" err="1"/>
                  <a:t>que</a:t>
                </a:r>
                <a:r>
                  <a:rPr lang="en-US" baseline="0" dirty="0"/>
                  <a:t> le rapport spectral </a:t>
                </a:r>
                <a:r>
                  <a:rPr lang="en-US" baseline="0" dirty="0" err="1"/>
                  <a:t>lui</a:t>
                </a:r>
                <a:r>
                  <a:rPr lang="en-US" baseline="0" dirty="0"/>
                  <a:t> </a:t>
                </a:r>
                <a:r>
                  <a:rPr lang="en-US" baseline="0" dirty="0" err="1"/>
                  <a:t>semble</a:t>
                </a:r>
                <a:r>
                  <a:rPr lang="en-US" baseline="0" dirty="0"/>
                  <a:t> </a:t>
                </a:r>
                <a:r>
                  <a:rPr lang="en-US" baseline="0" dirty="0" err="1"/>
                  <a:t>évidament</a:t>
                </a:r>
                <a:r>
                  <a:rPr lang="en-US" baseline="0" dirty="0"/>
                  <a:t> </a:t>
                </a:r>
                <a:r>
                  <a:rPr lang="en-US" baseline="0" dirty="0" err="1"/>
                  <a:t>numériquement</a:t>
                </a:r>
                <a:r>
                  <a:rPr lang="en-US" baseline="0" dirty="0"/>
                  <a:t> </a:t>
                </a:r>
                <a:r>
                  <a:rPr lang="en-US" baseline="0" dirty="0" err="1"/>
                  <a:t>valide</a:t>
                </a:r>
                <a:r>
                  <a:rPr lang="en-US" baseline="0" dirty="0"/>
                  <a:t> </a:t>
                </a:r>
                <a:r>
                  <a:rPr lang="en-US" baseline="0" dirty="0" err="1"/>
                  <a:t>mais</a:t>
                </a:r>
                <a:r>
                  <a:rPr lang="en-US" baseline="0" dirty="0"/>
                  <a:t> </a:t>
                </a:r>
                <a:r>
                  <a:rPr lang="en-US" baseline="0" dirty="0" err="1"/>
                  <a:t>algébriquement</a:t>
                </a:r>
                <a:r>
                  <a:rPr lang="en-US" baseline="0" dirty="0"/>
                  <a:t> incoherent. </a:t>
                </a:r>
                <a:r>
                  <a:rPr lang="en-US" baseline="0" dirty="0" err="1"/>
                  <a:t>Puisque</a:t>
                </a:r>
                <a:r>
                  <a:rPr lang="en-US" baseline="0" dirty="0"/>
                  <a:t> bien </a:t>
                </a:r>
                <a:r>
                  <a:rPr lang="en-US" baseline="0" dirty="0" err="1"/>
                  <a:t>que</a:t>
                </a:r>
                <a:r>
                  <a:rPr lang="en-US" baseline="0" dirty="0"/>
                  <a:t> la simplification 3.25/6.5 </a:t>
                </a:r>
                <a:r>
                  <a:rPr lang="en-US" baseline="0" dirty="0" err="1"/>
                  <a:t>algébrique</a:t>
                </a:r>
                <a:r>
                  <a:rPr lang="en-US" baseline="0" dirty="0"/>
                  <a:t> </a:t>
                </a:r>
                <a:r>
                  <a:rPr lang="en-US" baseline="0" dirty="0" err="1"/>
                  <a:t>permet</a:t>
                </a:r>
                <a:r>
                  <a:rPr lang="en-US" baseline="0" dirty="0"/>
                  <a:t> pour </a:t>
                </a:r>
                <a:r>
                  <a:rPr lang="en-US" baseline="0" dirty="0" err="1"/>
                  <a:t>résulta</a:t>
                </a:r>
                <a:r>
                  <a:rPr lang="en-US" baseline="0" dirty="0"/>
                  <a:t> ½ pour le rapport spectral dans </a:t>
                </a:r>
                <a:r>
                  <a:rPr lang="en-US" baseline="0" dirty="0" err="1"/>
                  <a:t>l’équation</a:t>
                </a:r>
                <a:r>
                  <a:rPr lang="en-US" baseline="0" dirty="0"/>
                  <a:t> propose pour le rapport spectral? Ce </a:t>
                </a:r>
                <a:r>
                  <a:rPr lang="en-US" baseline="0" dirty="0" err="1"/>
                  <a:t>équations</a:t>
                </a:r>
                <a:r>
                  <a:rPr lang="en-US" baseline="0" dirty="0"/>
                  <a:t> </a:t>
                </a:r>
                <a:r>
                  <a:rPr lang="en-US" baseline="0" dirty="0" err="1"/>
                  <a:t>ont</a:t>
                </a:r>
                <a:r>
                  <a:rPr lang="en-US" baseline="0" dirty="0"/>
                  <a:t> </a:t>
                </a:r>
                <a:r>
                  <a:rPr lang="en-US" baseline="0" dirty="0" err="1"/>
                  <a:t>une</a:t>
                </a:r>
                <a:r>
                  <a:rPr lang="en-US" baseline="0" dirty="0"/>
                  <a:t> </a:t>
                </a:r>
                <a:r>
                  <a:rPr lang="en-US" baseline="0" dirty="0" err="1"/>
                  <a:t>valeur</a:t>
                </a:r>
                <a:r>
                  <a:rPr lang="en-US" baseline="0" dirty="0"/>
                  <a:t> </a:t>
                </a:r>
                <a:r>
                  <a:rPr lang="en-US" baseline="0" dirty="0" err="1"/>
                  <a:t>prédéterminé</a:t>
                </a:r>
                <a:r>
                  <a:rPr lang="en-US" baseline="0" dirty="0"/>
                  <a:t> et </a:t>
                </a:r>
                <a:r>
                  <a:rPr lang="en-US" baseline="0" dirty="0" err="1"/>
                  <a:t>que</a:t>
                </a:r>
                <a:r>
                  <a:rPr lang="en-US" baseline="0" dirty="0"/>
                  <a:t> </a:t>
                </a:r>
                <a:r>
                  <a:rPr lang="en-US" baseline="0" dirty="0" err="1"/>
                  <a:t>lorsque</a:t>
                </a:r>
                <a:r>
                  <a:rPr lang="en-US" baseline="0" dirty="0"/>
                  <a:t> </a:t>
                </a:r>
                <a:r>
                  <a:rPr lang="en-US" baseline="0" dirty="0" err="1"/>
                  <a:t>l’on</a:t>
                </a:r>
                <a:r>
                  <a:rPr lang="en-US" baseline="0" dirty="0"/>
                  <a:t> </a:t>
                </a:r>
                <a:r>
                  <a:rPr lang="en-US" baseline="0" dirty="0" err="1"/>
                  <a:t>remplace</a:t>
                </a:r>
                <a:r>
                  <a:rPr lang="en-US" baseline="0" dirty="0"/>
                  <a:t> les inconnu par la </a:t>
                </a:r>
                <a:r>
                  <a:rPr lang="en-US" baseline="0" dirty="0" err="1"/>
                  <a:t>valeur</a:t>
                </a:r>
                <a:r>
                  <a:rPr lang="en-US" baseline="0" dirty="0"/>
                  <a:t> numérique la simplification  </a:t>
                </a:r>
                <a:r>
                  <a:rPr lang="en-US" baseline="0" dirty="0" err="1"/>
                  <a:t>algébrique</a:t>
                </a:r>
                <a:r>
                  <a:rPr lang="en-US" baseline="0" dirty="0"/>
                  <a:t> 3.25/6.5&lt;&gt;1/2, il </a:t>
                </a:r>
                <a:r>
                  <a:rPr lang="en-US" baseline="0" dirty="0" err="1"/>
                  <a:t>donne</a:t>
                </a:r>
                <a:r>
                  <a:rPr lang="en-US" baseline="0" dirty="0"/>
                  <a:t> dans </a:t>
                </a:r>
                <a:r>
                  <a:rPr lang="en-US" baseline="0" dirty="0" err="1"/>
                  <a:t>cette</a:t>
                </a:r>
                <a:r>
                  <a:rPr lang="en-US" baseline="0" dirty="0"/>
                  <a:t> diapositive </a:t>
                </a:r>
                <a:r>
                  <a:rPr lang="en-US" baseline="0" dirty="0" err="1"/>
                  <a:t>l’exemple</a:t>
                </a:r>
                <a:r>
                  <a:rPr lang="en-US" baseline="0" dirty="0"/>
                  <a:t> </a:t>
                </a:r>
                <a:r>
                  <a:rPr lang="en-US" baseline="0" dirty="0" err="1"/>
                  <a:t>d’une</a:t>
                </a:r>
                <a:r>
                  <a:rPr lang="en-US" baseline="0" dirty="0"/>
                  <a:t> simplification </a:t>
                </a:r>
                <a:r>
                  <a:rPr lang="en-US" baseline="0" dirty="0" err="1"/>
                  <a:t>algébrique</a:t>
                </a:r>
                <a:r>
                  <a:rPr lang="en-US" baseline="0" dirty="0"/>
                  <a:t> </a:t>
                </a:r>
                <a:r>
                  <a:rPr lang="en-US" baseline="0" dirty="0" err="1"/>
                  <a:t>ou</a:t>
                </a:r>
                <a:r>
                  <a:rPr lang="en-US" baseline="0" dirty="0"/>
                  <a:t> 2x+4=9 et </a:t>
                </a:r>
                <a:r>
                  <a:rPr lang="en-US" baseline="0" dirty="0" err="1"/>
                  <a:t>que</a:t>
                </a:r>
                <a:r>
                  <a:rPr lang="en-US" baseline="0" dirty="0"/>
                  <a:t> 4x+8=11bien </a:t>
                </a:r>
                <a:r>
                  <a:rPr lang="en-US" baseline="0" dirty="0" err="1"/>
                  <a:t>qu’une</a:t>
                </a:r>
                <a:r>
                  <a:rPr lang="en-US" baseline="0" dirty="0"/>
                  <a:t> </a:t>
                </a:r>
                <a:r>
                  <a:rPr lang="en-US" baseline="0" dirty="0" err="1"/>
                  <a:t>fois</a:t>
                </a:r>
                <a:r>
                  <a:rPr lang="en-US" baseline="0" dirty="0"/>
                  <a:t> </a:t>
                </a:r>
                <a:r>
                  <a:rPr lang="en-US" baseline="0" dirty="0" err="1"/>
                  <a:t>simplifié</a:t>
                </a:r>
                <a:r>
                  <a:rPr lang="en-US" baseline="0" dirty="0"/>
                  <a:t> (2x+4)/(4x+8)=1/2 il </a:t>
                </a:r>
                <a:r>
                  <a:rPr lang="en-US" baseline="0" dirty="0" err="1"/>
                  <a:t>mentionne</a:t>
                </a:r>
                <a:r>
                  <a:rPr lang="en-US" baseline="0" dirty="0"/>
                  <a:t> </a:t>
                </a:r>
                <a:r>
                  <a:rPr lang="en-US" baseline="0" dirty="0" err="1"/>
                  <a:t>que</a:t>
                </a:r>
                <a:r>
                  <a:rPr lang="en-US" baseline="0" dirty="0"/>
                  <a:t> </a:t>
                </a:r>
                <a:r>
                  <a:rPr lang="en-US" baseline="0" dirty="0" err="1"/>
                  <a:t>cette</a:t>
                </a:r>
                <a:r>
                  <a:rPr lang="en-US" baseline="0" dirty="0"/>
                  <a:t> simplification est </a:t>
                </a:r>
                <a:r>
                  <a:rPr lang="en-US" baseline="0" dirty="0" err="1"/>
                  <a:t>incohérente</a:t>
                </a:r>
                <a:r>
                  <a:rPr lang="en-US" baseline="0" dirty="0"/>
                  <a:t> </a:t>
                </a:r>
                <a:r>
                  <a:rPr lang="en-US" baseline="0" dirty="0" err="1"/>
                  <a:t>puisque</a:t>
                </a:r>
                <a:r>
                  <a:rPr lang="en-US" baseline="0" dirty="0"/>
                  <a:t> la </a:t>
                </a:r>
                <a:r>
                  <a:rPr lang="en-US" baseline="0" dirty="0" err="1"/>
                  <a:t>valeur</a:t>
                </a:r>
                <a:r>
                  <a:rPr lang="en-US" baseline="0" dirty="0"/>
                  <a:t> de 9 et 11 a </a:t>
                </a:r>
                <a:r>
                  <a:rPr lang="en-US" baseline="0" dirty="0" err="1"/>
                  <a:t>été</a:t>
                </a:r>
                <a:r>
                  <a:rPr lang="en-US" baseline="0" dirty="0"/>
                  <a:t> determine au </a:t>
                </a:r>
                <a:r>
                  <a:rPr lang="en-US" baseline="0" dirty="0" err="1"/>
                  <a:t>préalable</a:t>
                </a:r>
                <a:r>
                  <a:rPr lang="en-US" baseline="0" dirty="0"/>
                  <a:t> et </a:t>
                </a:r>
                <a:r>
                  <a:rPr lang="en-US" baseline="0" dirty="0" err="1"/>
                  <a:t>que</a:t>
                </a:r>
                <a:r>
                  <a:rPr lang="en-US" baseline="0" dirty="0"/>
                  <a:t> 9/11&lt;&gt;1/2.</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nous </a:t>
            </a:r>
            <a:r>
              <a:rPr lang="en-US" dirty="0" err="1"/>
              <a:t>permet</a:t>
            </a:r>
            <a:r>
              <a:rPr lang="en-US" dirty="0"/>
              <a:t> de </a:t>
            </a:r>
            <a:r>
              <a:rPr lang="en-US" dirty="0" err="1"/>
              <a:t>visualiser</a:t>
            </a:r>
            <a:r>
              <a:rPr lang="en-US" dirty="0"/>
              <a:t> un </a:t>
            </a:r>
            <a:r>
              <a:rPr lang="en-US" dirty="0" err="1"/>
              <a:t>exemple</a:t>
            </a:r>
            <a:r>
              <a:rPr lang="en-US" dirty="0"/>
              <a:t> de plus </a:t>
            </a:r>
            <a:r>
              <a:rPr lang="en-US" dirty="0" err="1"/>
              <a:t>concernant</a:t>
            </a:r>
            <a:r>
              <a:rPr lang="en-US" dirty="0"/>
              <a:t> les affirmations </a:t>
            </a:r>
            <a:r>
              <a:rPr lang="en-US" dirty="0" err="1"/>
              <a:t>en</a:t>
            </a:r>
            <a:r>
              <a:rPr lang="en-US" dirty="0"/>
              <a:t> lien avec </a:t>
            </a:r>
            <a:r>
              <a:rPr lang="en-US" dirty="0" err="1"/>
              <a:t>l’evidence</a:t>
            </a:r>
            <a:r>
              <a:rPr lang="en-US" dirty="0"/>
              <a:t> de la </a:t>
            </a:r>
            <a:r>
              <a:rPr lang="en-US" dirty="0" err="1"/>
              <a:t>géométrie</a:t>
            </a:r>
            <a:r>
              <a:rPr lang="en-US" dirty="0"/>
              <a:t> du </a:t>
            </a:r>
            <a:r>
              <a:rPr lang="en-US" dirty="0" err="1"/>
              <a:t>spectres</a:t>
            </a:r>
            <a:r>
              <a:rPr lang="en-US" dirty="0"/>
              <a:t> des </a:t>
            </a:r>
            <a:r>
              <a:rPr lang="en-US" dirty="0" err="1"/>
              <a:t>nombres</a:t>
            </a:r>
            <a:r>
              <a:rPr lang="en-US" dirty="0"/>
              <a:t> premiers? Les </a:t>
            </a:r>
            <a:r>
              <a:rPr lang="en-US" dirty="0" err="1"/>
              <a:t>nombre</a:t>
            </a:r>
            <a:r>
              <a:rPr lang="en-US" dirty="0"/>
              <a:t> premier 5 et 19 </a:t>
            </a:r>
            <a:r>
              <a:rPr lang="en-US" dirty="0" err="1"/>
              <a:t>sont</a:t>
            </a:r>
            <a:r>
              <a:rPr lang="en-US" dirty="0"/>
              <a:t> </a:t>
            </a:r>
            <a:r>
              <a:rPr lang="en-US" dirty="0" err="1"/>
              <a:t>ainsi</a:t>
            </a:r>
            <a:r>
              <a:rPr lang="en-US" dirty="0"/>
              <a:t> </a:t>
            </a:r>
            <a:r>
              <a:rPr lang="en-US" dirty="0" err="1"/>
              <a:t>placés</a:t>
            </a:r>
            <a:r>
              <a:rPr lang="en-US" dirty="0"/>
              <a:t> </a:t>
            </a:r>
            <a:r>
              <a:rPr lang="en-US" dirty="0" err="1"/>
              <a:t>en</a:t>
            </a:r>
            <a:r>
              <a:rPr lang="en-US" dirty="0"/>
              <a:t> relation et nous </a:t>
            </a:r>
            <a:r>
              <a:rPr lang="en-US" dirty="0" err="1"/>
              <a:t>pouvons</a:t>
            </a:r>
            <a:r>
              <a:rPr lang="en-US" dirty="0"/>
              <a:t> </a:t>
            </a:r>
            <a:r>
              <a:rPr lang="en-US" dirty="0" err="1"/>
              <a:t>mieux</a:t>
            </a:r>
            <a:r>
              <a:rPr lang="en-US" dirty="0"/>
              <a:t> </a:t>
            </a:r>
            <a:r>
              <a:rPr lang="en-US" dirty="0" err="1"/>
              <a:t>apprécié</a:t>
            </a:r>
            <a:r>
              <a:rPr lang="en-US" dirty="0"/>
              <a:t> </a:t>
            </a:r>
            <a:r>
              <a:rPr lang="en-US" dirty="0" err="1"/>
              <a:t>que</a:t>
            </a:r>
            <a:r>
              <a:rPr lang="en-US" dirty="0"/>
              <a:t> bien </a:t>
            </a:r>
            <a:r>
              <a:rPr lang="en-US" dirty="0" err="1"/>
              <a:t>que</a:t>
            </a:r>
            <a:r>
              <a:rPr lang="en-US" dirty="0"/>
              <a:t> la simplification </a:t>
            </a:r>
            <a:r>
              <a:rPr lang="en-US" dirty="0" err="1"/>
              <a:t>algébrique</a:t>
            </a:r>
            <a:r>
              <a:rPr lang="en-US" dirty="0"/>
              <a:t> 3.25/6.25=1/2 le rapport recherché qui </a:t>
            </a:r>
            <a:r>
              <a:rPr lang="en-US" dirty="0" err="1"/>
              <a:t>conserne</a:t>
            </a:r>
            <a:r>
              <a:rPr lang="en-US" dirty="0"/>
              <a:t> Rs=1/2 de la function </a:t>
            </a:r>
            <a:r>
              <a:rPr lang="en-US" dirty="0" err="1"/>
              <a:t>Zêta</a:t>
            </a:r>
            <a:r>
              <a:rPr lang="en-US" dirty="0"/>
              <a:t> de Riemann est </a:t>
            </a:r>
            <a:r>
              <a:rPr lang="en-US" dirty="0" err="1"/>
              <a:t>algébriquement</a:t>
            </a:r>
            <a:r>
              <a:rPr lang="en-US" dirty="0"/>
              <a:t> coherent. </a:t>
            </a:r>
            <a:r>
              <a:rPr lang="en-US" dirty="0" err="1"/>
              <a:t>Lorsque</a:t>
            </a:r>
            <a:r>
              <a:rPr lang="en-US" dirty="0"/>
              <a:t> les inconnus </a:t>
            </a:r>
            <a:r>
              <a:rPr lang="en-US" dirty="0" err="1"/>
              <a:t>algébrique</a:t>
            </a:r>
            <a:r>
              <a:rPr lang="en-US" dirty="0"/>
              <a:t> </a:t>
            </a:r>
            <a:r>
              <a:rPr lang="en-US" dirty="0" err="1"/>
              <a:t>sont</a:t>
            </a:r>
            <a:r>
              <a:rPr lang="en-US" dirty="0"/>
              <a:t> </a:t>
            </a:r>
            <a:r>
              <a:rPr lang="en-US" dirty="0" err="1"/>
              <a:t>remplacés</a:t>
            </a:r>
            <a:r>
              <a:rPr lang="en-US" dirty="0"/>
              <a:t> par </a:t>
            </a:r>
            <a:r>
              <a:rPr lang="en-US" dirty="0" err="1"/>
              <a:t>leurs</a:t>
            </a:r>
            <a:r>
              <a:rPr lang="en-US" dirty="0"/>
              <a:t> </a:t>
            </a:r>
            <a:r>
              <a:rPr lang="en-US" dirty="0" err="1"/>
              <a:t>valeurs</a:t>
            </a:r>
            <a:r>
              <a:rPr lang="en-US" dirty="0"/>
              <a:t> numérique </a:t>
            </a:r>
            <a:r>
              <a:rPr lang="en-US" dirty="0" err="1"/>
              <a:t>que</a:t>
            </a:r>
            <a:r>
              <a:rPr lang="en-US" dirty="0"/>
              <a:t> le rapport est toute </a:t>
            </a:r>
            <a:r>
              <a:rPr lang="en-US" dirty="0" err="1"/>
              <a:t>autre</a:t>
            </a:r>
            <a:r>
              <a:rPr lang="en-US" dirty="0"/>
              <a:t> </a:t>
            </a:r>
            <a:r>
              <a:rPr lang="en-US" dirty="0" err="1"/>
              <a:t>que</a:t>
            </a:r>
            <a:r>
              <a:rPr lang="en-US" dirty="0"/>
              <a:t> ½. Comme le </a:t>
            </a:r>
            <a:r>
              <a:rPr lang="en-US" dirty="0" err="1"/>
              <a:t>démontre</a:t>
            </a:r>
            <a:r>
              <a:rPr lang="en-US" dirty="0"/>
              <a:t> les deux rapport tires des </a:t>
            </a:r>
            <a:r>
              <a:rPr lang="en-US" dirty="0" err="1"/>
              <a:t>équations</a:t>
            </a:r>
            <a:r>
              <a:rPr lang="en-US" dirty="0"/>
              <a:t> </a:t>
            </a:r>
            <a:r>
              <a:rPr lang="en-US" dirty="0" err="1"/>
              <a:t>généralisant</a:t>
            </a:r>
            <a:r>
              <a:rPr lang="en-US" dirty="0"/>
              <a:t> la </a:t>
            </a:r>
            <a:r>
              <a:rPr lang="en-US" dirty="0" err="1"/>
              <a:t>somme</a:t>
            </a:r>
            <a:r>
              <a:rPr lang="en-US" dirty="0"/>
              <a:t> des suites A et B </a:t>
            </a:r>
            <a:r>
              <a:rPr lang="en-US" dirty="0" err="1"/>
              <a:t>misent</a:t>
            </a:r>
            <a:r>
              <a:rPr lang="en-US" dirty="0"/>
              <a:t> </a:t>
            </a:r>
            <a:r>
              <a:rPr lang="en-US" dirty="0" err="1"/>
              <a:t>ainsi</a:t>
            </a:r>
            <a:r>
              <a:rPr lang="en-US" dirty="0"/>
              <a:t> </a:t>
            </a:r>
            <a:r>
              <a:rPr lang="en-US" dirty="0" err="1"/>
              <a:t>en</a:t>
            </a:r>
            <a:r>
              <a:rPr lang="en-US" dirty="0"/>
              <a:t> relation,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La </a:t>
                </a:r>
                <a:r>
                  <a:rPr lang="en-US" dirty="0" err="1"/>
                  <a:t>méthode</a:t>
                </a:r>
                <a:r>
                  <a:rPr lang="en-US" dirty="0"/>
                  <a:t> spectral de la </a:t>
                </a:r>
                <a:r>
                  <a:rPr lang="en-US" dirty="0" err="1"/>
                  <a:t>géométrie</a:t>
                </a:r>
                <a:r>
                  <a:rPr lang="en-US" dirty="0"/>
                  <a:t> du </a:t>
                </a:r>
                <a:r>
                  <a:rPr lang="en-US" dirty="0" err="1"/>
                  <a:t>spectre</a:t>
                </a:r>
                <a:r>
                  <a:rPr lang="en-US" dirty="0"/>
                  <a:t> des </a:t>
                </a:r>
                <a:r>
                  <a:rPr lang="en-US" dirty="0" err="1"/>
                  <a:t>nombres</a:t>
                </a:r>
                <a:r>
                  <a:rPr lang="en-US" dirty="0"/>
                  <a:t> premiers </a:t>
                </a:r>
                <a:r>
                  <a:rPr lang="en-US" dirty="0" err="1"/>
                  <a:t>s’applique</a:t>
                </a:r>
                <a:r>
                  <a:rPr lang="en-US" dirty="0"/>
                  <a:t> </a:t>
                </a:r>
                <a:r>
                  <a:rPr lang="en-US" dirty="0" err="1"/>
                  <a:t>également</a:t>
                </a:r>
                <a:r>
                  <a:rPr lang="en-US" dirty="0"/>
                  <a:t> a </a:t>
                </a:r>
                <a:r>
                  <a:rPr lang="en-US" dirty="0" err="1"/>
                  <a:t>d’autre</a:t>
                </a:r>
                <a:r>
                  <a:rPr lang="en-US" dirty="0"/>
                  <a:t> rapport spectral </a:t>
                </a:r>
                <a:r>
                  <a:rPr lang="en-US" dirty="0" err="1"/>
                  <a:t>que</a:t>
                </a:r>
                <a:r>
                  <a:rPr lang="en-US" dirty="0"/>
                  <a:t> ½? Les </a:t>
                </a:r>
                <a:r>
                  <a:rPr lang="en-US" dirty="0" err="1"/>
                  <a:t>prochaines</a:t>
                </a:r>
                <a:r>
                  <a:rPr lang="en-US" dirty="0"/>
                  <a:t> diapositives font </a:t>
                </a:r>
                <a:r>
                  <a:rPr lang="en-US" dirty="0" err="1"/>
                  <a:t>l’état</a:t>
                </a:r>
                <a:r>
                  <a:rPr lang="en-US" dirty="0"/>
                  <a:t> de la </a:t>
                </a:r>
                <a:r>
                  <a:rPr lang="en-US" dirty="0" err="1"/>
                  <a:t>même</a:t>
                </a:r>
                <a:r>
                  <a:rPr lang="en-US" dirty="0"/>
                  <a:t> </a:t>
                </a:r>
                <a:r>
                  <a:rPr lang="en-US" dirty="0" err="1"/>
                  <a:t>méthode</a:t>
                </a:r>
                <a:r>
                  <a:rPr lang="en-US" dirty="0"/>
                  <a:t> </a:t>
                </a:r>
                <a:r>
                  <a:rPr lang="en-US" dirty="0" err="1"/>
                  <a:t>s’appliquant</a:t>
                </a:r>
                <a:r>
                  <a:rPr lang="en-US" dirty="0"/>
                  <a:t> pour le rapport </a:t>
                </a:r>
                <a14:m>
                  <m:oMath xmlns:m="http://schemas.openxmlformats.org/officeDocument/2006/math">
                    <m:f>
                      <m:fPr>
                        <m:ctrlPr>
                          <a:rPr lang="en-US"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𝑘</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2</m:t>
                        </m:r>
                      </m:den>
                    </m:f>
                    <m:r>
                      <a:rPr lang="fr-CA" b="0" i="1" smtClean="0">
                        <a:latin typeface="Cambria Math" panose="02040503050406030204" pitchFamily="18" charset="0"/>
                      </a:rPr>
                      <m:t>.</m:t>
                    </m:r>
                  </m:oMath>
                </a14:m>
                <a:endParaRPr lang="en-US" dirty="0"/>
              </a:p>
            </p:txBody>
          </p:sp>
        </mc:Choice>
        <mc:Fallback xmlns="">
          <p:sp>
            <p:nvSpPr>
              <p:cNvPr id="3" name="Notes Placeholder 2"/>
              <p:cNvSpPr>
                <a:spLocks noGrp="1"/>
              </p:cNvSpPr>
              <p:nvPr>
                <p:ph type="body" idx="1"/>
              </p:nvPr>
            </p:nvSpPr>
            <p:spPr/>
            <p:txBody>
              <a:bodyPr/>
              <a:lstStyle/>
              <a:p>
                <a:r>
                  <a:rPr lang="en-US" dirty="0"/>
                  <a:t>La </a:t>
                </a:r>
                <a:r>
                  <a:rPr lang="en-US" dirty="0" err="1"/>
                  <a:t>méthode</a:t>
                </a:r>
                <a:r>
                  <a:rPr lang="en-US" dirty="0"/>
                  <a:t> spectral de la </a:t>
                </a:r>
                <a:r>
                  <a:rPr lang="en-US" dirty="0" err="1"/>
                  <a:t>géométrie</a:t>
                </a:r>
                <a:r>
                  <a:rPr lang="en-US" dirty="0"/>
                  <a:t> du </a:t>
                </a:r>
                <a:r>
                  <a:rPr lang="en-US" dirty="0" err="1"/>
                  <a:t>spectre</a:t>
                </a:r>
                <a:r>
                  <a:rPr lang="en-US" dirty="0"/>
                  <a:t> des </a:t>
                </a:r>
                <a:r>
                  <a:rPr lang="en-US" dirty="0" err="1"/>
                  <a:t>nombres</a:t>
                </a:r>
                <a:r>
                  <a:rPr lang="en-US" dirty="0"/>
                  <a:t> premiers </a:t>
                </a:r>
                <a:r>
                  <a:rPr lang="en-US" dirty="0" err="1"/>
                  <a:t>s’applique</a:t>
                </a:r>
                <a:r>
                  <a:rPr lang="en-US" dirty="0"/>
                  <a:t> </a:t>
                </a:r>
                <a:r>
                  <a:rPr lang="en-US" dirty="0" err="1"/>
                  <a:t>également</a:t>
                </a:r>
                <a:r>
                  <a:rPr lang="en-US" dirty="0"/>
                  <a:t> a </a:t>
                </a:r>
                <a:r>
                  <a:rPr lang="en-US" dirty="0" err="1"/>
                  <a:t>d’autre</a:t>
                </a:r>
                <a:r>
                  <a:rPr lang="en-US" dirty="0"/>
                  <a:t> rapport spectral </a:t>
                </a:r>
                <a:r>
                  <a:rPr lang="en-US" dirty="0" err="1"/>
                  <a:t>que</a:t>
                </a:r>
                <a:r>
                  <a:rPr lang="en-US" dirty="0"/>
                  <a:t> ½? Les </a:t>
                </a:r>
                <a:r>
                  <a:rPr lang="en-US" dirty="0" err="1"/>
                  <a:t>prochaines</a:t>
                </a:r>
                <a:r>
                  <a:rPr lang="en-US" dirty="0"/>
                  <a:t> diapositives font </a:t>
                </a:r>
                <a:r>
                  <a:rPr lang="en-US" dirty="0" err="1"/>
                  <a:t>l’état</a:t>
                </a:r>
                <a:r>
                  <a:rPr lang="en-US" dirty="0"/>
                  <a:t> de la </a:t>
                </a:r>
                <a:r>
                  <a:rPr lang="en-US" dirty="0" err="1"/>
                  <a:t>même</a:t>
                </a:r>
                <a:r>
                  <a:rPr lang="en-US" dirty="0"/>
                  <a:t> </a:t>
                </a:r>
                <a:r>
                  <a:rPr lang="en-US" dirty="0" err="1"/>
                  <a:t>méthode</a:t>
                </a:r>
                <a:r>
                  <a:rPr lang="en-US" dirty="0"/>
                  <a:t> </a:t>
                </a:r>
                <a:r>
                  <a:rPr lang="en-US" dirty="0" err="1"/>
                  <a:t>s’appliquant</a:t>
                </a:r>
                <a:r>
                  <a:rPr lang="en-US" dirty="0"/>
                  <a:t> pour le rapport </a:t>
                </a:r>
                <a:r>
                  <a:rPr lang="fr-CA" b="0" i="0">
                    <a:latin typeface="Cambria Math" panose="02040503050406030204" pitchFamily="18" charset="0"/>
                  </a:rPr>
                  <a:t>1</a:t>
                </a:r>
                <a:r>
                  <a:rPr lang="en-US" b="0" i="0">
                    <a:latin typeface="Cambria Math" panose="02040503050406030204" pitchFamily="18" charset="0"/>
                  </a:rPr>
                  <a:t>/</a:t>
                </a:r>
                <a:r>
                  <a:rPr lang="fr-CA" b="0" i="0">
                    <a:latin typeface="Cambria Math" panose="02040503050406030204" pitchFamily="18" charset="0"/>
                  </a:rPr>
                  <a:t>𝑘=1/2.</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Dans </a:t>
                </a:r>
                <a:r>
                  <a:rPr lang="en-US" dirty="0" err="1"/>
                  <a:t>cette</a:t>
                </a:r>
                <a:r>
                  <a:rPr lang="en-US" dirty="0"/>
                  <a:t> diapositive les suites A et B </a:t>
                </a:r>
                <a:r>
                  <a:rPr lang="en-US" dirty="0" err="1"/>
                  <a:t>sont</a:t>
                </a:r>
                <a:r>
                  <a:rPr lang="en-US" dirty="0"/>
                  <a:t> de nouveau </a:t>
                </a:r>
                <a:r>
                  <a:rPr lang="en-US" dirty="0" err="1"/>
                  <a:t>construite</a:t>
                </a:r>
                <a:r>
                  <a:rPr lang="en-US" dirty="0"/>
                  <a:t> </a:t>
                </a:r>
                <a:r>
                  <a:rPr lang="en-US" dirty="0" err="1"/>
                  <a:t>mais</a:t>
                </a:r>
                <a:r>
                  <a:rPr lang="en-US" dirty="0"/>
                  <a:t> pour le rapport </a:t>
                </a:r>
                <a14:m>
                  <m:oMath xmlns:m="http://schemas.openxmlformats.org/officeDocument/2006/math">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𝑘</m:t>
                        </m:r>
                      </m:den>
                    </m:f>
                    <m:r>
                      <a:rPr lang="fr-CA" b="0" i="0" smtClean="0">
                        <a:latin typeface="Cambria Math" panose="02040503050406030204" pitchFamily="18" charset="0"/>
                      </a:rPr>
                      <m:t>=</m:t>
                    </m:r>
                    <m:f>
                      <m:fPr>
                        <m:ctrlPr>
                          <a:rPr lang="en-US"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3</m:t>
                        </m:r>
                      </m:den>
                    </m:f>
                  </m:oMath>
                </a14:m>
                <a:r>
                  <a:rPr lang="en-US" dirty="0"/>
                  <a:t>. Les</a:t>
                </a:r>
                <a:r>
                  <a:rPr lang="en-US" baseline="0" dirty="0"/>
                  <a:t> deux suites A et B </a:t>
                </a:r>
                <a:r>
                  <a:rPr lang="en-US" baseline="0" dirty="0" err="1"/>
                  <a:t>sont</a:t>
                </a:r>
                <a:r>
                  <a:rPr lang="en-US" baseline="0" dirty="0"/>
                  <a:t> </a:t>
                </a:r>
                <a:r>
                  <a:rPr lang="en-US" baseline="0" dirty="0" err="1"/>
                  <a:t>alors</a:t>
                </a:r>
                <a:r>
                  <a:rPr lang="en-US" baseline="0" dirty="0"/>
                  <a:t> </a:t>
                </a:r>
                <a:r>
                  <a:rPr lang="en-US" baseline="0" dirty="0" err="1"/>
                  <a:t>en</a:t>
                </a:r>
                <a:r>
                  <a:rPr lang="en-US" baseline="0" dirty="0"/>
                  <a:t> puissance de 3. </a:t>
                </a:r>
                <a:r>
                  <a:rPr lang="en-US" baseline="0" dirty="0" err="1"/>
                  <a:t>L’avant</a:t>
                </a:r>
                <a:r>
                  <a:rPr lang="en-US" baseline="0" dirty="0"/>
                  <a:t> </a:t>
                </a:r>
                <a:r>
                  <a:rPr lang="en-US" baseline="0" dirty="0" err="1"/>
                  <a:t>derniers</a:t>
                </a:r>
                <a:r>
                  <a:rPr lang="en-US" baseline="0" dirty="0"/>
                  <a:t> </a:t>
                </a:r>
                <a:r>
                  <a:rPr lang="en-US" baseline="0" dirty="0" err="1"/>
                  <a:t>terme</a:t>
                </a:r>
                <a:r>
                  <a:rPr lang="en-US" baseline="0" dirty="0"/>
                  <a:t> est le </a:t>
                </a:r>
                <a:r>
                  <a:rPr lang="en-US" baseline="0" dirty="0" err="1"/>
                  <a:t>résultat</a:t>
                </a:r>
                <a:r>
                  <a:rPr lang="en-US" baseline="0" dirty="0"/>
                  <a:t> du </a:t>
                </a:r>
                <a:r>
                  <a:rPr lang="en-US" baseline="0" dirty="0" err="1"/>
                  <a:t>produit</a:t>
                </a:r>
                <a:r>
                  <a:rPr lang="en-US" baseline="0" dirty="0"/>
                  <a:t> de (3-1/3) avec le </a:t>
                </a:r>
                <a:r>
                  <a:rPr lang="en-US" baseline="0" dirty="0" err="1"/>
                  <a:t>terme</a:t>
                </a:r>
                <a:r>
                  <a:rPr lang="en-US" baseline="0" dirty="0"/>
                  <a:t> qui le precede. Le </a:t>
                </a:r>
                <a:r>
                  <a:rPr lang="en-US" baseline="0" dirty="0" err="1"/>
                  <a:t>derniers</a:t>
                </a:r>
                <a:r>
                  <a:rPr lang="en-US" baseline="0" dirty="0"/>
                  <a:t> </a:t>
                </a:r>
                <a:r>
                  <a:rPr lang="en-US" baseline="0" dirty="0" err="1"/>
                  <a:t>terme</a:t>
                </a:r>
                <a:r>
                  <a:rPr lang="en-US" baseline="0" dirty="0"/>
                  <a:t> pour </a:t>
                </a:r>
                <a:r>
                  <a:rPr lang="en-US" baseline="0" dirty="0" err="1"/>
                  <a:t>sa</a:t>
                </a:r>
                <a:r>
                  <a:rPr lang="en-US" baseline="0" dirty="0"/>
                  <a:t> part est le </a:t>
                </a:r>
                <a:r>
                  <a:rPr lang="en-US" baseline="0" dirty="0" err="1"/>
                  <a:t>résultat</a:t>
                </a:r>
                <a:r>
                  <a:rPr lang="en-US" baseline="0" dirty="0"/>
                  <a:t> du </a:t>
                </a:r>
                <a:r>
                  <a:rPr lang="en-US" baseline="0" dirty="0" err="1"/>
                  <a:t>produit</a:t>
                </a:r>
                <a:r>
                  <a:rPr lang="en-US" baseline="0" dirty="0"/>
                  <a:t> par 3 avec </a:t>
                </a:r>
                <a:r>
                  <a:rPr lang="en-US" baseline="0" dirty="0" err="1"/>
                  <a:t>l’avant</a:t>
                </a:r>
                <a:r>
                  <a:rPr lang="en-US" baseline="0" dirty="0"/>
                  <a:t> </a:t>
                </a:r>
                <a:r>
                  <a:rPr lang="en-US" baseline="0" dirty="0" err="1"/>
                  <a:t>derniers</a:t>
                </a:r>
                <a:r>
                  <a:rPr lang="en-US" baseline="0" dirty="0"/>
                  <a:t>. Il est </a:t>
                </a:r>
                <a:r>
                  <a:rPr lang="en-US" baseline="0" dirty="0" err="1"/>
                  <a:t>également</a:t>
                </a:r>
                <a:r>
                  <a:rPr lang="en-US" baseline="0" dirty="0"/>
                  <a:t> possible de </a:t>
                </a:r>
                <a:r>
                  <a:rPr lang="en-US" baseline="0" dirty="0" err="1"/>
                  <a:t>construire</a:t>
                </a:r>
                <a:r>
                  <a:rPr lang="en-US" baseline="0" dirty="0"/>
                  <a:t> les deux </a:t>
                </a:r>
                <a:r>
                  <a:rPr lang="en-US" baseline="0" dirty="0" err="1"/>
                  <a:t>équations</a:t>
                </a:r>
                <a:r>
                  <a:rPr lang="en-US" baseline="0" dirty="0"/>
                  <a:t> </a:t>
                </a:r>
                <a:r>
                  <a:rPr lang="en-US" baseline="0" dirty="0" err="1"/>
                  <a:t>généralisant</a:t>
                </a:r>
                <a:r>
                  <a:rPr lang="en-US" baseline="0" dirty="0"/>
                  <a:t> la </a:t>
                </a:r>
                <a:r>
                  <a:rPr lang="en-US" baseline="0" dirty="0" err="1"/>
                  <a:t>somme</a:t>
                </a:r>
                <a:r>
                  <a:rPr lang="en-US" baseline="0" dirty="0"/>
                  <a:t> des suites A et B pour le rapport 1/3.</a:t>
                </a:r>
                <a:endParaRPr lang="en-US" dirty="0"/>
              </a:p>
            </p:txBody>
          </p:sp>
        </mc:Choice>
        <mc:Fallback xmlns="">
          <p:sp>
            <p:nvSpPr>
              <p:cNvPr id="3" name="Notes Placeholder 2"/>
              <p:cNvSpPr>
                <a:spLocks noGrp="1"/>
              </p:cNvSpPr>
              <p:nvPr>
                <p:ph type="body" idx="1"/>
              </p:nvPr>
            </p:nvSpPr>
            <p:spPr/>
            <p:txBody>
              <a:bodyPr/>
              <a:lstStyle/>
              <a:p>
                <a:r>
                  <a:rPr lang="en-US" dirty="0"/>
                  <a:t>Dans </a:t>
                </a:r>
                <a:r>
                  <a:rPr lang="en-US" dirty="0" err="1"/>
                  <a:t>cette</a:t>
                </a:r>
                <a:r>
                  <a:rPr lang="en-US" dirty="0"/>
                  <a:t> diapositive les suites A et B </a:t>
                </a:r>
                <a:r>
                  <a:rPr lang="en-US" dirty="0" err="1"/>
                  <a:t>sont</a:t>
                </a:r>
                <a:r>
                  <a:rPr lang="en-US" dirty="0"/>
                  <a:t> de nouveau </a:t>
                </a:r>
                <a:r>
                  <a:rPr lang="en-US" dirty="0" err="1"/>
                  <a:t>construite</a:t>
                </a:r>
                <a:r>
                  <a:rPr lang="en-US" dirty="0"/>
                  <a:t> </a:t>
                </a:r>
                <a:r>
                  <a:rPr lang="en-US" dirty="0" err="1"/>
                  <a:t>mais</a:t>
                </a:r>
                <a:r>
                  <a:rPr lang="en-US" dirty="0"/>
                  <a:t> pour le rapport </a:t>
                </a:r>
                <a:r>
                  <a:rPr lang="fr-CA" b="0" i="0">
                    <a:latin typeface="Cambria Math" panose="02040503050406030204" pitchFamily="18" charset="0"/>
                  </a:rPr>
                  <a:t>1/𝑘=1</a:t>
                </a:r>
                <a:r>
                  <a:rPr lang="en-US" b="0" i="0">
                    <a:latin typeface="Cambria Math" panose="02040503050406030204" pitchFamily="18" charset="0"/>
                  </a:rPr>
                  <a:t>/</a:t>
                </a:r>
                <a:r>
                  <a:rPr lang="fr-CA" b="0" i="0">
                    <a:latin typeface="Cambria Math" panose="02040503050406030204" pitchFamily="18" charset="0"/>
                  </a:rPr>
                  <a:t>3</a:t>
                </a:r>
                <a:r>
                  <a:rPr lang="en-US" dirty="0"/>
                  <a:t>. Les</a:t>
                </a:r>
                <a:r>
                  <a:rPr lang="en-US" baseline="0" dirty="0"/>
                  <a:t> deux suites A et B </a:t>
                </a:r>
                <a:r>
                  <a:rPr lang="en-US" baseline="0" dirty="0" err="1"/>
                  <a:t>sont</a:t>
                </a:r>
                <a:r>
                  <a:rPr lang="en-US" baseline="0" dirty="0"/>
                  <a:t> </a:t>
                </a:r>
                <a:r>
                  <a:rPr lang="en-US" baseline="0" dirty="0" err="1"/>
                  <a:t>alors</a:t>
                </a:r>
                <a:r>
                  <a:rPr lang="en-US" baseline="0" dirty="0"/>
                  <a:t> </a:t>
                </a:r>
                <a:r>
                  <a:rPr lang="en-US" baseline="0" dirty="0" err="1"/>
                  <a:t>en</a:t>
                </a:r>
                <a:r>
                  <a:rPr lang="en-US" baseline="0" dirty="0"/>
                  <a:t> puissance de 3. </a:t>
                </a:r>
                <a:r>
                  <a:rPr lang="en-US" baseline="0" dirty="0" err="1"/>
                  <a:t>L’avant</a:t>
                </a:r>
                <a:r>
                  <a:rPr lang="en-US" baseline="0" dirty="0"/>
                  <a:t> </a:t>
                </a:r>
                <a:r>
                  <a:rPr lang="en-US" baseline="0" dirty="0" err="1"/>
                  <a:t>derniers</a:t>
                </a:r>
                <a:r>
                  <a:rPr lang="en-US" baseline="0" dirty="0"/>
                  <a:t> </a:t>
                </a:r>
                <a:r>
                  <a:rPr lang="en-US" baseline="0" dirty="0" err="1"/>
                  <a:t>terme</a:t>
                </a:r>
                <a:r>
                  <a:rPr lang="en-US" baseline="0" dirty="0"/>
                  <a:t> est le </a:t>
                </a:r>
                <a:r>
                  <a:rPr lang="en-US" baseline="0" dirty="0" err="1"/>
                  <a:t>résultat</a:t>
                </a:r>
                <a:r>
                  <a:rPr lang="en-US" baseline="0" dirty="0"/>
                  <a:t> du </a:t>
                </a:r>
                <a:r>
                  <a:rPr lang="en-US" baseline="0" dirty="0" err="1"/>
                  <a:t>produit</a:t>
                </a:r>
                <a:r>
                  <a:rPr lang="en-US" baseline="0" dirty="0"/>
                  <a:t> de (3-1/3) avec le </a:t>
                </a:r>
                <a:r>
                  <a:rPr lang="en-US" baseline="0" dirty="0" err="1"/>
                  <a:t>terme</a:t>
                </a:r>
                <a:r>
                  <a:rPr lang="en-US" baseline="0" dirty="0"/>
                  <a:t> qui le precede. Le </a:t>
                </a:r>
                <a:r>
                  <a:rPr lang="en-US" baseline="0" dirty="0" err="1"/>
                  <a:t>derniers</a:t>
                </a:r>
                <a:r>
                  <a:rPr lang="en-US" baseline="0" dirty="0"/>
                  <a:t> </a:t>
                </a:r>
                <a:r>
                  <a:rPr lang="en-US" baseline="0" dirty="0" err="1"/>
                  <a:t>terme</a:t>
                </a:r>
                <a:r>
                  <a:rPr lang="en-US" baseline="0" dirty="0"/>
                  <a:t> pour </a:t>
                </a:r>
                <a:r>
                  <a:rPr lang="en-US" baseline="0" dirty="0" err="1"/>
                  <a:t>sa</a:t>
                </a:r>
                <a:r>
                  <a:rPr lang="en-US" baseline="0" dirty="0"/>
                  <a:t> part est le </a:t>
                </a:r>
                <a:r>
                  <a:rPr lang="en-US" baseline="0" dirty="0" err="1"/>
                  <a:t>résultat</a:t>
                </a:r>
                <a:r>
                  <a:rPr lang="en-US" baseline="0" dirty="0"/>
                  <a:t> du </a:t>
                </a:r>
                <a:r>
                  <a:rPr lang="en-US" baseline="0" dirty="0" err="1"/>
                  <a:t>produit</a:t>
                </a:r>
                <a:r>
                  <a:rPr lang="en-US" baseline="0" dirty="0"/>
                  <a:t> par 3 avec </a:t>
                </a:r>
                <a:r>
                  <a:rPr lang="en-US" baseline="0" dirty="0" err="1"/>
                  <a:t>l’avant</a:t>
                </a:r>
                <a:r>
                  <a:rPr lang="en-US" baseline="0" dirty="0"/>
                  <a:t> </a:t>
                </a:r>
                <a:r>
                  <a:rPr lang="en-US" baseline="0" dirty="0" err="1"/>
                  <a:t>derniers</a:t>
                </a:r>
                <a:r>
                  <a:rPr lang="en-US" baseline="0" dirty="0"/>
                  <a:t>. Il est </a:t>
                </a:r>
                <a:r>
                  <a:rPr lang="en-US" baseline="0" dirty="0" err="1"/>
                  <a:t>également</a:t>
                </a:r>
                <a:r>
                  <a:rPr lang="en-US" baseline="0" dirty="0"/>
                  <a:t> possible de </a:t>
                </a:r>
                <a:r>
                  <a:rPr lang="en-US" baseline="0" dirty="0" err="1"/>
                  <a:t>construire</a:t>
                </a:r>
                <a:r>
                  <a:rPr lang="en-US" baseline="0" dirty="0"/>
                  <a:t> les deux </a:t>
                </a:r>
                <a:r>
                  <a:rPr lang="en-US" baseline="0" dirty="0" err="1"/>
                  <a:t>équations</a:t>
                </a:r>
                <a:r>
                  <a:rPr lang="en-US" baseline="0" dirty="0"/>
                  <a:t> </a:t>
                </a:r>
                <a:r>
                  <a:rPr lang="en-US" baseline="0" dirty="0" err="1"/>
                  <a:t>généralisant</a:t>
                </a:r>
                <a:r>
                  <a:rPr lang="en-US" baseline="0" dirty="0"/>
                  <a:t> la </a:t>
                </a:r>
                <a:r>
                  <a:rPr lang="en-US" baseline="0" dirty="0" err="1"/>
                  <a:t>somme</a:t>
                </a:r>
                <a:r>
                  <a:rPr lang="en-US" baseline="0" dirty="0"/>
                  <a:t> des suites A et B pour le rapport 1/3.</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Déterminer le </a:t>
                </a:r>
                <a:r>
                  <a:rPr lang="en-US" dirty="0" err="1"/>
                  <a:t>nombre</a:t>
                </a:r>
                <a:r>
                  <a:rPr lang="en-US" dirty="0"/>
                  <a:t> premier pour </a:t>
                </a:r>
                <a:r>
                  <a:rPr lang="en-US" dirty="0" err="1"/>
                  <a:t>chaque</a:t>
                </a:r>
                <a:r>
                  <a:rPr lang="en-US" dirty="0"/>
                  <a:t> suite </a:t>
                </a:r>
                <a:r>
                  <a:rPr lang="en-US" dirty="0" err="1"/>
                  <a:t>s’effectue</a:t>
                </a:r>
                <a:r>
                  <a:rPr lang="en-US" dirty="0"/>
                  <a:t> </a:t>
                </a:r>
                <a:r>
                  <a:rPr lang="en-US" dirty="0" err="1"/>
                  <a:t>également</a:t>
                </a:r>
                <a:r>
                  <a:rPr lang="en-US" dirty="0"/>
                  <a:t> d </a:t>
                </a:r>
                <a:r>
                  <a:rPr lang="en-US" dirty="0" err="1"/>
                  <a:t>ela</a:t>
                </a:r>
                <a:r>
                  <a:rPr lang="en-US" dirty="0"/>
                  <a:t> </a:t>
                </a:r>
                <a:r>
                  <a:rPr lang="en-US" dirty="0" err="1"/>
                  <a:t>même</a:t>
                </a:r>
                <a:r>
                  <a:rPr lang="en-US" dirty="0"/>
                  <a:t> manière pour le </a:t>
                </a:r>
                <a:r>
                  <a:rPr lang="en-US" dirty="0" err="1"/>
                  <a:t>repport</a:t>
                </a:r>
                <a:r>
                  <a:rPr lang="en-US" dirty="0"/>
                  <a:t> </a:t>
                </a:r>
                <a14:m>
                  <m:oMath xmlns:m="http://schemas.openxmlformats.org/officeDocument/2006/math">
                    <m:f>
                      <m:fPr>
                        <m:ctrlPr>
                          <a:rPr lang="en-US"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𝑘</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3</m:t>
                        </m:r>
                      </m:den>
                    </m:f>
                    <m:r>
                      <a:rPr lang="fr-CA" b="0" i="1" smtClean="0">
                        <a:latin typeface="Cambria Math" panose="02040503050406030204" pitchFamily="18" charset="0"/>
                      </a:rPr>
                      <m:t>. </m:t>
                    </m:r>
                  </m:oMath>
                </a14:m>
                <a:r>
                  <a:rPr lang="en-US" dirty="0"/>
                  <a:t>Comme il est possible </a:t>
                </a:r>
                <a:r>
                  <a:rPr lang="en-US" dirty="0" err="1"/>
                  <a:t>d’observer</a:t>
                </a:r>
                <a:r>
                  <a:rPr lang="en-US" dirty="0"/>
                  <a:t> sur la diapositive le </a:t>
                </a:r>
                <a:r>
                  <a:rPr lang="en-US" dirty="0" err="1"/>
                  <a:t>nombre</a:t>
                </a:r>
                <a:r>
                  <a:rPr lang="en-US" dirty="0"/>
                  <a:t> premier</a:t>
                </a:r>
                <a:r>
                  <a:rPr lang="en-US" baseline="0" dirty="0"/>
                  <a:t> </a:t>
                </a:r>
                <a:r>
                  <a:rPr lang="en-US" baseline="0" dirty="0" err="1"/>
                  <a:t>dévoilé</a:t>
                </a:r>
                <a:r>
                  <a:rPr lang="en-US" baseline="0" dirty="0"/>
                  <a:t> par </a:t>
                </a:r>
                <a:r>
                  <a:rPr lang="en-US" baseline="0" dirty="0" err="1"/>
                  <a:t>l’équation</a:t>
                </a:r>
                <a:r>
                  <a:rPr lang="en-US" baseline="0" dirty="0"/>
                  <a:t> servant a determiner le premier dans </a:t>
                </a:r>
                <a:r>
                  <a:rPr lang="en-US" baseline="0" dirty="0" err="1"/>
                  <a:t>cet</a:t>
                </a:r>
                <a:r>
                  <a:rPr lang="en-US" baseline="0" dirty="0"/>
                  <a:t> </a:t>
                </a:r>
                <a:r>
                  <a:rPr lang="en-US" baseline="0" dirty="0" err="1"/>
                  <a:t>exemple</a:t>
                </a:r>
                <a:r>
                  <a:rPr lang="en-US" baseline="0" dirty="0"/>
                  <a:t> compose de 10 </a:t>
                </a:r>
                <a:r>
                  <a:rPr lang="en-US" baseline="0" dirty="0" err="1"/>
                  <a:t>termes</a:t>
                </a:r>
                <a:r>
                  <a:rPr lang="en-US" baseline="0" dirty="0"/>
                  <a:t> est 227 et non 29 </a:t>
                </a:r>
                <a:r>
                  <a:rPr lang="en-US" baseline="0" dirty="0" err="1"/>
                  <a:t>comme</a:t>
                </a:r>
                <a:r>
                  <a:rPr lang="en-US" baseline="0" dirty="0"/>
                  <a:t> dans le rapport </a:t>
                </a:r>
                <a14:m>
                  <m:oMath xmlns:m="http://schemas.openxmlformats.org/officeDocument/2006/math">
                    <m:f>
                      <m:fPr>
                        <m:ctrlPr>
                          <a:rPr lang="en-US" i="1" baseline="0" smtClean="0">
                            <a:latin typeface="Cambria Math" panose="02040503050406030204" pitchFamily="18" charset="0"/>
                          </a:rPr>
                        </m:ctrlPr>
                      </m:fPr>
                      <m:num>
                        <m:r>
                          <a:rPr lang="fr-CA" b="0" i="1" baseline="0" smtClean="0">
                            <a:latin typeface="Cambria Math" panose="02040503050406030204" pitchFamily="18" charset="0"/>
                          </a:rPr>
                          <m:t>1</m:t>
                        </m:r>
                      </m:num>
                      <m:den>
                        <m:r>
                          <a:rPr lang="fr-CA" b="0" i="1" baseline="0" smtClean="0">
                            <a:latin typeface="Cambria Math" panose="02040503050406030204" pitchFamily="18" charset="0"/>
                          </a:rPr>
                          <m:t>𝑘</m:t>
                        </m:r>
                      </m:den>
                    </m:f>
                    <m:r>
                      <a:rPr lang="fr-CA" b="0" i="1" baseline="0" smtClean="0">
                        <a:latin typeface="Cambria Math" panose="02040503050406030204" pitchFamily="18" charset="0"/>
                      </a:rPr>
                      <m:t>=</m:t>
                    </m:r>
                    <m:f>
                      <m:fPr>
                        <m:ctrlPr>
                          <a:rPr lang="fr-CA" b="0" i="1" baseline="0" smtClean="0">
                            <a:latin typeface="Cambria Math" panose="02040503050406030204" pitchFamily="18" charset="0"/>
                          </a:rPr>
                        </m:ctrlPr>
                      </m:fPr>
                      <m:num>
                        <m:r>
                          <a:rPr lang="fr-CA" b="0" i="1" baseline="0" smtClean="0">
                            <a:latin typeface="Cambria Math" panose="02040503050406030204" pitchFamily="18" charset="0"/>
                          </a:rPr>
                          <m:t>1</m:t>
                        </m:r>
                      </m:num>
                      <m:den>
                        <m:r>
                          <a:rPr lang="fr-CA" b="0" i="1" baseline="0" smtClean="0">
                            <a:latin typeface="Cambria Math" panose="02040503050406030204" pitchFamily="18" charset="0"/>
                          </a:rPr>
                          <m:t>2</m:t>
                        </m:r>
                      </m:den>
                    </m:f>
                    <m:r>
                      <a:rPr lang="fr-CA" b="0" i="1" baseline="0" smtClean="0">
                        <a:latin typeface="Cambria Math" panose="02040503050406030204" pitchFamily="18" charset="0"/>
                      </a:rPr>
                      <m:t>. </m:t>
                    </m:r>
                  </m:oMath>
                </a14:m>
                <a:r>
                  <a:rPr lang="en-US" dirty="0"/>
                  <a:t>Le</a:t>
                </a:r>
                <a:r>
                  <a:rPr lang="en-US" baseline="0" dirty="0"/>
                  <a:t> </a:t>
                </a:r>
                <a:r>
                  <a:rPr lang="en-US" baseline="0" dirty="0" err="1"/>
                  <a:t>nombre</a:t>
                </a:r>
                <a:r>
                  <a:rPr lang="en-US" baseline="0" dirty="0"/>
                  <a:t> premiers pour les rapport </a:t>
                </a:r>
                <a:r>
                  <a:rPr lang="en-US" baseline="0" dirty="0" err="1"/>
                  <a:t>autres</a:t>
                </a:r>
                <a:r>
                  <a:rPr lang="en-US" baseline="0" dirty="0"/>
                  <a:t> </a:t>
                </a:r>
                <a:r>
                  <a:rPr lang="en-US" baseline="0" dirty="0" err="1"/>
                  <a:t>que</a:t>
                </a:r>
                <a:r>
                  <a:rPr lang="en-US" baseline="0" dirty="0"/>
                  <a:t> ½ ne correspond pas a la position du </a:t>
                </a:r>
                <a:r>
                  <a:rPr lang="en-US" baseline="0" dirty="0" err="1"/>
                  <a:t>nombre</a:t>
                </a:r>
                <a:r>
                  <a:rPr lang="en-US" baseline="0" dirty="0"/>
                  <a:t> premier </a:t>
                </a:r>
                <a:r>
                  <a:rPr lang="en-US" baseline="0" dirty="0" err="1"/>
                  <a:t>en</a:t>
                </a:r>
                <a:r>
                  <a:rPr lang="en-US" baseline="0" dirty="0"/>
                  <a:t> question qui dans </a:t>
                </a:r>
                <a:r>
                  <a:rPr lang="en-US" baseline="0" dirty="0" err="1"/>
                  <a:t>cet</a:t>
                </a:r>
                <a:r>
                  <a:rPr lang="en-US" baseline="0" dirty="0"/>
                  <a:t> </a:t>
                </a:r>
                <a:r>
                  <a:rPr lang="en-US" baseline="0" dirty="0" err="1"/>
                  <a:t>exemple</a:t>
                </a:r>
                <a:r>
                  <a:rPr lang="en-US" baseline="0" dirty="0"/>
                  <a:t> 227 qui est un </a:t>
                </a:r>
                <a:r>
                  <a:rPr lang="en-US" baseline="0" dirty="0" err="1"/>
                  <a:t>nombre</a:t>
                </a:r>
                <a:r>
                  <a:rPr lang="en-US" baseline="0" dirty="0"/>
                  <a:t> premier </a:t>
                </a:r>
                <a:r>
                  <a:rPr lang="en-US" baseline="0" dirty="0" err="1"/>
                  <a:t>mais</a:t>
                </a:r>
                <a:r>
                  <a:rPr lang="en-US" baseline="0" dirty="0"/>
                  <a:t> est </a:t>
                </a:r>
                <a:r>
                  <a:rPr lang="en-US" baseline="0" dirty="0" err="1"/>
                  <a:t>situé</a:t>
                </a:r>
                <a:r>
                  <a:rPr lang="en-US" baseline="0" dirty="0"/>
                  <a:t> a la 49ième position dans </a:t>
                </a:r>
                <a:r>
                  <a:rPr lang="en-US" baseline="0" dirty="0" err="1"/>
                  <a:t>l’ordre</a:t>
                </a:r>
                <a:r>
                  <a:rPr lang="en-US" baseline="0" dirty="0"/>
                  <a:t> croissant </a:t>
                </a:r>
                <a:r>
                  <a:rPr lang="en-US" baseline="0" dirty="0" err="1"/>
                  <a:t>chronologique</a:t>
                </a:r>
                <a:r>
                  <a:rPr lang="en-US" baseline="0" dirty="0"/>
                  <a:t>?</a:t>
                </a:r>
                <a:endParaRPr lang="en-US" dirty="0"/>
              </a:p>
            </p:txBody>
          </p:sp>
        </mc:Choice>
        <mc:Fallback xmlns="">
          <p:sp>
            <p:nvSpPr>
              <p:cNvPr id="3" name="Notes Placeholder 2"/>
              <p:cNvSpPr>
                <a:spLocks noGrp="1"/>
              </p:cNvSpPr>
              <p:nvPr>
                <p:ph type="body" idx="1"/>
              </p:nvPr>
            </p:nvSpPr>
            <p:spPr/>
            <p:txBody>
              <a:bodyPr/>
              <a:lstStyle/>
              <a:p>
                <a:r>
                  <a:rPr lang="en-US" dirty="0"/>
                  <a:t>Déterminer le </a:t>
                </a:r>
                <a:r>
                  <a:rPr lang="en-US" dirty="0" err="1"/>
                  <a:t>nombre</a:t>
                </a:r>
                <a:r>
                  <a:rPr lang="en-US" dirty="0"/>
                  <a:t> premier pour </a:t>
                </a:r>
                <a:r>
                  <a:rPr lang="en-US" dirty="0" err="1"/>
                  <a:t>chaque</a:t>
                </a:r>
                <a:r>
                  <a:rPr lang="en-US" dirty="0"/>
                  <a:t> suite </a:t>
                </a:r>
                <a:r>
                  <a:rPr lang="en-US" dirty="0" err="1"/>
                  <a:t>s’effectue</a:t>
                </a:r>
                <a:r>
                  <a:rPr lang="en-US" dirty="0"/>
                  <a:t> </a:t>
                </a:r>
                <a:r>
                  <a:rPr lang="en-US" dirty="0" err="1"/>
                  <a:t>également</a:t>
                </a:r>
                <a:r>
                  <a:rPr lang="en-US" dirty="0"/>
                  <a:t> d </a:t>
                </a:r>
                <a:r>
                  <a:rPr lang="en-US" dirty="0" err="1"/>
                  <a:t>ela</a:t>
                </a:r>
                <a:r>
                  <a:rPr lang="en-US" dirty="0"/>
                  <a:t> </a:t>
                </a:r>
                <a:r>
                  <a:rPr lang="en-US" dirty="0" err="1"/>
                  <a:t>même</a:t>
                </a:r>
                <a:r>
                  <a:rPr lang="en-US" dirty="0"/>
                  <a:t> manière pour le </a:t>
                </a:r>
                <a:r>
                  <a:rPr lang="en-US" dirty="0" err="1"/>
                  <a:t>repport</a:t>
                </a:r>
                <a:r>
                  <a:rPr lang="en-US" dirty="0"/>
                  <a:t> </a:t>
                </a:r>
                <a:r>
                  <a:rPr lang="fr-CA" b="0" i="0">
                    <a:latin typeface="Cambria Math" panose="02040503050406030204" pitchFamily="18" charset="0"/>
                  </a:rPr>
                  <a:t>1</a:t>
                </a:r>
                <a:r>
                  <a:rPr lang="en-US" b="0" i="0">
                    <a:latin typeface="Cambria Math" panose="02040503050406030204" pitchFamily="18" charset="0"/>
                  </a:rPr>
                  <a:t>/</a:t>
                </a:r>
                <a:r>
                  <a:rPr lang="fr-CA" b="0" i="0">
                    <a:latin typeface="Cambria Math" panose="02040503050406030204" pitchFamily="18" charset="0"/>
                  </a:rPr>
                  <a:t>𝑘=1/3. </a:t>
                </a:r>
                <a:r>
                  <a:rPr lang="en-US" dirty="0"/>
                  <a:t>Comme il est possible </a:t>
                </a:r>
                <a:r>
                  <a:rPr lang="en-US" dirty="0" err="1"/>
                  <a:t>d’observer</a:t>
                </a:r>
                <a:r>
                  <a:rPr lang="en-US" dirty="0"/>
                  <a:t> sur la diapositive le </a:t>
                </a:r>
                <a:r>
                  <a:rPr lang="en-US" dirty="0" err="1"/>
                  <a:t>nombre</a:t>
                </a:r>
                <a:r>
                  <a:rPr lang="en-US" dirty="0"/>
                  <a:t> premier</a:t>
                </a:r>
                <a:r>
                  <a:rPr lang="en-US" baseline="0" dirty="0"/>
                  <a:t> </a:t>
                </a:r>
                <a:r>
                  <a:rPr lang="en-US" baseline="0" dirty="0" err="1"/>
                  <a:t>dévoilé</a:t>
                </a:r>
                <a:r>
                  <a:rPr lang="en-US" baseline="0" dirty="0"/>
                  <a:t> par </a:t>
                </a:r>
                <a:r>
                  <a:rPr lang="en-US" baseline="0" dirty="0" err="1"/>
                  <a:t>l’équation</a:t>
                </a:r>
                <a:r>
                  <a:rPr lang="en-US" baseline="0" dirty="0"/>
                  <a:t> servant a determiner le premier dans </a:t>
                </a:r>
                <a:r>
                  <a:rPr lang="en-US" baseline="0" dirty="0" err="1"/>
                  <a:t>cet</a:t>
                </a:r>
                <a:r>
                  <a:rPr lang="en-US" baseline="0" dirty="0"/>
                  <a:t> </a:t>
                </a:r>
                <a:r>
                  <a:rPr lang="en-US" baseline="0" dirty="0" err="1"/>
                  <a:t>exemple</a:t>
                </a:r>
                <a:r>
                  <a:rPr lang="en-US" baseline="0" dirty="0"/>
                  <a:t> compose de 10 </a:t>
                </a:r>
                <a:r>
                  <a:rPr lang="en-US" baseline="0" dirty="0" err="1"/>
                  <a:t>termes</a:t>
                </a:r>
                <a:r>
                  <a:rPr lang="en-US" baseline="0" dirty="0"/>
                  <a:t> est 227 et non 29 </a:t>
                </a:r>
                <a:r>
                  <a:rPr lang="en-US" baseline="0" dirty="0" err="1"/>
                  <a:t>comme</a:t>
                </a:r>
                <a:r>
                  <a:rPr lang="en-US" baseline="0" dirty="0"/>
                  <a:t> dans le rapport </a:t>
                </a:r>
                <a:r>
                  <a:rPr lang="fr-CA" b="0" i="0" baseline="0">
                    <a:latin typeface="Cambria Math" panose="02040503050406030204" pitchFamily="18" charset="0"/>
                  </a:rPr>
                  <a:t>1</a:t>
                </a:r>
                <a:r>
                  <a:rPr lang="en-US" b="0" i="0" baseline="0">
                    <a:latin typeface="Cambria Math" panose="02040503050406030204" pitchFamily="18" charset="0"/>
                  </a:rPr>
                  <a:t>/</a:t>
                </a:r>
                <a:r>
                  <a:rPr lang="fr-CA" b="0" i="0" baseline="0">
                    <a:latin typeface="Cambria Math" panose="02040503050406030204" pitchFamily="18" charset="0"/>
                  </a:rPr>
                  <a:t>𝑘=1/2. </a:t>
                </a:r>
                <a:r>
                  <a:rPr lang="en-US" dirty="0"/>
                  <a:t>Le</a:t>
                </a:r>
                <a:r>
                  <a:rPr lang="en-US" baseline="0" dirty="0"/>
                  <a:t> </a:t>
                </a:r>
                <a:r>
                  <a:rPr lang="en-US" baseline="0" dirty="0" err="1"/>
                  <a:t>nombre</a:t>
                </a:r>
                <a:r>
                  <a:rPr lang="en-US" baseline="0" dirty="0"/>
                  <a:t> premiers pour les rapport </a:t>
                </a:r>
                <a:r>
                  <a:rPr lang="en-US" baseline="0" dirty="0" err="1"/>
                  <a:t>autres</a:t>
                </a:r>
                <a:r>
                  <a:rPr lang="en-US" baseline="0" dirty="0"/>
                  <a:t> </a:t>
                </a:r>
                <a:r>
                  <a:rPr lang="en-US" baseline="0" dirty="0" err="1"/>
                  <a:t>que</a:t>
                </a:r>
                <a:r>
                  <a:rPr lang="en-US" baseline="0" dirty="0"/>
                  <a:t> ½ ne correspond pas a la position du </a:t>
                </a:r>
                <a:r>
                  <a:rPr lang="en-US" baseline="0" dirty="0" err="1"/>
                  <a:t>nombre</a:t>
                </a:r>
                <a:r>
                  <a:rPr lang="en-US" baseline="0" dirty="0"/>
                  <a:t> premier </a:t>
                </a:r>
                <a:r>
                  <a:rPr lang="en-US" baseline="0" dirty="0" err="1"/>
                  <a:t>en</a:t>
                </a:r>
                <a:r>
                  <a:rPr lang="en-US" baseline="0" dirty="0"/>
                  <a:t> question qui dans </a:t>
                </a:r>
                <a:r>
                  <a:rPr lang="en-US" baseline="0" dirty="0" err="1"/>
                  <a:t>cet</a:t>
                </a:r>
                <a:r>
                  <a:rPr lang="en-US" baseline="0" dirty="0"/>
                  <a:t> </a:t>
                </a:r>
                <a:r>
                  <a:rPr lang="en-US" baseline="0" dirty="0" err="1"/>
                  <a:t>exemple</a:t>
                </a:r>
                <a:r>
                  <a:rPr lang="en-US" baseline="0" dirty="0"/>
                  <a:t> 227 qui est un </a:t>
                </a:r>
                <a:r>
                  <a:rPr lang="en-US" baseline="0" dirty="0" err="1"/>
                  <a:t>nombre</a:t>
                </a:r>
                <a:r>
                  <a:rPr lang="en-US" baseline="0" dirty="0"/>
                  <a:t> premier </a:t>
                </a:r>
                <a:r>
                  <a:rPr lang="en-US" baseline="0" dirty="0" err="1"/>
                  <a:t>mais</a:t>
                </a:r>
                <a:r>
                  <a:rPr lang="en-US" baseline="0" dirty="0"/>
                  <a:t> est </a:t>
                </a:r>
                <a:r>
                  <a:rPr lang="en-US" baseline="0" dirty="0" err="1"/>
                  <a:t>situé</a:t>
                </a:r>
                <a:r>
                  <a:rPr lang="en-US" baseline="0" dirty="0"/>
                  <a:t> a la 49ième position dans </a:t>
                </a:r>
                <a:r>
                  <a:rPr lang="en-US" baseline="0" dirty="0" err="1"/>
                  <a:t>l’ordre</a:t>
                </a:r>
                <a:r>
                  <a:rPr lang="en-US" baseline="0" dirty="0"/>
                  <a:t> croissant </a:t>
                </a:r>
                <a:r>
                  <a:rPr lang="en-US" baseline="0" dirty="0" err="1"/>
                  <a:t>chronologique</a:t>
                </a:r>
                <a:r>
                  <a:rPr lang="en-US" baseline="0" dirty="0"/>
                  <a:t>?</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t>
            </a:r>
            <a:r>
              <a:rPr lang="en-US" dirty="0" err="1"/>
              <a:t>méthode</a:t>
            </a:r>
            <a:r>
              <a:rPr lang="en-US" dirty="0"/>
              <a:t> pour determiner le rapport spectral pour les rapport </a:t>
            </a:r>
            <a:r>
              <a:rPr lang="en-US" dirty="0" err="1"/>
              <a:t>spectrals</a:t>
            </a:r>
            <a:r>
              <a:rPr lang="en-US" dirty="0"/>
              <a:t> </a:t>
            </a:r>
            <a:r>
              <a:rPr lang="en-US" dirty="0" err="1"/>
              <a:t>autres</a:t>
            </a:r>
            <a:r>
              <a:rPr lang="en-US" dirty="0"/>
              <a:t> </a:t>
            </a:r>
            <a:r>
              <a:rPr lang="en-US" dirty="0" err="1"/>
              <a:t>que</a:t>
            </a:r>
            <a:r>
              <a:rPr lang="en-US" dirty="0"/>
              <a:t> ½ </a:t>
            </a:r>
            <a:r>
              <a:rPr lang="en-US" dirty="0" err="1"/>
              <a:t>reste</a:t>
            </a:r>
            <a:r>
              <a:rPr lang="en-US" dirty="0"/>
              <a:t> la </a:t>
            </a:r>
            <a:r>
              <a:rPr lang="en-US" dirty="0" err="1"/>
              <a:t>même</a:t>
            </a:r>
            <a:r>
              <a:rPr lang="en-US" dirty="0"/>
              <a:t>? Les trois </a:t>
            </a:r>
            <a:r>
              <a:rPr lang="en-US" dirty="0" err="1"/>
              <a:t>possibilités</a:t>
            </a:r>
            <a:r>
              <a:rPr lang="en-US" dirty="0"/>
              <a:t> de </a:t>
            </a:r>
            <a:r>
              <a:rPr lang="en-US" dirty="0" err="1"/>
              <a:t>comparaisons</a:t>
            </a:r>
            <a:r>
              <a:rPr lang="en-US" dirty="0"/>
              <a:t> </a:t>
            </a:r>
            <a:r>
              <a:rPr lang="en-US" dirty="0" err="1"/>
              <a:t>sont</a:t>
            </a:r>
            <a:r>
              <a:rPr lang="en-US" dirty="0"/>
              <a:t> </a:t>
            </a:r>
            <a:r>
              <a:rPr lang="en-US" dirty="0" err="1"/>
              <a:t>toujours</a:t>
            </a:r>
            <a:r>
              <a:rPr lang="en-US" dirty="0"/>
              <a:t> possibles et </a:t>
            </a:r>
            <a:r>
              <a:rPr lang="en-US" dirty="0" err="1"/>
              <a:t>démontrent</a:t>
            </a:r>
            <a:r>
              <a:rPr lang="en-US" dirty="0"/>
              <a:t> </a:t>
            </a:r>
            <a:r>
              <a:rPr lang="en-US" dirty="0" err="1"/>
              <a:t>que</a:t>
            </a:r>
            <a:r>
              <a:rPr lang="en-US" dirty="0"/>
              <a:t> le rapport </a:t>
            </a:r>
            <a:r>
              <a:rPr lang="en-US" dirty="0" err="1"/>
              <a:t>en</a:t>
            </a:r>
            <a:r>
              <a:rPr lang="en-US" dirty="0"/>
              <a:t> lien avec la puissance utilize est </a:t>
            </a:r>
            <a:r>
              <a:rPr lang="en-US" dirty="0" err="1"/>
              <a:t>respecté</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t>
            </a:r>
            <a:r>
              <a:rPr lang="en-US" dirty="0" err="1"/>
              <a:t>prochaines</a:t>
            </a:r>
            <a:r>
              <a:rPr lang="en-US" dirty="0"/>
              <a:t> sections </a:t>
            </a:r>
            <a:r>
              <a:rPr lang="en-US" dirty="0" err="1"/>
              <a:t>sont</a:t>
            </a:r>
            <a:r>
              <a:rPr lang="en-US" dirty="0"/>
              <a:t> </a:t>
            </a:r>
            <a:r>
              <a:rPr lang="en-US" dirty="0" err="1"/>
              <a:t>concernant</a:t>
            </a:r>
            <a:r>
              <a:rPr lang="en-US" dirty="0"/>
              <a:t> la </a:t>
            </a:r>
            <a:r>
              <a:rPr lang="en-US" dirty="0" err="1"/>
              <a:t>quantité</a:t>
            </a:r>
            <a:r>
              <a:rPr lang="en-US" dirty="0"/>
              <a:t> de </a:t>
            </a:r>
            <a:r>
              <a:rPr lang="en-US" dirty="0" err="1"/>
              <a:t>termes</a:t>
            </a:r>
            <a:r>
              <a:rPr lang="en-US" dirty="0"/>
              <a:t> entre deux premiers P.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Le premier </a:t>
                </a:r>
                <a:r>
                  <a:rPr lang="en-US" dirty="0" err="1"/>
                  <a:t>exemple</a:t>
                </a:r>
                <a:r>
                  <a:rPr lang="en-US" dirty="0"/>
                  <a:t> </a:t>
                </a:r>
                <a:r>
                  <a:rPr lang="en-US" dirty="0" err="1"/>
                  <a:t>contenu</a:t>
                </a:r>
                <a:r>
                  <a:rPr lang="en-US" dirty="0"/>
                  <a:t> dans </a:t>
                </a:r>
                <a:r>
                  <a:rPr lang="en-US" dirty="0" err="1"/>
                  <a:t>cette</a:t>
                </a:r>
                <a:r>
                  <a:rPr lang="en-US" dirty="0"/>
                  <a:t> diapositive </a:t>
                </a:r>
                <a:r>
                  <a:rPr lang="en-US" dirty="0" err="1"/>
                  <a:t>permet</a:t>
                </a:r>
                <a:r>
                  <a:rPr lang="en-US" dirty="0"/>
                  <a:t> de determiner la </a:t>
                </a:r>
                <a:r>
                  <a:rPr lang="en-US" dirty="0" err="1"/>
                  <a:t>quantité</a:t>
                </a:r>
                <a:r>
                  <a:rPr lang="en-US" dirty="0"/>
                  <a:t> de </a:t>
                </a:r>
                <a:r>
                  <a:rPr lang="en-US" dirty="0" err="1"/>
                  <a:t>terme</a:t>
                </a:r>
                <a:r>
                  <a:rPr lang="en-US" dirty="0"/>
                  <a:t> </a:t>
                </a:r>
                <a:r>
                  <a:rPr lang="en-US" dirty="0" err="1"/>
                  <a:t>situé</a:t>
                </a:r>
                <a:r>
                  <a:rPr lang="en-US" dirty="0"/>
                  <a:t> entre 23 et 7 il </a:t>
                </a:r>
                <a:r>
                  <a:rPr lang="en-US" dirty="0" err="1"/>
                  <a:t>s’agit</a:t>
                </a:r>
                <a:r>
                  <a:rPr lang="en-US" dirty="0"/>
                  <a:t> de </a:t>
                </a:r>
                <a:r>
                  <a:rPr lang="en-US" dirty="0" err="1"/>
                  <a:t>l’écart</a:t>
                </a:r>
                <a:r>
                  <a:rPr lang="en-US" dirty="0"/>
                  <a:t> entre les premiers (+,+) positives? La </a:t>
                </a:r>
                <a:r>
                  <a:rPr lang="en-US" dirty="0" err="1"/>
                  <a:t>méthode</a:t>
                </a:r>
                <a:r>
                  <a:rPr lang="en-US" dirty="0"/>
                  <a:t> utilize </a:t>
                </a:r>
                <a:r>
                  <a:rPr lang="en-US" dirty="0" err="1"/>
                  <a:t>implique</a:t>
                </a:r>
                <a:r>
                  <a:rPr lang="en-US" dirty="0"/>
                  <a:t> les </a:t>
                </a:r>
                <a:r>
                  <a:rPr lang="en-US" dirty="0" err="1"/>
                  <a:t>sommes</a:t>
                </a:r>
                <a:r>
                  <a:rPr lang="en-US" dirty="0"/>
                  <a:t> des suites A et B. Dans un premier temps </a:t>
                </a:r>
                <a:r>
                  <a:rPr lang="en-US" dirty="0" err="1"/>
                  <a:t>puisque</a:t>
                </a:r>
                <a:r>
                  <a:rPr lang="en-US" dirty="0"/>
                  <a:t> la </a:t>
                </a:r>
                <a:r>
                  <a:rPr lang="en-US" dirty="0" err="1"/>
                  <a:t>quantité</a:t>
                </a:r>
                <a:r>
                  <a:rPr lang="en-US" dirty="0"/>
                  <a:t> de </a:t>
                </a:r>
                <a:r>
                  <a:rPr lang="en-US" dirty="0" err="1"/>
                  <a:t>termes</a:t>
                </a:r>
                <a:r>
                  <a:rPr lang="en-US" dirty="0"/>
                  <a:t> entre 23 et 7 le </a:t>
                </a:r>
                <a:r>
                  <a:rPr lang="en-US" dirty="0" err="1"/>
                  <a:t>nombre</a:t>
                </a:r>
                <a:r>
                  <a:rPr lang="en-US" dirty="0"/>
                  <a:t> premier </a:t>
                </a:r>
                <a:r>
                  <a:rPr lang="en-US" dirty="0" err="1"/>
                  <a:t>suivant</a:t>
                </a:r>
                <a:r>
                  <a:rPr lang="en-US" dirty="0"/>
                  <a:t> 7 est 11 il faut determiner la </a:t>
                </a:r>
                <a:r>
                  <a:rPr lang="en-US" dirty="0" err="1"/>
                  <a:t>somme</a:t>
                </a:r>
                <a:r>
                  <a:rPr lang="en-US" dirty="0"/>
                  <a:t> de la suite A du </a:t>
                </a:r>
                <a:r>
                  <a:rPr lang="en-US" dirty="0" err="1"/>
                  <a:t>nombre</a:t>
                </a:r>
                <a:r>
                  <a:rPr lang="en-US" dirty="0"/>
                  <a:t> premier 11. Il faut ensuite determiner la </a:t>
                </a:r>
                <a:r>
                  <a:rPr lang="en-US" dirty="0" err="1"/>
                  <a:t>somme</a:t>
                </a:r>
                <a:r>
                  <a:rPr lang="en-US" dirty="0"/>
                  <a:t> de la suite B et le digamma du </a:t>
                </a:r>
                <a:r>
                  <a:rPr lang="en-US" dirty="0" err="1"/>
                  <a:t>nombre</a:t>
                </a:r>
                <a:r>
                  <a:rPr lang="en-US" dirty="0"/>
                  <a:t> premier 23. Dans un </a:t>
                </a:r>
                <a:r>
                  <a:rPr lang="en-US" dirty="0" err="1"/>
                  <a:t>troisième</a:t>
                </a:r>
                <a:r>
                  <a:rPr lang="en-US" dirty="0"/>
                  <a:t> effort il faut </a:t>
                </a:r>
                <a:r>
                  <a:rPr lang="en-US" dirty="0" err="1"/>
                  <a:t>effectué</a:t>
                </a:r>
                <a:r>
                  <a:rPr lang="en-US" dirty="0"/>
                  <a:t> la difference entre la </a:t>
                </a:r>
                <a:r>
                  <a:rPr lang="en-US" dirty="0" err="1"/>
                  <a:t>somme</a:t>
                </a:r>
                <a:r>
                  <a:rPr lang="en-US" dirty="0"/>
                  <a:t> de la suite A de 11 et la difference </a:t>
                </a:r>
                <a:r>
                  <a:rPr lang="en-US" dirty="0" err="1"/>
                  <a:t>conjointe</a:t>
                </a:r>
                <a:r>
                  <a:rPr lang="en-US" dirty="0"/>
                  <a:t> de la </a:t>
                </a:r>
                <a:r>
                  <a:rPr lang="en-US" dirty="0" err="1"/>
                  <a:t>somme</a:t>
                </a:r>
                <a:r>
                  <a:rPr lang="en-US" dirty="0"/>
                  <a:t> de la suite B de 23 et du Digamma de 23 </a:t>
                </a:r>
                <a:r>
                  <a:rPr lang="en-US" dirty="0" err="1"/>
                  <a:t>appelons</a:t>
                </a:r>
                <a:r>
                  <a:rPr lang="en-US" dirty="0"/>
                  <a:t> la </a:t>
                </a:r>
                <a:r>
                  <a:rPr lang="en-US" dirty="0" err="1"/>
                  <a:t>valeur</a:t>
                </a:r>
                <a:r>
                  <a:rPr lang="en-US" dirty="0"/>
                  <a:t> de </a:t>
                </a:r>
                <a:r>
                  <a:rPr lang="en-US" dirty="0" err="1"/>
                  <a:t>cette</a:t>
                </a:r>
                <a:r>
                  <a:rPr lang="en-US" dirty="0"/>
                  <a:t> </a:t>
                </a:r>
                <a:r>
                  <a:rPr lang="en-US" dirty="0" err="1"/>
                  <a:t>différente</a:t>
                </a:r>
                <a:r>
                  <a:rPr lang="en-US" dirty="0"/>
                  <a:t> </a:t>
                </a:r>
                <a:r>
                  <a:rPr lang="en-US" dirty="0" err="1"/>
                  <a:t>conjointe</a:t>
                </a:r>
                <a:r>
                  <a:rPr lang="en-US" dirty="0"/>
                  <a:t> la </a:t>
                </a:r>
                <a:r>
                  <a:rPr lang="en-US" dirty="0" err="1"/>
                  <a:t>valeur</a:t>
                </a:r>
                <a:r>
                  <a:rPr lang="en-US" dirty="0"/>
                  <a:t> </a:t>
                </a:r>
                <a:r>
                  <a:rPr lang="en-US" dirty="0" err="1"/>
                  <a:t>Sbd</a:t>
                </a:r>
                <a:r>
                  <a:rPr lang="en-US" dirty="0"/>
                  <a:t>. La </a:t>
                </a:r>
                <a:r>
                  <a:rPr lang="en-US" dirty="0" err="1"/>
                  <a:t>quatrième</a:t>
                </a:r>
                <a:r>
                  <a:rPr lang="en-US" dirty="0"/>
                  <a:t> étape de la </a:t>
                </a:r>
                <a:r>
                  <a:rPr lang="en-US" dirty="0" err="1"/>
                  <a:t>méthode</a:t>
                </a:r>
                <a:r>
                  <a:rPr lang="en-US" dirty="0"/>
                  <a:t> servant a determiner la </a:t>
                </a:r>
                <a:r>
                  <a:rPr lang="en-US" dirty="0" err="1"/>
                  <a:t>quantité</a:t>
                </a:r>
                <a:r>
                  <a:rPr lang="en-US" dirty="0"/>
                  <a:t> de </a:t>
                </a:r>
                <a:r>
                  <a:rPr lang="en-US" dirty="0" err="1"/>
                  <a:t>termes</a:t>
                </a:r>
                <a:r>
                  <a:rPr lang="en-US" dirty="0"/>
                  <a:t> entre les premiers 23 et 7 est de determiner le digamma de 7. Finalement il </a:t>
                </a:r>
                <a:r>
                  <a:rPr lang="en-US" dirty="0" err="1"/>
                  <a:t>suffit</a:t>
                </a:r>
                <a:r>
                  <a:rPr lang="en-US" dirty="0"/>
                  <a:t> </a:t>
                </a:r>
                <a:r>
                  <a:rPr lang="en-US" dirty="0" err="1"/>
                  <a:t>d’effectué</a:t>
                </a:r>
                <a:r>
                  <a:rPr lang="en-US" dirty="0"/>
                  <a:t> la difference entre la </a:t>
                </a:r>
                <a:r>
                  <a:rPr lang="en-US" dirty="0" err="1"/>
                  <a:t>valeur</a:t>
                </a:r>
                <a:r>
                  <a:rPr lang="en-US" dirty="0"/>
                  <a:t> </a:t>
                </a:r>
                <a:r>
                  <a:rPr lang="en-US" dirty="0" err="1"/>
                  <a:t>Sbd</a:t>
                </a:r>
                <a:r>
                  <a:rPr lang="en-US" dirty="0"/>
                  <a:t> et le </a:t>
                </a:r>
                <a:r>
                  <a:rPr lang="en-US" dirty="0" err="1"/>
                  <a:t>diagamma</a:t>
                </a:r>
                <a:r>
                  <a:rPr lang="en-US" dirty="0"/>
                  <a:t> de 7 </a:t>
                </a:r>
                <a:r>
                  <a:rPr lang="en-US" dirty="0" err="1"/>
                  <a:t>puis</a:t>
                </a:r>
                <a:r>
                  <a:rPr lang="en-US" dirty="0"/>
                  <a:t> de </a:t>
                </a:r>
                <a:r>
                  <a:rPr lang="en-US" dirty="0" err="1"/>
                  <a:t>divisé</a:t>
                </a:r>
                <a:r>
                  <a:rPr lang="en-US" dirty="0"/>
                  <a:t> le </a:t>
                </a:r>
                <a:r>
                  <a:rPr lang="en-US" dirty="0" err="1"/>
                  <a:t>résultat</a:t>
                </a:r>
                <a:r>
                  <a:rPr lang="en-US" dirty="0"/>
                  <a:t> de </a:t>
                </a:r>
                <a:r>
                  <a:rPr lang="en-US" dirty="0" err="1"/>
                  <a:t>cette</a:t>
                </a:r>
                <a:r>
                  <a:rPr lang="en-US" dirty="0"/>
                  <a:t> difference par le </a:t>
                </a:r>
                <a:r>
                  <a:rPr lang="en-US" dirty="0" err="1"/>
                  <a:t>zêta</a:t>
                </a:r>
                <a:r>
                  <a:rPr lang="en-US" dirty="0"/>
                  <a:t> la </a:t>
                </a:r>
                <a:r>
                  <a:rPr lang="en-US" dirty="0" err="1"/>
                  <a:t>valeur</a:t>
                </a:r>
                <a:r>
                  <a:rPr lang="en-US" dirty="0"/>
                  <a:t> de la </a:t>
                </a:r>
                <a:r>
                  <a:rPr lang="en-US" dirty="0" err="1"/>
                  <a:t>sixième</a:t>
                </a:r>
                <a:r>
                  <a:rPr lang="en-US" dirty="0"/>
                  <a:t> position de la suite A qui pour le rapport </a:t>
                </a:r>
                <a14:m>
                  <m:oMath xmlns:m="http://schemas.openxmlformats.org/officeDocument/2006/math">
                    <m:f>
                      <m:fPr>
                        <m:ctrlPr>
                          <a:rPr lang="en-US"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𝑘</m:t>
                        </m:r>
                      </m:den>
                    </m:f>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2</m:t>
                        </m:r>
                      </m:den>
                    </m:f>
                    <m:r>
                      <a:rPr lang="fr-CA" b="0" i="1" smtClean="0">
                        <a:latin typeface="Cambria Math" panose="02040503050406030204" pitchFamily="18" charset="0"/>
                      </a:rPr>
                      <m:t> </m:t>
                    </m:r>
                  </m:oMath>
                </a14:m>
                <a:r>
                  <a:rPr lang="en-US" dirty="0"/>
                  <a:t>la </a:t>
                </a:r>
                <a:r>
                  <a:rPr lang="en-US" dirty="0" err="1"/>
                  <a:t>réponse</a:t>
                </a:r>
                <a:r>
                  <a:rPr lang="en-US" dirty="0"/>
                  <a:t> </a:t>
                </a:r>
                <a:r>
                  <a:rPr lang="en-US" dirty="0" err="1"/>
                  <a:t>dévoilé</a:t>
                </a:r>
                <a:r>
                  <a:rPr lang="en-US" baseline="0" dirty="0"/>
                  <a:t> est bien -15 </a:t>
                </a:r>
                <a:r>
                  <a:rPr lang="en-US" baseline="0" dirty="0" err="1"/>
                  <a:t>nombres</a:t>
                </a:r>
                <a:r>
                  <a:rPr lang="en-US" baseline="0" dirty="0"/>
                  <a:t> entre 23 et 7 .</a:t>
                </a:r>
                <a:endParaRPr lang="en-US" dirty="0"/>
              </a:p>
            </p:txBody>
          </p:sp>
        </mc:Choice>
        <mc:Fallback xmlns="">
          <p:sp>
            <p:nvSpPr>
              <p:cNvPr id="3" name="Notes Placeholder 2"/>
              <p:cNvSpPr>
                <a:spLocks noGrp="1"/>
              </p:cNvSpPr>
              <p:nvPr>
                <p:ph type="body" idx="1"/>
              </p:nvPr>
            </p:nvSpPr>
            <p:spPr/>
            <p:txBody>
              <a:bodyPr/>
              <a:lstStyle/>
              <a:p>
                <a:r>
                  <a:rPr lang="en-US" dirty="0"/>
                  <a:t>Le premier </a:t>
                </a:r>
                <a:r>
                  <a:rPr lang="en-US" dirty="0" err="1"/>
                  <a:t>exemple</a:t>
                </a:r>
                <a:r>
                  <a:rPr lang="en-US" dirty="0"/>
                  <a:t> </a:t>
                </a:r>
                <a:r>
                  <a:rPr lang="en-US" dirty="0" err="1"/>
                  <a:t>contenu</a:t>
                </a:r>
                <a:r>
                  <a:rPr lang="en-US" dirty="0"/>
                  <a:t> dans </a:t>
                </a:r>
                <a:r>
                  <a:rPr lang="en-US" dirty="0" err="1"/>
                  <a:t>cette</a:t>
                </a:r>
                <a:r>
                  <a:rPr lang="en-US" dirty="0"/>
                  <a:t> diapositive </a:t>
                </a:r>
                <a:r>
                  <a:rPr lang="en-US" dirty="0" err="1"/>
                  <a:t>permet</a:t>
                </a:r>
                <a:r>
                  <a:rPr lang="en-US" dirty="0"/>
                  <a:t> de determiner la </a:t>
                </a:r>
                <a:r>
                  <a:rPr lang="en-US" dirty="0" err="1"/>
                  <a:t>quantité</a:t>
                </a:r>
                <a:r>
                  <a:rPr lang="en-US" dirty="0"/>
                  <a:t> de </a:t>
                </a:r>
                <a:r>
                  <a:rPr lang="en-US" dirty="0" err="1"/>
                  <a:t>terme</a:t>
                </a:r>
                <a:r>
                  <a:rPr lang="en-US" dirty="0"/>
                  <a:t> </a:t>
                </a:r>
                <a:r>
                  <a:rPr lang="en-US" dirty="0" err="1"/>
                  <a:t>situé</a:t>
                </a:r>
                <a:r>
                  <a:rPr lang="en-US" dirty="0"/>
                  <a:t> entre 23 et 7 il </a:t>
                </a:r>
                <a:r>
                  <a:rPr lang="en-US" dirty="0" err="1"/>
                  <a:t>s’agit</a:t>
                </a:r>
                <a:r>
                  <a:rPr lang="en-US" dirty="0"/>
                  <a:t> de </a:t>
                </a:r>
                <a:r>
                  <a:rPr lang="en-US" dirty="0" err="1"/>
                  <a:t>l’écart</a:t>
                </a:r>
                <a:r>
                  <a:rPr lang="en-US" dirty="0"/>
                  <a:t> entre les premiers (+,+) positives? La </a:t>
                </a:r>
                <a:r>
                  <a:rPr lang="en-US" dirty="0" err="1"/>
                  <a:t>méthode</a:t>
                </a:r>
                <a:r>
                  <a:rPr lang="en-US" dirty="0"/>
                  <a:t> utilize </a:t>
                </a:r>
                <a:r>
                  <a:rPr lang="en-US" dirty="0" err="1"/>
                  <a:t>implique</a:t>
                </a:r>
                <a:r>
                  <a:rPr lang="en-US" dirty="0"/>
                  <a:t> les </a:t>
                </a:r>
                <a:r>
                  <a:rPr lang="en-US" dirty="0" err="1"/>
                  <a:t>sommes</a:t>
                </a:r>
                <a:r>
                  <a:rPr lang="en-US" dirty="0"/>
                  <a:t> des suites A et B. Dans un premier temps </a:t>
                </a:r>
                <a:r>
                  <a:rPr lang="en-US" dirty="0" err="1"/>
                  <a:t>puisque</a:t>
                </a:r>
                <a:r>
                  <a:rPr lang="en-US" dirty="0"/>
                  <a:t> la </a:t>
                </a:r>
                <a:r>
                  <a:rPr lang="en-US" dirty="0" err="1"/>
                  <a:t>quantité</a:t>
                </a:r>
                <a:r>
                  <a:rPr lang="en-US" dirty="0"/>
                  <a:t> de </a:t>
                </a:r>
                <a:r>
                  <a:rPr lang="en-US" dirty="0" err="1"/>
                  <a:t>termes</a:t>
                </a:r>
                <a:r>
                  <a:rPr lang="en-US" dirty="0"/>
                  <a:t> entre 23 et 7 le </a:t>
                </a:r>
                <a:r>
                  <a:rPr lang="en-US" dirty="0" err="1"/>
                  <a:t>nombre</a:t>
                </a:r>
                <a:r>
                  <a:rPr lang="en-US" dirty="0"/>
                  <a:t> premier </a:t>
                </a:r>
                <a:r>
                  <a:rPr lang="en-US" dirty="0" err="1"/>
                  <a:t>suivant</a:t>
                </a:r>
                <a:r>
                  <a:rPr lang="en-US" dirty="0"/>
                  <a:t> 7 est 11 il faut determiner la </a:t>
                </a:r>
                <a:r>
                  <a:rPr lang="en-US" dirty="0" err="1"/>
                  <a:t>somme</a:t>
                </a:r>
                <a:r>
                  <a:rPr lang="en-US" dirty="0"/>
                  <a:t> de la suite A du </a:t>
                </a:r>
                <a:r>
                  <a:rPr lang="en-US" dirty="0" err="1"/>
                  <a:t>nombre</a:t>
                </a:r>
                <a:r>
                  <a:rPr lang="en-US" dirty="0"/>
                  <a:t> premier 11. Il faut ensuite determiner la </a:t>
                </a:r>
                <a:r>
                  <a:rPr lang="en-US" dirty="0" err="1"/>
                  <a:t>somme</a:t>
                </a:r>
                <a:r>
                  <a:rPr lang="en-US" dirty="0"/>
                  <a:t> de la suite B et le digamma du </a:t>
                </a:r>
                <a:r>
                  <a:rPr lang="en-US" dirty="0" err="1"/>
                  <a:t>nombre</a:t>
                </a:r>
                <a:r>
                  <a:rPr lang="en-US" dirty="0"/>
                  <a:t> premier 23. Dans un </a:t>
                </a:r>
                <a:r>
                  <a:rPr lang="en-US" dirty="0" err="1"/>
                  <a:t>troisième</a:t>
                </a:r>
                <a:r>
                  <a:rPr lang="en-US" dirty="0"/>
                  <a:t> effort il faut </a:t>
                </a:r>
                <a:r>
                  <a:rPr lang="en-US" dirty="0" err="1"/>
                  <a:t>effectué</a:t>
                </a:r>
                <a:r>
                  <a:rPr lang="en-US" dirty="0"/>
                  <a:t> la difference entre la </a:t>
                </a:r>
                <a:r>
                  <a:rPr lang="en-US" dirty="0" err="1"/>
                  <a:t>somme</a:t>
                </a:r>
                <a:r>
                  <a:rPr lang="en-US" dirty="0"/>
                  <a:t> de la suite A de 11 et la difference </a:t>
                </a:r>
                <a:r>
                  <a:rPr lang="en-US" dirty="0" err="1"/>
                  <a:t>conjointe</a:t>
                </a:r>
                <a:r>
                  <a:rPr lang="en-US" dirty="0"/>
                  <a:t> de la </a:t>
                </a:r>
                <a:r>
                  <a:rPr lang="en-US" dirty="0" err="1"/>
                  <a:t>somme</a:t>
                </a:r>
                <a:r>
                  <a:rPr lang="en-US" dirty="0"/>
                  <a:t> de la suite B de 23 et du Digamma de 23 </a:t>
                </a:r>
                <a:r>
                  <a:rPr lang="en-US" dirty="0" err="1"/>
                  <a:t>appelons</a:t>
                </a:r>
                <a:r>
                  <a:rPr lang="en-US" dirty="0"/>
                  <a:t> la </a:t>
                </a:r>
                <a:r>
                  <a:rPr lang="en-US" dirty="0" err="1"/>
                  <a:t>valeur</a:t>
                </a:r>
                <a:r>
                  <a:rPr lang="en-US" dirty="0"/>
                  <a:t> de </a:t>
                </a:r>
                <a:r>
                  <a:rPr lang="en-US" dirty="0" err="1"/>
                  <a:t>cette</a:t>
                </a:r>
                <a:r>
                  <a:rPr lang="en-US" dirty="0"/>
                  <a:t> </a:t>
                </a:r>
                <a:r>
                  <a:rPr lang="en-US" dirty="0" err="1"/>
                  <a:t>différente</a:t>
                </a:r>
                <a:r>
                  <a:rPr lang="en-US" dirty="0"/>
                  <a:t> </a:t>
                </a:r>
                <a:r>
                  <a:rPr lang="en-US" dirty="0" err="1"/>
                  <a:t>conjointe</a:t>
                </a:r>
                <a:r>
                  <a:rPr lang="en-US" dirty="0"/>
                  <a:t> la </a:t>
                </a:r>
                <a:r>
                  <a:rPr lang="en-US" dirty="0" err="1"/>
                  <a:t>valeur</a:t>
                </a:r>
                <a:r>
                  <a:rPr lang="en-US" dirty="0"/>
                  <a:t> </a:t>
                </a:r>
                <a:r>
                  <a:rPr lang="en-US" dirty="0" err="1"/>
                  <a:t>Sbd</a:t>
                </a:r>
                <a:r>
                  <a:rPr lang="en-US" dirty="0"/>
                  <a:t>. La </a:t>
                </a:r>
                <a:r>
                  <a:rPr lang="en-US" dirty="0" err="1"/>
                  <a:t>quatrième</a:t>
                </a:r>
                <a:r>
                  <a:rPr lang="en-US" dirty="0"/>
                  <a:t> étape de la </a:t>
                </a:r>
                <a:r>
                  <a:rPr lang="en-US" dirty="0" err="1"/>
                  <a:t>méthode</a:t>
                </a:r>
                <a:r>
                  <a:rPr lang="en-US" dirty="0"/>
                  <a:t> servant a determiner la </a:t>
                </a:r>
                <a:r>
                  <a:rPr lang="en-US" dirty="0" err="1"/>
                  <a:t>quantité</a:t>
                </a:r>
                <a:r>
                  <a:rPr lang="en-US" dirty="0"/>
                  <a:t> de </a:t>
                </a:r>
                <a:r>
                  <a:rPr lang="en-US" dirty="0" err="1"/>
                  <a:t>termes</a:t>
                </a:r>
                <a:r>
                  <a:rPr lang="en-US" dirty="0"/>
                  <a:t> entre les premiers 23 et 7 est de determiner le digamma de 7. Finalement il </a:t>
                </a:r>
                <a:r>
                  <a:rPr lang="en-US" dirty="0" err="1"/>
                  <a:t>suffit</a:t>
                </a:r>
                <a:r>
                  <a:rPr lang="en-US" dirty="0"/>
                  <a:t> </a:t>
                </a:r>
                <a:r>
                  <a:rPr lang="en-US" dirty="0" err="1"/>
                  <a:t>d’effectué</a:t>
                </a:r>
                <a:r>
                  <a:rPr lang="en-US" dirty="0"/>
                  <a:t> la difference entre la </a:t>
                </a:r>
                <a:r>
                  <a:rPr lang="en-US" dirty="0" err="1"/>
                  <a:t>valeur</a:t>
                </a:r>
                <a:r>
                  <a:rPr lang="en-US" dirty="0"/>
                  <a:t> </a:t>
                </a:r>
                <a:r>
                  <a:rPr lang="en-US" dirty="0" err="1"/>
                  <a:t>Sbd</a:t>
                </a:r>
                <a:r>
                  <a:rPr lang="en-US" dirty="0"/>
                  <a:t> et le </a:t>
                </a:r>
                <a:r>
                  <a:rPr lang="en-US" dirty="0" err="1"/>
                  <a:t>diagamma</a:t>
                </a:r>
                <a:r>
                  <a:rPr lang="en-US" dirty="0"/>
                  <a:t> de 7 </a:t>
                </a:r>
                <a:r>
                  <a:rPr lang="en-US" dirty="0" err="1"/>
                  <a:t>puis</a:t>
                </a:r>
                <a:r>
                  <a:rPr lang="en-US" dirty="0"/>
                  <a:t> de </a:t>
                </a:r>
                <a:r>
                  <a:rPr lang="en-US" dirty="0" err="1"/>
                  <a:t>divisé</a:t>
                </a:r>
                <a:r>
                  <a:rPr lang="en-US" dirty="0"/>
                  <a:t> le </a:t>
                </a:r>
                <a:r>
                  <a:rPr lang="en-US" dirty="0" err="1"/>
                  <a:t>résultat</a:t>
                </a:r>
                <a:r>
                  <a:rPr lang="en-US" dirty="0"/>
                  <a:t> de </a:t>
                </a:r>
                <a:r>
                  <a:rPr lang="en-US" dirty="0" err="1"/>
                  <a:t>cette</a:t>
                </a:r>
                <a:r>
                  <a:rPr lang="en-US" dirty="0"/>
                  <a:t> difference par le </a:t>
                </a:r>
                <a:r>
                  <a:rPr lang="en-US" dirty="0" err="1"/>
                  <a:t>zêta</a:t>
                </a:r>
                <a:r>
                  <a:rPr lang="en-US" dirty="0"/>
                  <a:t> la </a:t>
                </a:r>
                <a:r>
                  <a:rPr lang="en-US" dirty="0" err="1"/>
                  <a:t>valeur</a:t>
                </a:r>
                <a:r>
                  <a:rPr lang="en-US" dirty="0"/>
                  <a:t> de la </a:t>
                </a:r>
                <a:r>
                  <a:rPr lang="en-US" dirty="0" err="1"/>
                  <a:t>sixième</a:t>
                </a:r>
                <a:r>
                  <a:rPr lang="en-US" dirty="0"/>
                  <a:t> position de la suite A qui pour le rapport </a:t>
                </a:r>
                <a:r>
                  <a:rPr lang="fr-CA" b="0" i="0">
                    <a:latin typeface="Cambria Math" panose="02040503050406030204" pitchFamily="18" charset="0"/>
                  </a:rPr>
                  <a:t>1</a:t>
                </a:r>
                <a:r>
                  <a:rPr lang="en-US" b="0" i="0">
                    <a:latin typeface="Cambria Math" panose="02040503050406030204" pitchFamily="18" charset="0"/>
                  </a:rPr>
                  <a:t>/</a:t>
                </a:r>
                <a:r>
                  <a:rPr lang="fr-CA" b="0" i="0">
                    <a:latin typeface="Cambria Math" panose="02040503050406030204" pitchFamily="18" charset="0"/>
                  </a:rPr>
                  <a:t>𝑘=1/2  </a:t>
                </a:r>
                <a:r>
                  <a:rPr lang="en-US" dirty="0"/>
                  <a:t>la </a:t>
                </a:r>
                <a:r>
                  <a:rPr lang="en-US" dirty="0" err="1"/>
                  <a:t>réponse</a:t>
                </a:r>
                <a:r>
                  <a:rPr lang="en-US" dirty="0"/>
                  <a:t> </a:t>
                </a:r>
                <a:r>
                  <a:rPr lang="en-US" dirty="0" err="1"/>
                  <a:t>dévoilé</a:t>
                </a:r>
                <a:r>
                  <a:rPr lang="en-US" baseline="0" dirty="0"/>
                  <a:t> est bien -15 </a:t>
                </a:r>
                <a:r>
                  <a:rPr lang="en-US" baseline="0" dirty="0" err="1"/>
                  <a:t>nombres</a:t>
                </a:r>
                <a:r>
                  <a:rPr lang="en-US" baseline="0" dirty="0"/>
                  <a:t> entre 23 et 7 .</a:t>
                </a:r>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est </a:t>
            </a:r>
            <a:r>
              <a:rPr lang="en-US" dirty="0" err="1"/>
              <a:t>concernant</a:t>
            </a:r>
            <a:r>
              <a:rPr lang="en-US" dirty="0"/>
              <a:t> </a:t>
            </a:r>
            <a:r>
              <a:rPr lang="en-US" dirty="0" err="1"/>
              <a:t>l’écart</a:t>
            </a:r>
            <a:r>
              <a:rPr lang="en-US" dirty="0"/>
              <a:t> mixte (-,+) entre -31 et 17. Les </a:t>
            </a:r>
            <a:r>
              <a:rPr lang="en-US" dirty="0" err="1"/>
              <a:t>mêmes</a:t>
            </a:r>
            <a:r>
              <a:rPr lang="en-US" dirty="0"/>
              <a:t> étapes </a:t>
            </a:r>
            <a:r>
              <a:rPr lang="en-US" dirty="0" err="1"/>
              <a:t>s’appliquent</a:t>
            </a:r>
            <a:r>
              <a:rPr lang="en-US" dirty="0"/>
              <a:t> pour </a:t>
            </a:r>
            <a:r>
              <a:rPr lang="en-US" dirty="0" err="1"/>
              <a:t>l’écart</a:t>
            </a:r>
            <a:r>
              <a:rPr lang="en-US" dirty="0"/>
              <a:t> mixte </a:t>
            </a:r>
            <a:r>
              <a:rPr lang="en-US" dirty="0" err="1"/>
              <a:t>que</a:t>
            </a:r>
            <a:r>
              <a:rPr lang="en-US" dirty="0"/>
              <a:t> pour les </a:t>
            </a:r>
            <a:r>
              <a:rPr lang="en-US" dirty="0" err="1"/>
              <a:t>autre</a:t>
            </a:r>
            <a:r>
              <a:rPr lang="en-US" dirty="0"/>
              <a:t> </a:t>
            </a:r>
            <a:r>
              <a:rPr lang="en-US" dirty="0" err="1"/>
              <a:t>écart</a:t>
            </a:r>
            <a:r>
              <a:rPr lang="en-US" dirty="0"/>
              <a:t> positive et negative </a:t>
            </a:r>
            <a:r>
              <a:rPr lang="en-US" dirty="0" err="1"/>
              <a:t>mais</a:t>
            </a:r>
            <a:r>
              <a:rPr lang="en-US" dirty="0"/>
              <a:t> il est important de noter </a:t>
            </a:r>
            <a:r>
              <a:rPr lang="en-US" dirty="0" err="1"/>
              <a:t>que</a:t>
            </a:r>
            <a:r>
              <a:rPr lang="en-US" dirty="0"/>
              <a:t> </a:t>
            </a:r>
            <a:r>
              <a:rPr lang="en-US" dirty="0" err="1"/>
              <a:t>l’écart</a:t>
            </a:r>
            <a:r>
              <a:rPr lang="en-US" dirty="0"/>
              <a:t> mixte </a:t>
            </a:r>
            <a:r>
              <a:rPr lang="en-US" dirty="0" err="1"/>
              <a:t>inclut</a:t>
            </a:r>
            <a:r>
              <a:rPr lang="en-US" dirty="0"/>
              <a:t> la </a:t>
            </a:r>
            <a:r>
              <a:rPr lang="en-US" dirty="0" err="1"/>
              <a:t>valeur</a:t>
            </a:r>
            <a:r>
              <a:rPr lang="en-US" dirty="0"/>
              <a:t> de 0 dans la </a:t>
            </a:r>
            <a:r>
              <a:rPr lang="en-US" dirty="0" err="1"/>
              <a:t>quantité</a:t>
            </a:r>
            <a:r>
              <a:rPr lang="en-US" dirty="0"/>
              <a:t> de </a:t>
            </a:r>
            <a:r>
              <a:rPr lang="en-US" dirty="0" err="1"/>
              <a:t>termes</a:t>
            </a:r>
            <a:r>
              <a:rPr lang="en-US" dirty="0"/>
              <a:t> present entre -31 et 7.</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y a bien 46 </a:t>
            </a:r>
            <a:r>
              <a:rPr lang="en-US" dirty="0" err="1"/>
              <a:t>nombre</a:t>
            </a:r>
            <a:r>
              <a:rPr lang="en-US" dirty="0"/>
              <a:t> entre -31 et 17 </a:t>
            </a:r>
            <a:r>
              <a:rPr lang="en-US" dirty="0" err="1"/>
              <a:t>démontrant</a:t>
            </a:r>
            <a:r>
              <a:rPr lang="en-US" dirty="0"/>
              <a:t> </a:t>
            </a:r>
            <a:r>
              <a:rPr lang="en-US" dirty="0" err="1"/>
              <a:t>que</a:t>
            </a:r>
            <a:r>
              <a:rPr lang="en-US" dirty="0"/>
              <a:t> 0 est </a:t>
            </a:r>
            <a:r>
              <a:rPr lang="en-US" dirty="0" err="1"/>
              <a:t>inclut</a:t>
            </a:r>
            <a:r>
              <a:rPr lang="en-US" dirty="0"/>
              <a:t> dans </a:t>
            </a:r>
            <a:r>
              <a:rPr lang="en-US" dirty="0" err="1"/>
              <a:t>l’écart</a:t>
            </a:r>
            <a:r>
              <a:rPr lang="en-US" dirty="0"/>
              <a:t> mixte.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t>
            </a:r>
            <a:r>
              <a:rPr lang="en-US" dirty="0" err="1"/>
              <a:t>allons</a:t>
            </a:r>
            <a:r>
              <a:rPr lang="en-US" dirty="0"/>
              <a:t> </a:t>
            </a:r>
            <a:r>
              <a:rPr lang="en-US" dirty="0" err="1"/>
              <a:t>maintenant</a:t>
            </a:r>
            <a:r>
              <a:rPr lang="en-US" dirty="0"/>
              <a:t> dans la </a:t>
            </a:r>
            <a:r>
              <a:rPr lang="en-US" dirty="0" err="1"/>
              <a:t>dernières</a:t>
            </a:r>
            <a:r>
              <a:rPr lang="en-US" dirty="0"/>
              <a:t> </a:t>
            </a:r>
            <a:r>
              <a:rPr lang="en-US" dirty="0" err="1"/>
              <a:t>partie</a:t>
            </a:r>
            <a:r>
              <a:rPr lang="en-US" dirty="0"/>
              <a:t> du </a:t>
            </a:r>
            <a:r>
              <a:rPr lang="en-US" dirty="0" err="1"/>
              <a:t>diaporama</a:t>
            </a:r>
            <a:r>
              <a:rPr lang="en-US" dirty="0"/>
              <a:t> interpreter les </a:t>
            </a:r>
            <a:r>
              <a:rPr lang="en-US" dirty="0" err="1"/>
              <a:t>résultats</a:t>
            </a:r>
            <a:r>
              <a:rPr lang="en-US" dirty="0"/>
              <a:t> </a:t>
            </a:r>
            <a:r>
              <a:rPr lang="en-US" dirty="0" err="1"/>
              <a:t>que</a:t>
            </a:r>
            <a:r>
              <a:rPr lang="en-US" dirty="0"/>
              <a:t> nous </a:t>
            </a:r>
            <a:r>
              <a:rPr lang="en-US" dirty="0" err="1"/>
              <a:t>mettons</a:t>
            </a:r>
            <a:r>
              <a:rPr lang="en-US" dirty="0"/>
              <a:t> </a:t>
            </a:r>
            <a:r>
              <a:rPr lang="en-US" dirty="0" err="1"/>
              <a:t>en</a:t>
            </a:r>
            <a:r>
              <a:rPr lang="en-US" dirty="0"/>
              <a:t> relation </a:t>
            </a:r>
            <a:r>
              <a:rPr lang="en-US" dirty="0" err="1"/>
              <a:t>depuis</a:t>
            </a:r>
            <a:r>
              <a:rPr lang="en-US" dirty="0"/>
              <a:t> le début de </a:t>
            </a:r>
            <a:r>
              <a:rPr lang="en-US" dirty="0" err="1"/>
              <a:t>ce</a:t>
            </a:r>
            <a:r>
              <a:rPr lang="en-US" dirty="0"/>
              <a:t> </a:t>
            </a:r>
            <a:r>
              <a:rPr lang="en-US" dirty="0" err="1"/>
              <a:t>diaporama</a:t>
            </a:r>
            <a:r>
              <a:rPr lang="en-US" dirty="0"/>
              <a:t>? Une </a:t>
            </a:r>
            <a:r>
              <a:rPr lang="en-US" dirty="0" err="1"/>
              <a:t>apporche</a:t>
            </a:r>
            <a:r>
              <a:rPr lang="en-US" dirty="0"/>
              <a:t> </a:t>
            </a:r>
            <a:r>
              <a:rPr lang="en-US" dirty="0" err="1"/>
              <a:t>innovante</a:t>
            </a:r>
            <a:r>
              <a:rPr lang="en-US" dirty="0"/>
              <a:t> propose par Philippe Thomas Savard est </a:t>
            </a:r>
            <a:r>
              <a:rPr lang="en-US" dirty="0" err="1"/>
              <a:t>inclut</a:t>
            </a:r>
            <a:r>
              <a:rPr lang="en-US" dirty="0"/>
              <a:t> dans </a:t>
            </a:r>
            <a:r>
              <a:rPr lang="en-US" dirty="0" err="1"/>
              <a:t>cette</a:t>
            </a:r>
            <a:r>
              <a:rPr lang="en-US" dirty="0"/>
              <a:t> </a:t>
            </a:r>
            <a:r>
              <a:rPr lang="en-US" dirty="0" err="1"/>
              <a:t>dernière</a:t>
            </a:r>
            <a:r>
              <a:rPr lang="en-US" dirty="0"/>
              <a:t> </a:t>
            </a:r>
            <a:r>
              <a:rPr lang="en-US" dirty="0" err="1"/>
              <a:t>partie</a:t>
            </a:r>
            <a:r>
              <a:rPr lang="en-US" dirty="0"/>
              <a:t> de la </a:t>
            </a:r>
            <a:r>
              <a:rPr lang="en-US" dirty="0" err="1"/>
              <a:t>géométrie</a:t>
            </a:r>
            <a:r>
              <a:rPr lang="en-US" dirty="0"/>
              <a:t> du </a:t>
            </a:r>
            <a:r>
              <a:rPr lang="en-US" dirty="0" err="1"/>
              <a:t>spectre</a:t>
            </a:r>
            <a:r>
              <a:rPr lang="en-US" dirty="0"/>
              <a:t> des </a:t>
            </a:r>
            <a:r>
              <a:rPr lang="en-US" dirty="0" err="1"/>
              <a:t>nombres</a:t>
            </a:r>
            <a:r>
              <a:rPr lang="en-US" dirty="0"/>
              <a:t> premiers qui </a:t>
            </a:r>
            <a:r>
              <a:rPr lang="en-US" dirty="0" err="1"/>
              <a:t>permet</a:t>
            </a:r>
            <a:r>
              <a:rPr lang="en-US" dirty="0"/>
              <a:t> </a:t>
            </a:r>
            <a:r>
              <a:rPr lang="en-US" dirty="0" err="1"/>
              <a:t>selon</a:t>
            </a:r>
            <a:r>
              <a:rPr lang="en-US" dirty="0"/>
              <a:t> </a:t>
            </a:r>
            <a:r>
              <a:rPr lang="en-US" dirty="0" err="1"/>
              <a:t>l’auteur</a:t>
            </a:r>
            <a:r>
              <a:rPr lang="en-US" dirty="0"/>
              <a:t> Savard a </a:t>
            </a:r>
            <a:r>
              <a:rPr lang="en-US" dirty="0" err="1"/>
              <a:t>l’aide</a:t>
            </a:r>
            <a:r>
              <a:rPr lang="en-US" dirty="0"/>
              <a:t> de la </a:t>
            </a:r>
            <a:r>
              <a:rPr lang="en-US" dirty="0" err="1"/>
              <a:t>pesé</a:t>
            </a:r>
            <a:r>
              <a:rPr lang="en-US" dirty="0"/>
              <a:t> </a:t>
            </a:r>
            <a:r>
              <a:rPr lang="en-US" dirty="0" err="1"/>
              <a:t>d’Archimèdre</a:t>
            </a:r>
            <a:r>
              <a:rPr lang="en-US" dirty="0"/>
              <a:t> servant de demonstration a la quadrature de la </a:t>
            </a:r>
            <a:r>
              <a:rPr lang="en-US" dirty="0" err="1"/>
              <a:t>parabole</a:t>
            </a:r>
            <a:r>
              <a:rPr lang="en-US" dirty="0"/>
              <a:t> est </a:t>
            </a:r>
            <a:r>
              <a:rPr lang="en-US" dirty="0" err="1"/>
              <a:t>présenté</a:t>
            </a:r>
            <a:r>
              <a:rPr lang="en-US" dirty="0"/>
              <a:t> pour </a:t>
            </a:r>
            <a:r>
              <a:rPr lang="en-US" dirty="0" err="1"/>
              <a:t>peut-être</a:t>
            </a:r>
            <a:r>
              <a:rPr lang="en-US" dirty="0"/>
              <a:t> </a:t>
            </a:r>
            <a:r>
              <a:rPr lang="en-US" dirty="0" err="1"/>
              <a:t>résoudre</a:t>
            </a:r>
            <a:r>
              <a:rPr lang="en-US" dirty="0"/>
              <a:t> </a:t>
            </a:r>
            <a:r>
              <a:rPr lang="en-US" dirty="0" err="1"/>
              <a:t>l’impasse</a:t>
            </a:r>
            <a:r>
              <a:rPr lang="en-US" dirty="0"/>
              <a:t> de la conjecture de la function </a:t>
            </a:r>
            <a:r>
              <a:rPr lang="en-US" dirty="0" err="1"/>
              <a:t>Zêta</a:t>
            </a:r>
            <a:r>
              <a:rPr lang="en-US" dirty="0"/>
              <a:t> de </a:t>
            </a:r>
            <a:r>
              <a:rPr lang="en-US" dirty="0" err="1"/>
              <a:t>de</a:t>
            </a:r>
            <a:r>
              <a:rPr lang="en-US" dirty="0"/>
              <a:t> Bernhard Riemann?... </a:t>
            </a:r>
            <a:r>
              <a:rPr lang="en-US" dirty="0" err="1"/>
              <a:t>L’approche</a:t>
            </a:r>
            <a:r>
              <a:rPr lang="en-US" dirty="0"/>
              <a:t> a </a:t>
            </a:r>
            <a:r>
              <a:rPr lang="en-US" dirty="0" err="1"/>
              <a:t>l’aide</a:t>
            </a:r>
            <a:r>
              <a:rPr lang="en-US" dirty="0"/>
              <a:t> de la </a:t>
            </a:r>
            <a:r>
              <a:rPr lang="en-US" dirty="0" err="1"/>
              <a:t>pesé</a:t>
            </a:r>
            <a:r>
              <a:rPr lang="en-US" dirty="0"/>
              <a:t> a priori </a:t>
            </a:r>
            <a:r>
              <a:rPr lang="en-US" dirty="0" err="1"/>
              <a:t>permettant</a:t>
            </a:r>
            <a:r>
              <a:rPr lang="en-US" dirty="0"/>
              <a:t> de </a:t>
            </a:r>
            <a:r>
              <a:rPr lang="en-US" dirty="0" err="1"/>
              <a:t>peser</a:t>
            </a:r>
            <a:r>
              <a:rPr lang="en-US" dirty="0"/>
              <a:t> la </a:t>
            </a:r>
            <a:r>
              <a:rPr lang="en-US" dirty="0" err="1"/>
              <a:t>parabole</a:t>
            </a:r>
            <a:r>
              <a:rPr lang="en-US" dirty="0"/>
              <a:t> propose par </a:t>
            </a:r>
            <a:r>
              <a:rPr lang="en-US" dirty="0" err="1"/>
              <a:t>Archimèdre</a:t>
            </a:r>
            <a:r>
              <a:rPr lang="en-US" dirty="0"/>
              <a:t> et don’t </a:t>
            </a:r>
            <a:r>
              <a:rPr lang="en-US" dirty="0" err="1"/>
              <a:t>l’idée</a:t>
            </a:r>
            <a:r>
              <a:rPr lang="en-US" dirty="0"/>
              <a:t> est </a:t>
            </a:r>
            <a:r>
              <a:rPr lang="en-US" dirty="0" err="1"/>
              <a:t>reprit</a:t>
            </a:r>
            <a:r>
              <a:rPr lang="en-US" dirty="0"/>
              <a:t> dans les travaux de Savard. Sera </a:t>
            </a:r>
            <a:r>
              <a:rPr lang="en-US" dirty="0" err="1"/>
              <a:t>suivit</a:t>
            </a:r>
            <a:r>
              <a:rPr lang="en-US" dirty="0"/>
              <a:t> de la </a:t>
            </a:r>
            <a:r>
              <a:rPr lang="en-US" dirty="0" err="1"/>
              <a:t>réponse</a:t>
            </a:r>
            <a:r>
              <a:rPr lang="en-US" dirty="0"/>
              <a:t> final </a:t>
            </a:r>
            <a:r>
              <a:rPr lang="en-US" dirty="0" err="1"/>
              <a:t>que</a:t>
            </a:r>
            <a:r>
              <a:rPr lang="en-US" dirty="0"/>
              <a:t> </a:t>
            </a:r>
            <a:r>
              <a:rPr lang="en-US" dirty="0" err="1"/>
              <a:t>l’auteur</a:t>
            </a:r>
            <a:r>
              <a:rPr lang="en-US" dirty="0"/>
              <a:t> nous reserve pour conclusion a </a:t>
            </a:r>
            <a:r>
              <a:rPr lang="en-US" dirty="0" err="1"/>
              <a:t>cette</a:t>
            </a:r>
            <a:r>
              <a:rPr lang="en-US" dirty="0"/>
              <a:t> diapositive.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ce réservé des notes 2"/>
          <p:cNvSpPr>
            <a:spLocks noGrp="1"/>
          </p:cNvSpPr>
          <p:nvPr>
            <p:ph type="body" idx="1"/>
          </p:nvPr>
        </p:nvSpPr>
        <p:spPr>
          <a:xfrm>
            <a:off x="514350" y="4400550"/>
            <a:ext cx="4114800" cy="3600450"/>
          </a:xfrm>
          <a:prstGeom prst="rect">
            <a:avLst/>
          </a:prstGeom>
        </p:spPr>
        <p:txBody>
          <a:bodyPr/>
          <a:lstStyle/>
          <a:p>
            <a:r>
              <a:rPr lang="fr-CA" dirty="0"/>
              <a:t>L’auteur Philippe Thomas Savard propose une approche original et innovante pour résoudre la question de la conjecture de la fonction Zêta de Riemann et l’énigme portant le même nom. Cette approche découle de la validation HOL isabelle </a:t>
            </a:r>
            <a:r>
              <a:rPr lang="fr-CA" dirty="0" err="1"/>
              <a:t>methode_spectral.thy</a:t>
            </a:r>
            <a:r>
              <a:rPr lang="fr-CA" dirty="0"/>
              <a:t> qui formalise et généralise les théorèmes présenté précédemment dans le diaporama dans la validation isabelle que vous pouvez consulter sur le dépôt du GitHub : theorie-mathematique-philippe-thomas-savard-2026. L’auteur Savard observe un parallèle où trois valeurs entrent en relation et ayant une position commune servant de point d’observation des trois valeurs possiblement en parallèles et ayant une position permettant de les observer. Le plan trifocal est donc constitué de trois valeur mis en relation pour établir le parallèle. 1. La fonction zêta. 2. La conjecture de la fonction zêta. 3. La géométrie du spectre des nombres premiers. Le point qui permet d’observer en quelque sorte les trois valeurs mise en relation est l’écart mixte entre deux nombres premier (-,+). La fonction Zêta permet de déterminer la position de tous les nombres premiers a l’</a:t>
            </a:r>
            <a:r>
              <a:rPr lang="fr-CA" dirty="0" err="1"/>
              <a:t>instart</a:t>
            </a:r>
            <a:r>
              <a:rPr lang="fr-CA" dirty="0"/>
              <a:t> de la méthode spectral qui est généralisé dans la validation contenu sur le dépôt mentionné sur le GitHub. </a:t>
            </a:r>
            <a:r>
              <a:rPr lang="fr-CA" dirty="0" err="1"/>
              <a:t>Deplus</a:t>
            </a:r>
            <a:r>
              <a:rPr lang="fr-CA" dirty="0"/>
              <a:t> il a été démontré précédemment également que comme la conjecture de la fonction Zêta le propose est ce que tous les zéros de la droite critique de la fonction Zêta ont tous pour parties réelles </a:t>
            </a:r>
            <a:r>
              <a:rPr lang="fr-CA" dirty="0" err="1"/>
              <a:t>Rs</a:t>
            </a:r>
            <a:r>
              <a:rPr lang="fr-CA" dirty="0"/>
              <a:t>=1/2? La méthode spectral généralise la question et tout porte a croire qu’entre tous les nombres premiers il puisse y avoir une valeur ½. L’écart mixte permet selon l’auteur puisque la droite critique peut être représenté par un aire d’un rectangle T pour la représenté en entier. Que si nous considérons les premiers sur un intervalle donné alors seulement une section de l’aire de la droite critique serait représenté pour cette intervalle tronquant le rectangle a une hauteur donnée. L’écart mixte permettant de </a:t>
            </a:r>
            <a:r>
              <a:rPr lang="fr-CA" dirty="0" err="1"/>
              <a:t>comparré</a:t>
            </a:r>
            <a:r>
              <a:rPr lang="fr-CA" dirty="0"/>
              <a:t> plus de nombres premiers que l’écart positive ou négative puisque les comparaisons identiques sont possible exemple -2,2 -3,3 -5,5… De plus chaque combinaison de deux premiers pour l’écart mixte ajoute +1 a chaque fois a la quantité de termes présent a chaque combinaison de l’écart mixte. Donnant une valeur a l’intervalle de premiers considérés relativement plus grand pour une même valeur. Valeur qui pourrait être algébrique. Ce faisant la droite critique serait pour un même intervalle courbé. L’auteur affirme que si l’aire de la parabole formé par cette manœuvre est égale a l’aire de la partie restant au rectangle T représentant la droite critique alors tous les zéros de la droite critique auraient bien </a:t>
            </a:r>
            <a:r>
              <a:rPr lang="fr-CA" dirty="0" err="1"/>
              <a:t>Rs</a:t>
            </a:r>
            <a:r>
              <a:rPr lang="fr-CA" dirty="0"/>
              <a:t>=1/2.</a:t>
            </a:r>
          </a:p>
        </p:txBody>
      </p:sp>
    </p:spTree>
    <p:extLst>
      <p:ext uri="{BB962C8B-B14F-4D97-AF65-F5344CB8AC3E}">
        <p14:creationId xmlns:p14="http://schemas.microsoft.com/office/powerpoint/2010/main" val="33758681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ce réservé des notes 2"/>
          <p:cNvSpPr>
            <a:spLocks noGrp="1"/>
          </p:cNvSpPr>
          <p:nvPr>
            <p:ph type="body" idx="1"/>
          </p:nvPr>
        </p:nvSpPr>
        <p:spPr>
          <a:xfrm>
            <a:off x="514350" y="4400550"/>
            <a:ext cx="4114800" cy="3600450"/>
          </a:xfrm>
          <a:prstGeom prst="rect">
            <a:avLst/>
          </a:prstGeom>
        </p:spPr>
        <p:txBody>
          <a:bodyPr/>
          <a:lstStyle/>
          <a:p>
            <a:r>
              <a:rPr lang="fr-CA" dirty="0"/>
              <a:t>Cette figure est la représentation de la manœuvre expliqué dans la diapositive précédente a l’aide de la pesé théorique d’Archimède. La pesé si vous observé bien la figure indique bien que l’aire de la parabole est égale a la section restante de la pesé a son 1/3 qui est a droite de l’illustration en turquoise. L’aire de la parabole est bien de 1.6^1/2-0.8^1/2=0.37048... *4/3 tous comme la pesé *4/3. Le théorème de Thalès cependant pour la même pesé indique que l’Aire de la parabole * OE&lt;&gt;Aire du triangle inscrit * OH le rapport étant 4 fois plus grand.</a:t>
            </a:r>
          </a:p>
        </p:txBody>
      </p:sp>
    </p:spTree>
    <p:extLst>
      <p:ext uri="{BB962C8B-B14F-4D97-AF65-F5344CB8AC3E}">
        <p14:creationId xmlns:p14="http://schemas.microsoft.com/office/powerpoint/2010/main" val="27402973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ce réservé des notes 2"/>
          <p:cNvSpPr>
            <a:spLocks noGrp="1"/>
          </p:cNvSpPr>
          <p:nvPr>
            <p:ph type="body" idx="1"/>
          </p:nvPr>
        </p:nvSpPr>
        <p:spPr>
          <a:xfrm>
            <a:off x="514350" y="4400550"/>
            <a:ext cx="4114800" cy="3600450"/>
          </a:xfrm>
          <a:prstGeom prst="rect">
            <a:avLst/>
          </a:prstGeom>
        </p:spPr>
        <p:txBody>
          <a:bodyPr/>
          <a:lstStyle/>
          <a:p>
            <a:r>
              <a:rPr lang="fr-CA" dirty="0"/>
              <a:t>La conclusion que Philippe Thomas Savard donne a la fameuse question de l’énigme de Bernhard Riemann est ce que tous les zéros non triviaux de la fonction Zêta de Riemann ont tous pour partie réelles </a:t>
            </a:r>
            <a:r>
              <a:rPr lang="fr-CA" dirty="0" err="1"/>
              <a:t>Rs</a:t>
            </a:r>
            <a:r>
              <a:rPr lang="fr-CA" dirty="0"/>
              <a:t>=1/2. La Réponse que Savard donne en la justifiant est : Puisque la méthode spectral de la géométrie du spectre des nombres premiers permet de déterminer un rapport spectral différent que </a:t>
            </a:r>
            <a:r>
              <a:rPr lang="fr-CA" dirty="0" err="1"/>
              <a:t>Rs</a:t>
            </a:r>
            <a:r>
              <a:rPr lang="fr-CA" dirty="0"/>
              <a:t>=1/2. Plusieurs rapport ont été vérifié bien que la validation conçu sur isabelle n’inclut que le rapport ½, 1/3 et ¼ les rapport ½ a 1/12, 1/20 1/50 1/100 et 1/1000 ont été vérifié? Tous ont permit pour 10 termes pour les suites A et B de dévoiler un nombre premier sans exception? De plus l’approche a l’aide de la pesé théorique la méthode pour résoudre la quadrature de la parabole d’Archimède est pour Savard un élément clé qui lui fait répondre qu’a la question de la conjecture de la fonction Zêta les zéros de la droite critique n’ont pas tous pour partie réelle ½.</a:t>
            </a:r>
          </a:p>
        </p:txBody>
      </p:sp>
    </p:spTree>
    <p:extLst>
      <p:ext uri="{BB962C8B-B14F-4D97-AF65-F5344CB8AC3E}">
        <p14:creationId xmlns:p14="http://schemas.microsoft.com/office/powerpoint/2010/main" val="1263468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4FC3F7">
              <a:alpha val="7000"/>
            </a:srgbClr>
          </a:solidFill>
          <a:ln/>
        </p:spPr>
        <p:txBody>
          <a:bodyPr/>
          <a:lstStyle/>
          <a:p>
            <a:endParaRPr lang="fr-CA" dirty="0"/>
          </a:p>
        </p:txBody>
      </p:sp>
      <p:sp>
        <p:nvSpPr>
          <p:cNvPr id="3" name="Shape 1"/>
          <p:cNvSpPr/>
          <p:nvPr/>
        </p:nvSpPr>
        <p:spPr>
          <a:xfrm>
            <a:off x="5943600" y="2286000"/>
            <a:ext cx="4572000" cy="4572000"/>
          </a:xfrm>
          <a:prstGeom prst="ellipse">
            <a:avLst/>
          </a:prstGeom>
          <a:solidFill>
            <a:srgbClr val="4FC3F7">
              <a:alpha val="5000"/>
            </a:srgbClr>
          </a:solidFill>
          <a:ln/>
        </p:spPr>
        <p:txBody>
          <a:bodyPr/>
          <a:lstStyle/>
          <a:p>
            <a:endParaRPr lang="fr-CA" dirty="0"/>
          </a:p>
        </p:txBody>
      </p:sp>
      <p:sp>
        <p:nvSpPr>
          <p:cNvPr id="4" name="Text 2"/>
          <p:cNvSpPr/>
          <p:nvPr/>
        </p:nvSpPr>
        <p:spPr>
          <a:xfrm>
            <a:off x="731520" y="914400"/>
            <a:ext cx="7680960" cy="1097280"/>
          </a:xfrm>
          <a:prstGeom prst="rect">
            <a:avLst/>
          </a:prstGeom>
          <a:noFill/>
          <a:ln/>
        </p:spPr>
        <p:txBody>
          <a:bodyPr wrap="square"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L'univers est au carré.</a:t>
            </a:r>
            <a:endParaRPr lang="en-US" sz="4200" dirty="0"/>
          </a:p>
        </p:txBody>
      </p:sp>
      <p:sp>
        <p:nvSpPr>
          <p:cNvPr id="5" name="Shape 3"/>
          <p:cNvSpPr/>
          <p:nvPr/>
        </p:nvSpPr>
        <p:spPr>
          <a:xfrm>
            <a:off x="731520" y="2057400"/>
            <a:ext cx="1371600" cy="45720"/>
          </a:xfrm>
          <a:prstGeom prst="rect">
            <a:avLst/>
          </a:prstGeom>
          <a:solidFill>
            <a:srgbClr val="4FC3F7"/>
          </a:solidFill>
          <a:ln/>
        </p:spPr>
        <p:txBody>
          <a:bodyPr/>
          <a:lstStyle/>
          <a:p>
            <a:endParaRPr lang="fr-CA" dirty="0"/>
          </a:p>
        </p:txBody>
      </p:sp>
      <p:sp>
        <p:nvSpPr>
          <p:cNvPr id="6" name="Text 4"/>
          <p:cNvSpPr/>
          <p:nvPr/>
        </p:nvSpPr>
        <p:spPr>
          <a:xfrm>
            <a:off x="731520" y="2377440"/>
            <a:ext cx="7315200" cy="411480"/>
          </a:xfrm>
          <a:prstGeom prst="rect">
            <a:avLst/>
          </a:prstGeom>
          <a:noFill/>
          <a:ln/>
        </p:spPr>
        <p:txBody>
          <a:bodyPr wrap="square" rtlCol="0" anchor="ctr"/>
          <a:lstStyle/>
          <a:p>
            <a:pPr marL="0" indent="0">
              <a:buNone/>
            </a:pPr>
            <a:r>
              <a:rPr lang="en-US" sz="1800" dirty="0">
                <a:solidFill>
                  <a:srgbClr val="B0C4DE"/>
                </a:solidFill>
                <a:latin typeface="Calibri" pitchFamily="34" charset="0"/>
                <a:ea typeface="Calibri" pitchFamily="34" charset="-122"/>
                <a:cs typeface="Calibri" pitchFamily="34" charset="-120"/>
              </a:rPr>
              <a:t>Par: Philippe Thomas Savard.</a:t>
            </a:r>
            <a:endParaRPr lang="en-US" sz="1800" dirty="0"/>
          </a:p>
        </p:txBody>
      </p:sp>
      <p:sp>
        <p:nvSpPr>
          <p:cNvPr id="7" name="Text 5"/>
          <p:cNvSpPr/>
          <p:nvPr/>
        </p:nvSpPr>
        <p:spPr>
          <a:xfrm>
            <a:off x="716661" y="2593077"/>
            <a:ext cx="7315200" cy="1005840"/>
          </a:xfrm>
          <a:prstGeom prst="rect">
            <a:avLst/>
          </a:prstGeom>
          <a:noFill/>
          <a:ln/>
        </p:spPr>
        <p:txBody>
          <a:bodyPr wrap="square" rtlCol="0" anchor="ctr"/>
          <a:lstStyle/>
          <a:p>
            <a:pPr marL="0" indent="0">
              <a:buNone/>
            </a:pPr>
            <a:r>
              <a:rPr lang="en-US" sz="1300" dirty="0">
                <a:solidFill>
                  <a:srgbClr val="6B8DAD"/>
                </a:solidFill>
                <a:latin typeface="Calibri" pitchFamily="34" charset="0"/>
                <a:ea typeface="Calibri" pitchFamily="34" charset="-122"/>
                <a:cs typeface="Calibri" pitchFamily="34" charset="-120"/>
              </a:rPr>
              <a:t>Lieu : Lévis, Chaudière-Appalaches, Canada.</a:t>
            </a:r>
            <a:endParaRPr lang="en-US" sz="1300" dirty="0"/>
          </a:p>
          <a:p>
            <a:pPr marL="0" indent="0">
              <a:buNone/>
            </a:pPr>
            <a:r>
              <a:rPr lang="en-US" sz="1300" dirty="0">
                <a:solidFill>
                  <a:srgbClr val="6B8DAD"/>
                </a:solidFill>
                <a:latin typeface="Calibri" pitchFamily="34" charset="0"/>
                <a:ea typeface="Calibri" pitchFamily="34" charset="-122"/>
                <a:cs typeface="Calibri" pitchFamily="34" charset="-120"/>
              </a:rPr>
              <a:t>Le douze mai deux-milles vingt-six.</a:t>
            </a:r>
            <a:endParaRPr lang="en-US" sz="1300" dirty="0"/>
          </a:p>
          <a:p>
            <a:pPr marL="0" indent="0">
              <a:buNone/>
            </a:pPr>
            <a:r>
              <a:rPr lang="en-US" sz="1300" dirty="0">
                <a:solidFill>
                  <a:srgbClr val="6B8DAD"/>
                </a:solidFill>
                <a:latin typeface="Calibri" pitchFamily="34" charset="0"/>
                <a:ea typeface="Calibri" pitchFamily="34" charset="-122"/>
                <a:cs typeface="Calibri" pitchFamily="34" charset="-120"/>
              </a:rPr>
              <a:t>LICENSE Apach 2.0</a:t>
            </a:r>
            <a:endParaRPr lang="en-US" sz="1300" dirty="0"/>
          </a:p>
        </p:txBody>
      </p:sp>
      <p:sp>
        <p:nvSpPr>
          <p:cNvPr id="8" name="Text 6"/>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 / 25</a:t>
            </a:r>
            <a:endParaRPr lang="en-US" sz="900" dirty="0"/>
          </a:p>
        </p:txBody>
      </p:sp>
      <p:sp>
        <p:nvSpPr>
          <p:cNvPr id="16" name="ZoneTexte 15">
            <a:extLst>
              <a:ext uri="{FF2B5EF4-FFF2-40B4-BE49-F238E27FC236}">
                <a16:creationId xmlns:a16="http://schemas.microsoft.com/office/drawing/2014/main" id="{528AFFAD-1B16-FEDD-2D82-DFF88DD61B5C}"/>
              </a:ext>
            </a:extLst>
          </p:cNvPr>
          <p:cNvSpPr txBox="1"/>
          <p:nvPr/>
        </p:nvSpPr>
        <p:spPr>
          <a:xfrm>
            <a:off x="533557" y="3702394"/>
            <a:ext cx="7780884" cy="646331"/>
          </a:xfrm>
          <a:prstGeom prst="rect">
            <a:avLst/>
          </a:prstGeom>
          <a:noFill/>
        </p:spPr>
        <p:txBody>
          <a:bodyPr wrap="square" rtlCol="0">
            <a:spAutoFit/>
          </a:bodyPr>
          <a:lstStyle/>
          <a:p>
            <a:r>
              <a:rPr lang="fr-CA" i="1" dirty="0">
                <a:solidFill>
                  <a:schemeClr val="bg1"/>
                </a:solidFill>
              </a:rPr>
              <a:t>Une exploration mathématique et philosophique où la structure, la géométrie et la pensée se rencontrent pour révéler une vision nouvelle de l’univers.</a:t>
            </a:r>
            <a:endParaRPr lang="fr-CA"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82865"/>
    </mc:Choice>
    <mc:Fallback>
      <p:transition spd="slow" advTm="8286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4FC3F7">
              <a:alpha val="8000"/>
            </a:srgbClr>
          </a:solidFill>
          <a:ln/>
        </p:spPr>
        <p:txBody>
          <a:bodyPr/>
          <a:lstStyle/>
          <a:p>
            <a:endParaRPr lang="fr-CA" dirty="0"/>
          </a:p>
        </p:txBody>
      </p:sp>
      <p:sp>
        <p:nvSpPr>
          <p:cNvPr id="3" name="Shape 1"/>
          <p:cNvSpPr/>
          <p:nvPr/>
        </p:nvSpPr>
        <p:spPr>
          <a:xfrm>
            <a:off x="6400800" y="2743200"/>
            <a:ext cx="3657600" cy="3657600"/>
          </a:xfrm>
          <a:prstGeom prst="ellipse">
            <a:avLst/>
          </a:prstGeom>
          <a:solidFill>
            <a:srgbClr val="4FC3F7">
              <a:alpha val="5000"/>
            </a:srgbClr>
          </a:solidFill>
          <a:ln/>
        </p:spPr>
        <p:txBody>
          <a:bodyPr/>
          <a:lstStyle/>
          <a:p>
            <a:endParaRPr lang="fr-CA" dirty="0"/>
          </a:p>
        </p:txBody>
      </p:sp>
      <p:sp>
        <p:nvSpPr>
          <p:cNvPr id="4" name="Text 2"/>
          <p:cNvSpPr/>
          <p:nvPr/>
        </p:nvSpPr>
        <p:spPr>
          <a:xfrm>
            <a:off x="640080" y="1097280"/>
            <a:ext cx="7315200" cy="457200"/>
          </a:xfrm>
          <a:prstGeom prst="rect">
            <a:avLst/>
          </a:prstGeom>
          <a:noFill/>
          <a:ln/>
        </p:spPr>
        <p:txBody>
          <a:bodyPr wrap="square" rtlCol="0" anchor="ctr"/>
          <a:lstStyle/>
          <a:p>
            <a:pPr marL="0" indent="0">
              <a:buNone/>
            </a:pPr>
            <a:r>
              <a:rPr lang="en-US" sz="1300" b="1" kern="0" spc="400" dirty="0">
                <a:solidFill>
                  <a:srgbClr val="4FC3F7"/>
                </a:solidFill>
                <a:latin typeface="Calibri" pitchFamily="34" charset="0"/>
                <a:ea typeface="Calibri" pitchFamily="34" charset="-122"/>
                <a:cs typeface="Calibri" pitchFamily="34" charset="-120"/>
              </a:rPr>
              <a:t>CHAPITRE PREMIER</a:t>
            </a:r>
            <a:endParaRPr lang="en-US" sz="1300" dirty="0"/>
          </a:p>
        </p:txBody>
      </p:sp>
      <p:sp>
        <p:nvSpPr>
          <p:cNvPr id="5" name="Text 3"/>
          <p:cNvSpPr/>
          <p:nvPr/>
        </p:nvSpPr>
        <p:spPr>
          <a:xfrm>
            <a:off x="640080" y="1554480"/>
            <a:ext cx="7772400" cy="10972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La géométrie du spectre</a:t>
            </a:r>
            <a:endParaRPr lang="en-US" sz="3400" dirty="0"/>
          </a:p>
          <a:p>
            <a:pPr marL="0" indent="0">
              <a:buNone/>
            </a:pPr>
            <a:r>
              <a:rPr lang="en-US" sz="3400" b="1" dirty="0">
                <a:solidFill>
                  <a:srgbClr val="FFFFFF"/>
                </a:solidFill>
                <a:latin typeface="Georgia" pitchFamily="34" charset="0"/>
                <a:ea typeface="Georgia" pitchFamily="34" charset="-122"/>
                <a:cs typeface="Georgia" pitchFamily="34" charset="-120"/>
              </a:rPr>
              <a:t>des nombres premiers</a:t>
            </a:r>
            <a:endParaRPr lang="en-US" sz="3400" dirty="0"/>
          </a:p>
        </p:txBody>
      </p:sp>
      <p:sp>
        <p:nvSpPr>
          <p:cNvPr id="6" name="Shape 4"/>
          <p:cNvSpPr/>
          <p:nvPr/>
        </p:nvSpPr>
        <p:spPr>
          <a:xfrm>
            <a:off x="640080" y="2926080"/>
            <a:ext cx="7863840" cy="164592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7" name="Text 5"/>
          <p:cNvSpPr/>
          <p:nvPr/>
        </p:nvSpPr>
        <p:spPr>
          <a:xfrm>
            <a:off x="822960" y="3017520"/>
            <a:ext cx="7498080" cy="1463040"/>
          </a:xfrm>
          <a:prstGeom prst="rect">
            <a:avLst/>
          </a:prstGeom>
          <a:noFill/>
          <a:ln/>
        </p:spPr>
        <p:txBody>
          <a:bodyPr wrap="square" rtlCol="0" anchor="ctr"/>
          <a:lstStyle/>
          <a:p>
            <a:pPr marL="0" indent="0">
              <a:buNone/>
            </a:pPr>
            <a:r>
              <a:rPr lang="en-US" sz="1300" i="1" dirty="0">
                <a:solidFill>
                  <a:srgbClr val="B0C4DE"/>
                </a:solidFill>
                <a:latin typeface="Calibri" pitchFamily="34" charset="0"/>
                <a:ea typeface="Calibri" pitchFamily="34" charset="-122"/>
                <a:cs typeface="Calibri" pitchFamily="34" charset="-120"/>
              </a:rPr>
              <a:t>Quand n ≥ 1 et que n ≤ −1. Tous les n ramènent à un nombre premier P. Tous les n sont la conséquence de la quantité de termes dans les suites A et B. Tous les P entres eux respectent le rapport spectrale 1/k.</a:t>
            </a:r>
            <a:endParaRPr lang="en-US" sz="1300" dirty="0"/>
          </a:p>
          <a:p>
            <a:pPr marL="0" indent="0">
              <a:buNone/>
            </a:pPr>
            <a:endParaRPr lang="en-US" sz="1300" dirty="0"/>
          </a:p>
          <a:p>
            <a:pPr marL="0" indent="0">
              <a:buNone/>
            </a:pPr>
            <a:r>
              <a:rPr lang="en-US" sz="1200" i="1" dirty="0">
                <a:solidFill>
                  <a:srgbClr val="4FC3F7"/>
                </a:solidFill>
                <a:latin typeface="Calibri" pitchFamily="34" charset="0"/>
                <a:ea typeface="Calibri" pitchFamily="34" charset="-122"/>
                <a:cs typeface="Calibri" pitchFamily="34" charset="-120"/>
              </a:rPr>
              <a:t>Ce rapport spectrale est numériquement valide algébriquement incohérent. — Philippe Thomas Savard.</a:t>
            </a:r>
            <a:endParaRPr lang="en-US" sz="1300" dirty="0"/>
          </a:p>
        </p:txBody>
      </p:sp>
      <p:sp>
        <p:nvSpPr>
          <p:cNvPr id="8" name="Text 6"/>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2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74806"/>
    </mc:Choice>
    <mc:Fallback>
      <p:transition spd="slow" advTm="7480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137160"/>
            <a:ext cx="7863840" cy="43000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Les suites A et B</a:t>
            </a:r>
            <a:endParaRPr lang="en-US" sz="2400" dirty="0"/>
          </a:p>
        </p:txBody>
      </p:sp>
      <p:sp>
        <p:nvSpPr>
          <p:cNvPr id="3" name="Shape 1"/>
          <p:cNvSpPr/>
          <p:nvPr/>
        </p:nvSpPr>
        <p:spPr>
          <a:xfrm>
            <a:off x="640080" y="590000"/>
            <a:ext cx="731520" cy="27432"/>
          </a:xfrm>
          <a:prstGeom prst="rect">
            <a:avLst/>
          </a:prstGeom>
          <a:solidFill>
            <a:srgbClr val="4FC3F7"/>
          </a:solidFill>
          <a:ln/>
        </p:spPr>
        <p:txBody>
          <a:bodyPr/>
          <a:lstStyle/>
          <a:p>
            <a:endParaRPr lang="fr-CA" dirty="0"/>
          </a:p>
        </p:txBody>
      </p:sp>
      <p:sp>
        <p:nvSpPr>
          <p:cNvPr id="4" name="Text 2"/>
          <p:cNvSpPr/>
          <p:nvPr/>
        </p:nvSpPr>
        <p:spPr>
          <a:xfrm>
            <a:off x="640080" y="660000"/>
            <a:ext cx="7863840" cy="410000"/>
          </a:xfrm>
          <a:prstGeom prst="rect">
            <a:avLst/>
          </a:prstGeom>
          <a:noFill/>
          <a:ln/>
        </p:spPr>
        <p:txBody>
          <a:bodyPr wrap="square" rtlCol="0" anchor="t"/>
          <a:lstStyle/>
          <a:p>
            <a:pPr marL="0" indent="0">
              <a:buNone/>
            </a:pPr>
            <a:r>
              <a:rPr lang="en-US" sz="1200">
                <a:solidFill>
                  <a:srgbClr val="B0C4DE"/>
                </a:solidFill>
                <a:latin typeface="Calibri" pitchFamily="34" charset="0"/>
                <a:ea typeface="Calibri" pitchFamily="34" charset="-122"/>
                <a:cs typeface="Calibri" pitchFamily="34" charset="-120"/>
              </a:rPr>
              <a:t>Les suites A et B sont constitué de termes de 1 a l’infini de termes pour les suites A et B positives et négatives: Voici un exemple pour 10 termes positif  10ième nombre premier 29 :</a:t>
            </a:r>
            <a:endParaRPr lang="en-US" sz="1200"/>
          </a:p>
        </p:txBody>
      </p:sp>
      <p:sp>
        <p:nvSpPr>
          <p:cNvPr id="5" name="Text 3"/>
          <p:cNvSpPr/>
          <p:nvPr/>
        </p:nvSpPr>
        <p:spPr>
          <a:xfrm>
            <a:off x="640080" y="1090000"/>
            <a:ext cx="7863840" cy="23000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n = 10 :</a:t>
            </a:r>
            <a:endParaRPr lang="en-US" sz="1300" dirty="0"/>
          </a:p>
        </p:txBody>
      </p:sp>
      <p:sp>
        <p:nvSpPr>
          <p:cNvPr id="6" name="Shape 4"/>
          <p:cNvSpPr/>
          <p:nvPr/>
        </p:nvSpPr>
        <p:spPr>
          <a:xfrm>
            <a:off x="548640" y="1340000"/>
            <a:ext cx="8046720" cy="38000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7" name="Text 5"/>
          <p:cNvSpPr/>
          <p:nvPr/>
        </p:nvSpPr>
        <p:spPr>
          <a:xfrm>
            <a:off x="640080" y="1370000"/>
            <a:ext cx="7863840" cy="320000"/>
          </a:xfrm>
          <a:prstGeom prst="rect">
            <a:avLst/>
          </a:prstGeom>
          <a:noFill/>
          <a:ln/>
        </p:spPr>
        <p:txBody>
          <a:bodyPr wrap="square" rtlCol="0" anchor="ctr"/>
          <a:lstStyle/>
          <a:p>
            <a:pPr marL="0" indent="0" algn="ctr">
              <a:buNone/>
            </a:pPr>
            <a:r>
              <a:rPr lang="en-US" sz="1200" b="1">
                <a:solidFill>
                  <a:srgbClr val="E0F7FA"/>
                </a:solidFill>
                <a:latin typeface="Calibri" pitchFamily="34" charset="0"/>
                <a:ea typeface="Calibri" pitchFamily="34" charset="-122"/>
                <a:cs typeface="Calibri" pitchFamily="34" charset="-120"/>
              </a:rPr>
              <a:t>2+4+8+16+32+64+128+256+384+768 = 1662  Somme suite A</a:t>
            </a:r>
            <a:endParaRPr lang="en-US" sz="1200"/>
          </a:p>
        </p:txBody>
      </p:sp>
      <p:sp>
        <p:nvSpPr>
          <p:cNvPr id="8" name="Shape 6"/>
          <p:cNvSpPr/>
          <p:nvPr/>
        </p:nvSpPr>
        <p:spPr>
          <a:xfrm>
            <a:off x="548640" y="1740000"/>
            <a:ext cx="8046720" cy="38000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9" name="Text 7"/>
          <p:cNvSpPr/>
          <p:nvPr/>
        </p:nvSpPr>
        <p:spPr>
          <a:xfrm>
            <a:off x="640080" y="1770000"/>
            <a:ext cx="7863840" cy="320000"/>
          </a:xfrm>
          <a:prstGeom prst="rect">
            <a:avLst/>
          </a:prstGeom>
          <a:noFill/>
          <a:ln/>
        </p:spPr>
        <p:txBody>
          <a:bodyPr wrap="square" rtlCol="0" anchor="ctr"/>
          <a:lstStyle/>
          <a:p>
            <a:pPr marL="0" indent="0" algn="ctr">
              <a:buNone/>
            </a:pPr>
            <a:r>
              <a:rPr lang="en-US" sz="1200" b="1">
                <a:solidFill>
                  <a:srgbClr val="E0F7FA"/>
                </a:solidFill>
                <a:latin typeface="Calibri" pitchFamily="34" charset="0"/>
                <a:ea typeface="Calibri" pitchFamily="34" charset="-122"/>
                <a:cs typeface="Calibri" pitchFamily="34" charset="-120"/>
              </a:rPr>
              <a:t>2+4+8+16+32+128+256+512+768+1536 = 3262  Somme suite B</a:t>
            </a:r>
            <a:endParaRPr lang="en-US" sz="1200"/>
          </a:p>
        </p:txBody>
      </p:sp>
      <p:sp>
        <p:nvSpPr>
          <p:cNvPr id="10" name="Text 8"/>
          <p:cNvSpPr/>
          <p:nvPr/>
        </p:nvSpPr>
        <p:spPr>
          <a:xfrm>
            <a:off x="640080" y="2170000"/>
            <a:ext cx="7863840" cy="230000"/>
          </a:xfrm>
          <a:prstGeom prst="rect">
            <a:avLst/>
          </a:prstGeom>
          <a:noFill/>
          <a:ln/>
        </p:spPr>
        <p:txBody>
          <a:bodyPr wrap="square" rtlCol="0" anchor="ctr"/>
          <a:lstStyle/>
          <a:p>
            <a:pPr marL="0" indent="0">
              <a:buNone/>
            </a:pPr>
            <a:r>
              <a:rPr lang="fr-CA" sz="1200" b="1">
                <a:solidFill>
                  <a:srgbClr val="4FC3F7"/>
                </a:solidFill>
                <a:latin typeface="Calibri" pitchFamily="34" charset="0"/>
                <a:ea typeface="Calibri" pitchFamily="34" charset="-122"/>
                <a:cs typeface="Calibri" pitchFamily="34" charset="-120"/>
              </a:rPr>
              <a:t>Équations pour les suites A et B positives :</a:t>
            </a:r>
            <a:endParaRPr lang="fr-CA" sz="1200"/>
          </a:p>
        </p:txBody>
      </p:sp>
      <p:sp>
        <p:nvSpPr>
          <p:cNvPr id="11" name="Shape 9"/>
          <p:cNvSpPr/>
          <p:nvPr/>
        </p:nvSpPr>
        <p:spPr>
          <a:xfrm>
            <a:off x="548640" y="2420000"/>
            <a:ext cx="3931920" cy="37000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2" name="Text 10"/>
          <p:cNvSpPr/>
          <p:nvPr/>
        </p:nvSpPr>
        <p:spPr>
          <a:xfrm>
            <a:off x="640080" y="2450000"/>
            <a:ext cx="3749040" cy="310000"/>
          </a:xfrm>
          <a:prstGeom prst="rect">
            <a:avLst/>
          </a:prstGeom>
          <a:noFill/>
          <a:ln/>
        </p:spPr>
        <p:txBody>
          <a:bodyPr wrap="square" rtlCol="0" anchor="ctr"/>
          <a:lstStyle/>
          <a:p>
            <a:pPr marL="0" indent="0" algn="ctr">
              <a:buNone/>
            </a:pPr>
            <a:r>
              <a:rPr lang="en-US" sz="1200" b="1">
                <a:solidFill>
                  <a:srgbClr val="E0F7FA"/>
                </a:solidFill>
                <a:latin typeface="Calibri" pitchFamily="34" charset="0"/>
                <a:ea typeface="Calibri" pitchFamily="34" charset="-122"/>
                <a:cs typeface="Calibri" pitchFamily="34" charset="-120"/>
              </a:rPr>
              <a:t>(3.25/2) × 2ⁿ − 2 = Somme suite A</a:t>
            </a:r>
            <a:endParaRPr lang="en-US" sz="1200"/>
          </a:p>
        </p:txBody>
      </p:sp>
      <p:sp>
        <p:nvSpPr>
          <p:cNvPr id="13" name="Shape 11"/>
          <p:cNvSpPr/>
          <p:nvPr/>
        </p:nvSpPr>
        <p:spPr>
          <a:xfrm>
            <a:off x="4663440" y="2420000"/>
            <a:ext cx="3931920" cy="37000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4" name="Text 12"/>
          <p:cNvSpPr/>
          <p:nvPr/>
        </p:nvSpPr>
        <p:spPr>
          <a:xfrm>
            <a:off x="4754880" y="2450000"/>
            <a:ext cx="3749040" cy="310000"/>
          </a:xfrm>
          <a:prstGeom prst="rect">
            <a:avLst/>
          </a:prstGeom>
          <a:noFill/>
          <a:ln/>
        </p:spPr>
        <p:txBody>
          <a:bodyPr wrap="square" rtlCol="0" anchor="ctr"/>
          <a:lstStyle/>
          <a:p>
            <a:pPr marL="0" indent="0" algn="ctr">
              <a:buNone/>
            </a:pPr>
            <a:r>
              <a:rPr lang="en-US" sz="1200" b="1">
                <a:solidFill>
                  <a:srgbClr val="E0F7FA"/>
                </a:solidFill>
                <a:latin typeface="Calibri" pitchFamily="34" charset="0"/>
                <a:ea typeface="Calibri" pitchFamily="34" charset="-122"/>
                <a:cs typeface="Calibri" pitchFamily="34" charset="-120"/>
              </a:rPr>
              <a:t>(6.5/2) × 2ⁿ − 66 = Somme suite B</a:t>
            </a:r>
            <a:endParaRPr lang="en-US" sz="1200"/>
          </a:p>
        </p:txBody>
      </p:sp>
      <p:sp>
        <p:nvSpPr>
          <p:cNvPr id="15" name="Text 13"/>
          <p:cNvSpPr/>
          <p:nvPr/>
        </p:nvSpPr>
        <p:spPr>
          <a:xfrm>
            <a:off x="640080" y="2810000"/>
            <a:ext cx="7863840" cy="200000"/>
          </a:xfrm>
          <a:prstGeom prst="rect">
            <a:avLst/>
          </a:prstGeom>
          <a:noFill/>
          <a:ln/>
        </p:spPr>
        <p:txBody>
          <a:bodyPr wrap="square" rtlCol="0" anchor="ctr"/>
          <a:lstStyle/>
          <a:p>
            <a:pPr marL="0" indent="0">
              <a:buNone/>
            </a:pPr>
            <a:r>
              <a:rPr lang="fr-CA" sz="1100">
                <a:solidFill>
                  <a:srgbClr val="6B8DAD"/>
                </a:solidFill>
                <a:latin typeface="Calibri" pitchFamily="34" charset="0"/>
                <a:ea typeface="Calibri" pitchFamily="34" charset="-122"/>
                <a:cs typeface="Calibri" pitchFamily="34" charset="-120"/>
              </a:rPr>
              <a:t>Quand n est un nombre entier strictement positif.</a:t>
            </a:r>
            <a:endParaRPr lang="fr-CA" sz="1100"/>
          </a:p>
        </p:txBody>
      </p:sp>
      <p:sp>
        <p:nvSpPr>
          <p:cNvPr id="17" name="Text 15"/>
          <p:cNvSpPr/>
          <p:nvPr/>
        </p:nvSpPr>
        <p:spPr>
          <a:xfrm>
            <a:off x="640080" y="3080000"/>
            <a:ext cx="7863840" cy="230000"/>
          </a:xfrm>
          <a:prstGeom prst="rect">
            <a:avLst/>
          </a:prstGeom>
          <a:noFill/>
          <a:ln/>
        </p:spPr>
        <p:txBody>
          <a:bodyPr wrap="square" rtlCol="0" anchor="ctr"/>
          <a:lstStyle/>
          <a:p>
            <a:pPr marL="0" indent="0">
              <a:buNone/>
            </a:pPr>
            <a:r>
              <a:rPr lang="fr-CA" sz="1200" b="1">
                <a:solidFill>
                  <a:srgbClr val="4FC3F7"/>
                </a:solidFill>
                <a:latin typeface="Calibri" pitchFamily="34" charset="0"/>
                <a:ea typeface="Calibri" pitchFamily="34" charset="-122"/>
                <a:cs typeface="Calibri" pitchFamily="34" charset="-120"/>
              </a:rPr>
              <a:t>Équations pour les suites A et B négatives :</a:t>
            </a:r>
            <a:endParaRPr lang="fr-CA" sz="1200"/>
          </a:p>
        </p:txBody>
      </p:sp>
      <p:sp>
        <p:nvSpPr>
          <p:cNvPr id="18" name="Shape 16"/>
          <p:cNvSpPr/>
          <p:nvPr/>
        </p:nvSpPr>
        <p:spPr>
          <a:xfrm>
            <a:off x="548640" y="3330000"/>
            <a:ext cx="3931920" cy="37000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a:p>
        </p:txBody>
      </p:sp>
      <p:sp>
        <p:nvSpPr>
          <p:cNvPr id="19" name="Text 17"/>
          <p:cNvSpPr/>
          <p:nvPr/>
        </p:nvSpPr>
        <p:spPr>
          <a:xfrm>
            <a:off x="640080" y="3360000"/>
            <a:ext cx="3749040" cy="310000"/>
          </a:xfrm>
          <a:prstGeom prst="rect">
            <a:avLst/>
          </a:prstGeom>
          <a:noFill/>
          <a:ln/>
        </p:spPr>
        <p:txBody>
          <a:bodyPr wrap="square" rtlCol="0" anchor="ctr"/>
          <a:lstStyle/>
          <a:p>
            <a:pPr marL="0" indent="0" algn="ctr">
              <a:buNone/>
            </a:pPr>
            <a:r>
              <a:rPr lang="en-US" sz="1200" b="1">
                <a:solidFill>
                  <a:srgbClr val="E0F7FA"/>
                </a:solidFill>
                <a:latin typeface="Calibri" pitchFamily="34" charset="0"/>
                <a:ea typeface="Calibri" pitchFamily="34" charset="-122"/>
                <a:cs typeface="Calibri" pitchFamily="34" charset="-120"/>
              </a:rPr>
              <a:t>3.25 × 2ⁿ − 2 = Somme suite A</a:t>
            </a:r>
            <a:endParaRPr lang="en-US" sz="1200"/>
          </a:p>
        </p:txBody>
      </p:sp>
      <p:sp>
        <p:nvSpPr>
          <p:cNvPr id="20" name="Shape 18"/>
          <p:cNvSpPr/>
          <p:nvPr/>
        </p:nvSpPr>
        <p:spPr>
          <a:xfrm>
            <a:off x="4663440" y="3330000"/>
            <a:ext cx="3931920" cy="37000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a:p>
        </p:txBody>
      </p:sp>
      <p:sp>
        <p:nvSpPr>
          <p:cNvPr id="21" name="Text 19"/>
          <p:cNvSpPr/>
          <p:nvPr/>
        </p:nvSpPr>
        <p:spPr>
          <a:xfrm>
            <a:off x="4754880" y="3360000"/>
            <a:ext cx="3749040" cy="310000"/>
          </a:xfrm>
          <a:prstGeom prst="rect">
            <a:avLst/>
          </a:prstGeom>
          <a:noFill/>
          <a:ln/>
        </p:spPr>
        <p:txBody>
          <a:bodyPr wrap="square" rtlCol="0" anchor="ctr"/>
          <a:lstStyle/>
          <a:p>
            <a:pPr marL="0" indent="0" algn="ctr">
              <a:buNone/>
            </a:pPr>
            <a:r>
              <a:rPr lang="en-US" sz="1200" b="1">
                <a:solidFill>
                  <a:srgbClr val="E0F7FA"/>
                </a:solidFill>
                <a:latin typeface="Calibri" pitchFamily="34" charset="0"/>
                <a:ea typeface="Calibri" pitchFamily="34" charset="-122"/>
                <a:cs typeface="Calibri" pitchFamily="34" charset="-120"/>
              </a:rPr>
              <a:t>6.5 × 2ⁿ − 66 = Somme suite B</a:t>
            </a:r>
            <a:endParaRPr lang="en-US" sz="1200"/>
          </a:p>
        </p:txBody>
      </p:sp>
      <p:sp>
        <p:nvSpPr>
          <p:cNvPr id="22" name="Text 20"/>
          <p:cNvSpPr/>
          <p:nvPr/>
        </p:nvSpPr>
        <p:spPr>
          <a:xfrm>
            <a:off x="640080" y="3720000"/>
            <a:ext cx="7863840" cy="200000"/>
          </a:xfrm>
          <a:prstGeom prst="rect">
            <a:avLst/>
          </a:prstGeom>
          <a:noFill/>
          <a:ln/>
        </p:spPr>
        <p:txBody>
          <a:bodyPr wrap="square" rtlCol="0" anchor="ctr"/>
          <a:lstStyle/>
          <a:p>
            <a:pPr marL="0" indent="0">
              <a:buNone/>
            </a:pPr>
            <a:r>
              <a:rPr lang="fr-CA" sz="1100">
                <a:solidFill>
                  <a:srgbClr val="6B8DAD"/>
                </a:solidFill>
                <a:latin typeface="Calibri" pitchFamily="34" charset="0"/>
                <a:ea typeface="Calibri" pitchFamily="34" charset="-122"/>
                <a:cs typeface="Calibri" pitchFamily="34" charset="-120"/>
              </a:rPr>
              <a:t>Quand n est un nombre entier strictement négatif.</a:t>
            </a:r>
            <a:endParaRPr lang="fr-CA" sz="1100"/>
          </a:p>
        </p:txBody>
      </p:sp>
      <p:sp>
        <p:nvSpPr>
          <p:cNvPr id="16" name="Text 14"/>
          <p:cNvSpPr/>
          <p:nvPr/>
        </p:nvSpPr>
        <p:spPr>
          <a:xfrm>
            <a:off x="7772400" y="4800000"/>
            <a:ext cx="1097280" cy="28000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3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55142"/>
    </mc:Choice>
    <mc:Fallback>
      <p:transition spd="slow" advTm="5514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Note historique : le Zêta et le Digamma</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Shape 2"/>
          <p:cNvSpPr/>
          <p:nvPr/>
        </p:nvSpPr>
        <p:spPr>
          <a:xfrm>
            <a:off x="640080" y="1097280"/>
            <a:ext cx="7863840" cy="228600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5" name="Text 3"/>
          <p:cNvSpPr/>
          <p:nvPr/>
        </p:nvSpPr>
        <p:spPr>
          <a:xfrm>
            <a:off x="822960" y="1188720"/>
            <a:ext cx="7498080" cy="2103120"/>
          </a:xfrm>
          <a:prstGeom prst="rect">
            <a:avLst/>
          </a:prstGeom>
          <a:noFill/>
          <a:ln/>
        </p:spPr>
        <p:txBody>
          <a:bodyPr wrap="square"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 Dans le système de numération grecque le Zêta vaut 7 bien qu’il occupe la 6ième position. Ceci est dû a l’ancienne existence du Digamma situé entre l’epsilon et le Zêta ».</a:t>
            </a:r>
            <a:endParaRPr lang="en-US" sz="1600" dirty="0"/>
          </a:p>
          <a:p>
            <a:pPr marL="0" indent="0">
              <a:buNone/>
            </a:pPr>
            <a:endParaRPr lang="en-US" sz="1600" dirty="0"/>
          </a:p>
          <a:p>
            <a:pPr marL="0" indent="0">
              <a:buNone/>
            </a:pPr>
            <a:r>
              <a:rPr lang="en-US" sz="1300" dirty="0">
                <a:solidFill>
                  <a:srgbClr val="4FC3F7"/>
                </a:solidFill>
                <a:latin typeface="Calibri" pitchFamily="34" charset="0"/>
                <a:ea typeface="Calibri" pitchFamily="34" charset="-122"/>
                <a:cs typeface="Calibri" pitchFamily="34" charset="-120"/>
              </a:rPr>
              <a:t>— Définition Zêta Encyclopédie libre Wikipédia.</a:t>
            </a:r>
            <a:endParaRPr lang="en-US" sz="1600" dirty="0"/>
          </a:p>
        </p:txBody>
      </p:sp>
      <p:sp>
        <p:nvSpPr>
          <p:cNvPr id="6" name="Text 4"/>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4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13976"/>
    </mc:Choice>
    <mc:Fallback>
      <p:transition spd="slow" advTm="1397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Suite A et B négatives</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1005840"/>
            <a:ext cx="7863840" cy="365760"/>
          </a:xfrm>
          <a:prstGeom prst="rect">
            <a:avLst/>
          </a:prstGeom>
          <a:noFill/>
          <a:ln/>
        </p:spPr>
        <p:txBody>
          <a:bodyPr wrap="square" rtlCol="0" anchor="ctr"/>
          <a:lstStyle/>
          <a:p>
            <a:pPr marL="0" indent="0">
              <a:buNone/>
            </a:pPr>
            <a:r>
              <a:rPr lang="en-US" sz="1400" dirty="0">
                <a:solidFill>
                  <a:srgbClr val="B0C4DE"/>
                </a:solidFill>
                <a:latin typeface="Calibri" pitchFamily="34" charset="0"/>
                <a:ea typeface="Calibri" pitchFamily="34" charset="-122"/>
                <a:cs typeface="Calibri" pitchFamily="34" charset="-120"/>
              </a:rPr>
              <a:t>Voici un exemple de suite négative pour 3 termes ( 5 ) -3ième nombre premier :</a:t>
            </a:r>
            <a:endParaRPr lang="en-US" sz="1400" dirty="0"/>
          </a:p>
        </p:txBody>
      </p:sp>
      <p:sp>
        <p:nvSpPr>
          <p:cNvPr id="5" name="Text 3"/>
          <p:cNvSpPr/>
          <p:nvPr/>
        </p:nvSpPr>
        <p:spPr>
          <a:xfrm>
            <a:off x="640080" y="141732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n = −3 :</a:t>
            </a:r>
            <a:endParaRPr lang="en-US" sz="1300" dirty="0"/>
          </a:p>
        </p:txBody>
      </p:sp>
      <p:sp>
        <p:nvSpPr>
          <p:cNvPr id="6" name="Shape 4"/>
          <p:cNvSpPr/>
          <p:nvPr/>
        </p:nvSpPr>
        <p:spPr>
          <a:xfrm>
            <a:off x="548640" y="166420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7" name="Text 5"/>
          <p:cNvSpPr/>
          <p:nvPr/>
        </p:nvSpPr>
        <p:spPr>
          <a:xfrm>
            <a:off x="640080" y="1737360"/>
            <a:ext cx="7863840" cy="41148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13/4 − 13/8 − 13/16 − 13/32 − 2 = 51/32  Somme Suite A</a:t>
            </a:r>
            <a:endParaRPr lang="en-US" sz="1400" dirty="0"/>
          </a:p>
        </p:txBody>
      </p:sp>
      <p:sp>
        <p:nvSpPr>
          <p:cNvPr id="8" name="Shape 6"/>
          <p:cNvSpPr/>
          <p:nvPr/>
        </p:nvSpPr>
        <p:spPr>
          <a:xfrm>
            <a:off x="548640" y="225856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9" name="Text 7"/>
          <p:cNvSpPr/>
          <p:nvPr/>
        </p:nvSpPr>
        <p:spPr>
          <a:xfrm>
            <a:off x="640080" y="2331720"/>
            <a:ext cx="7863840" cy="41148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13/2 − 13/4 − 13/8 − 13/16 − 66 = −1043/16  Somme suite B</a:t>
            </a:r>
            <a:endParaRPr lang="en-US" sz="1400" dirty="0"/>
          </a:p>
        </p:txBody>
      </p:sp>
      <p:sp>
        <p:nvSpPr>
          <p:cNvPr id="10" name="Text 8"/>
          <p:cNvSpPr/>
          <p:nvPr/>
        </p:nvSpPr>
        <p:spPr>
          <a:xfrm>
            <a:off x="640080" y="2880360"/>
            <a:ext cx="7863840" cy="274320"/>
          </a:xfrm>
          <a:prstGeom prst="rect">
            <a:avLst/>
          </a:prstGeom>
          <a:noFill/>
          <a:ln/>
        </p:spPr>
        <p:txBody>
          <a:bodyPr wrap="square" rtlCol="0" anchor="ctr"/>
          <a:lstStyle/>
          <a:p>
            <a:pPr marL="0" indent="0">
              <a:buNone/>
            </a:pPr>
            <a:r>
              <a:rPr lang="en-US" sz="1300" dirty="0">
                <a:solidFill>
                  <a:srgbClr val="B0C4DE"/>
                </a:solidFill>
                <a:latin typeface="Calibri" pitchFamily="34" charset="0"/>
                <a:ea typeface="Calibri" pitchFamily="34" charset="-122"/>
                <a:cs typeface="Calibri" pitchFamily="34" charset="-120"/>
              </a:rPr>
              <a:t>Vérifié a l’aide des équations suivantes:</a:t>
            </a:r>
            <a:endParaRPr lang="en-US" sz="1300" dirty="0"/>
          </a:p>
        </p:txBody>
      </p:sp>
      <p:sp>
        <p:nvSpPr>
          <p:cNvPr id="11" name="Shape 9"/>
          <p:cNvSpPr/>
          <p:nvPr/>
        </p:nvSpPr>
        <p:spPr>
          <a:xfrm>
            <a:off x="548640" y="3127248"/>
            <a:ext cx="39319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2" name="Text 10"/>
          <p:cNvSpPr/>
          <p:nvPr/>
        </p:nvSpPr>
        <p:spPr>
          <a:xfrm>
            <a:off x="640080" y="3200400"/>
            <a:ext cx="3749040" cy="36576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3.25 × 2ⁿ − 2 = Somme suite A</a:t>
            </a:r>
            <a:endParaRPr lang="en-US" sz="1300" dirty="0"/>
          </a:p>
        </p:txBody>
      </p:sp>
      <p:sp>
        <p:nvSpPr>
          <p:cNvPr id="13" name="Shape 11"/>
          <p:cNvSpPr/>
          <p:nvPr/>
        </p:nvSpPr>
        <p:spPr>
          <a:xfrm>
            <a:off x="4663440" y="3127248"/>
            <a:ext cx="39319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4" name="Text 12"/>
          <p:cNvSpPr/>
          <p:nvPr/>
        </p:nvSpPr>
        <p:spPr>
          <a:xfrm>
            <a:off x="4754880" y="3200400"/>
            <a:ext cx="3749040" cy="36576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6.5 × 2ⁿ − 66 = Somme suite B</a:t>
            </a:r>
            <a:endParaRPr lang="en-US" sz="1300" dirty="0"/>
          </a:p>
        </p:txBody>
      </p:sp>
      <p:sp>
        <p:nvSpPr>
          <p:cNvPr id="15" name="Text 13"/>
          <p:cNvSpPr/>
          <p:nvPr/>
        </p:nvSpPr>
        <p:spPr>
          <a:xfrm>
            <a:off x="640080" y="3703320"/>
            <a:ext cx="7863840" cy="274320"/>
          </a:xfrm>
          <a:prstGeom prst="rect">
            <a:avLst/>
          </a:prstGeom>
          <a:noFill/>
          <a:ln/>
        </p:spPr>
        <p:txBody>
          <a:bodyPr wrap="square" rtlCol="0" anchor="ctr"/>
          <a:lstStyle/>
          <a:p>
            <a:pPr marL="0" indent="0">
              <a:buNone/>
            </a:pPr>
            <a:r>
              <a:rPr lang="en-US" sz="1200" dirty="0">
                <a:solidFill>
                  <a:srgbClr val="6B8DAD"/>
                </a:solidFill>
                <a:latin typeface="Calibri" pitchFamily="34" charset="0"/>
                <a:ea typeface="Calibri" pitchFamily="34" charset="-122"/>
                <a:cs typeface="Calibri" pitchFamily="34" charset="-120"/>
              </a:rPr>
              <a:t>Quand n est un nombre entier strictement négatif.</a:t>
            </a:r>
            <a:endParaRPr lang="en-US" sz="1200" dirty="0"/>
          </a:p>
        </p:txBody>
      </p:sp>
      <p:sp>
        <p:nvSpPr>
          <p:cNvPr id="16" name="Text 14"/>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5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28294"/>
    </mc:Choice>
    <mc:Fallback>
      <p:transition spd="slow" advTm="2829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Calculé le nombre premier</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1005840"/>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Pour 10ième nombre premier 29 :</a:t>
            </a:r>
            <a:endParaRPr lang="en-US" sz="1400" dirty="0"/>
          </a:p>
        </p:txBody>
      </p:sp>
      <p:sp>
        <p:nvSpPr>
          <p:cNvPr id="5" name="Shape 3"/>
          <p:cNvSpPr/>
          <p:nvPr/>
        </p:nvSpPr>
        <p:spPr>
          <a:xfrm>
            <a:off x="548640" y="1298448"/>
            <a:ext cx="521208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6" name="Text 4"/>
          <p:cNvSpPr/>
          <p:nvPr/>
        </p:nvSpPr>
        <p:spPr>
          <a:xfrm>
            <a:off x="640080" y="1371600"/>
            <a:ext cx="5029200" cy="41148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(Somme suite B − Digamma) / (6ième position suite A) = 29</a:t>
            </a:r>
            <a:endParaRPr lang="en-US" sz="1200" dirty="0"/>
          </a:p>
        </p:txBody>
      </p:sp>
      <p:sp>
        <p:nvSpPr>
          <p:cNvPr id="7" name="Shape 5"/>
          <p:cNvSpPr/>
          <p:nvPr/>
        </p:nvSpPr>
        <p:spPr>
          <a:xfrm>
            <a:off x="548640" y="1847088"/>
            <a:ext cx="521208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1920240"/>
            <a:ext cx="5029200" cy="41148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(3262 − 1406) / 64 = 29   10ième nombre premier</a:t>
            </a:r>
            <a:endParaRPr lang="en-US" sz="1200" dirty="0"/>
          </a:p>
        </p:txBody>
      </p:sp>
      <p:sp>
        <p:nvSpPr>
          <p:cNvPr id="9" name="Text 7"/>
          <p:cNvSpPr/>
          <p:nvPr/>
        </p:nvSpPr>
        <p:spPr>
          <a:xfrm>
            <a:off x="640080" y="2514600"/>
            <a:ext cx="45720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Pour -3ième nombre premier -5 :</a:t>
            </a:r>
            <a:endParaRPr lang="en-US" sz="1400" dirty="0"/>
          </a:p>
        </p:txBody>
      </p:sp>
      <p:sp>
        <p:nvSpPr>
          <p:cNvPr id="10" name="Shape 8"/>
          <p:cNvSpPr/>
          <p:nvPr/>
        </p:nvSpPr>
        <p:spPr>
          <a:xfrm>
            <a:off x="548640" y="2807208"/>
            <a:ext cx="521208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1" name="Text 9"/>
          <p:cNvSpPr/>
          <p:nvPr/>
        </p:nvSpPr>
        <p:spPr>
          <a:xfrm>
            <a:off x="640080" y="2880360"/>
            <a:ext cx="5029200" cy="41148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(Somme suite B − Digamma) / (6ième position suite A) = −5</a:t>
            </a:r>
            <a:endParaRPr lang="en-US" sz="1200" dirty="0"/>
          </a:p>
        </p:txBody>
      </p:sp>
      <p:sp>
        <p:nvSpPr>
          <p:cNvPr id="12" name="Shape 10"/>
          <p:cNvSpPr/>
          <p:nvPr/>
        </p:nvSpPr>
        <p:spPr>
          <a:xfrm>
            <a:off x="548640" y="3355848"/>
            <a:ext cx="521208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3" name="Text 11"/>
          <p:cNvSpPr/>
          <p:nvPr/>
        </p:nvSpPr>
        <p:spPr>
          <a:xfrm>
            <a:off x="640080" y="3429000"/>
            <a:ext cx="5029200" cy="41148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(−65.1875 − 254.8125) / 64 = −5</a:t>
            </a:r>
            <a:endParaRPr lang="en-US" sz="1200" dirty="0"/>
          </a:p>
        </p:txBody>
      </p:sp>
      <p:sp>
        <p:nvSpPr>
          <p:cNvPr id="14" name="Text 12"/>
          <p:cNvSpPr/>
          <p:nvPr/>
        </p:nvSpPr>
        <p:spPr>
          <a:xfrm>
            <a:off x="5943600" y="1005840"/>
            <a:ext cx="2926080" cy="274320"/>
          </a:xfrm>
          <a:prstGeom prst="rect">
            <a:avLst/>
          </a:prstGeom>
          <a:noFill/>
          <a:ln/>
        </p:spPr>
        <p:txBody>
          <a:bodyPr wrap="square" rtlCol="0" anchor="ctr"/>
          <a:lstStyle/>
          <a:p>
            <a:pPr marL="0" indent="0">
              <a:buNone/>
            </a:pPr>
            <a:r>
              <a:rPr lang="en-US" sz="1300" b="1" dirty="0">
                <a:solidFill>
                  <a:srgbClr val="FFD54F"/>
                </a:solidFill>
                <a:latin typeface="Calibri" pitchFamily="34" charset="0"/>
                <a:ea typeface="Calibri" pitchFamily="34" charset="-122"/>
                <a:cs typeface="Calibri" pitchFamily="34" charset="-120"/>
              </a:rPr>
              <a:t>Notez bien:</a:t>
            </a:r>
            <a:endParaRPr lang="en-US" sz="1300" dirty="0"/>
          </a:p>
        </p:txBody>
      </p:sp>
      <p:sp>
        <p:nvSpPr>
          <p:cNvPr id="15" name="Text 13"/>
          <p:cNvSpPr/>
          <p:nvPr/>
        </p:nvSpPr>
        <p:spPr>
          <a:xfrm>
            <a:off x="5943600" y="1280160"/>
            <a:ext cx="2926080" cy="3200400"/>
          </a:xfrm>
          <a:prstGeom prst="rect">
            <a:avLst/>
          </a:prstGeom>
          <a:noFill/>
          <a:ln/>
        </p:spPr>
        <p:txBody>
          <a:bodyPr wrap="square" rtlCol="0" anchor="ctr"/>
          <a:lstStyle/>
          <a:p>
            <a:pPr marL="0" indent="0">
              <a:buNone/>
            </a:pPr>
            <a:r>
              <a:rPr lang="en-US" sz="1000" dirty="0">
                <a:solidFill>
                  <a:srgbClr val="E0F7FA"/>
                </a:solidFill>
                <a:latin typeface="Calibri" pitchFamily="34" charset="0"/>
                <a:ea typeface="Calibri" pitchFamily="34" charset="-122"/>
                <a:cs typeface="Calibri" pitchFamily="34" charset="-120"/>
              </a:rPr>
              <a:t>(−65.1875/64 − −5) × 64 = 254.8125</a:t>
            </a:r>
            <a:endParaRPr lang="en-US" sz="1000" dirty="0"/>
          </a:p>
          <a:p>
            <a:pPr marL="0" indent="0">
              <a:buNone/>
            </a:pPr>
            <a:r>
              <a:rPr lang="en-US" sz="1000" dirty="0">
                <a:solidFill>
                  <a:srgbClr val="E0F7FA"/>
                </a:solidFill>
                <a:latin typeface="Calibri" pitchFamily="34" charset="0"/>
                <a:ea typeface="Calibri" pitchFamily="34" charset="-122"/>
                <a:cs typeface="Calibri" pitchFamily="34" charset="-120"/>
              </a:rPr>
              <a:t>(3262/64 − 29) × 64 = 1406</a:t>
            </a:r>
            <a:endParaRPr lang="en-US" sz="1000" dirty="0"/>
          </a:p>
          <a:p>
            <a:pPr marL="0" indent="0">
              <a:buNone/>
            </a:pPr>
            <a:endParaRPr lang="en-US" sz="1000" dirty="0"/>
          </a:p>
          <a:p>
            <a:pPr marL="0" indent="0">
              <a:buNone/>
            </a:pPr>
            <a:r>
              <a:rPr lang="en-US" sz="1000" dirty="0">
                <a:solidFill>
                  <a:srgbClr val="B0C4DE"/>
                </a:solidFill>
                <a:latin typeface="Calibri" pitchFamily="34" charset="0"/>
                <a:ea typeface="Calibri" pitchFamily="34" charset="-122"/>
                <a:cs typeface="Calibri" pitchFamily="34" charset="-120"/>
              </a:rPr>
              <a:t>Pour 29 Somme suite A -8ième position suite A exception unique a 29, 31, 37 et 41</a:t>
            </a:r>
            <a:endParaRPr lang="en-US" sz="1000" dirty="0"/>
          </a:p>
          <a:p>
            <a:pPr marL="0" indent="0">
              <a:buNone/>
            </a:pPr>
            <a:r>
              <a:rPr lang="en-US" sz="1000" dirty="0">
                <a:solidFill>
                  <a:srgbClr val="E0F7FA"/>
                </a:solidFill>
                <a:latin typeface="Calibri" pitchFamily="34" charset="0"/>
                <a:ea typeface="Calibri" pitchFamily="34" charset="-122"/>
                <a:cs typeface="Calibri" pitchFamily="34" charset="-120"/>
              </a:rPr>
              <a:t>256 pour 29</a:t>
            </a:r>
            <a:endParaRPr lang="en-US" sz="1000" dirty="0"/>
          </a:p>
          <a:p>
            <a:pPr marL="0" indent="0">
              <a:buNone/>
            </a:pPr>
            <a:r>
              <a:rPr lang="en-US" sz="1000" dirty="0">
                <a:solidFill>
                  <a:srgbClr val="E0F7FA"/>
                </a:solidFill>
                <a:latin typeface="Calibri" pitchFamily="34" charset="0"/>
                <a:ea typeface="Calibri" pitchFamily="34" charset="-122"/>
                <a:cs typeface="Calibri" pitchFamily="34" charset="-120"/>
              </a:rPr>
              <a:t>5×256 pour 31</a:t>
            </a:r>
            <a:endParaRPr lang="en-US" sz="1000" dirty="0"/>
          </a:p>
          <a:p>
            <a:pPr marL="0" indent="0">
              <a:buNone/>
            </a:pPr>
            <a:r>
              <a:rPr lang="en-US" sz="1000" dirty="0">
                <a:solidFill>
                  <a:srgbClr val="E0F7FA"/>
                </a:solidFill>
                <a:latin typeface="Calibri" pitchFamily="34" charset="0"/>
                <a:ea typeface="Calibri" pitchFamily="34" charset="-122"/>
                <a:cs typeface="Calibri" pitchFamily="34" charset="-120"/>
              </a:rPr>
              <a:t>(9×256)+5×384 pour 37</a:t>
            </a:r>
            <a:endParaRPr lang="en-US" sz="1000" dirty="0"/>
          </a:p>
          <a:p>
            <a:pPr marL="0" indent="0">
              <a:buNone/>
            </a:pPr>
            <a:r>
              <a:rPr lang="en-US" sz="1000" dirty="0">
                <a:solidFill>
                  <a:srgbClr val="E0F7FA"/>
                </a:solidFill>
                <a:latin typeface="Calibri" pitchFamily="34" charset="0"/>
                <a:ea typeface="Calibri" pitchFamily="34" charset="-122"/>
                <a:cs typeface="Calibri" pitchFamily="34" charset="-120"/>
              </a:rPr>
              <a:t>13×256+9×384+(5×768)</a:t>
            </a:r>
            <a:endParaRPr lang="en-US" sz="1000" dirty="0"/>
          </a:p>
          <a:p>
            <a:pPr marL="0" indent="0">
              <a:buNone/>
            </a:pPr>
            <a:r>
              <a:rPr lang="en-US" sz="1000" dirty="0">
                <a:solidFill>
                  <a:srgbClr val="B0C4DE"/>
                </a:solidFill>
                <a:latin typeface="Calibri" pitchFamily="34" charset="0"/>
                <a:ea typeface="Calibri" pitchFamily="34" charset="-122"/>
                <a:cs typeface="Calibri" pitchFamily="34" charset="-120"/>
              </a:rPr>
              <a:t>Pour 41</a:t>
            </a:r>
            <a:endParaRPr lang="en-US" sz="1000" dirty="0"/>
          </a:p>
          <a:p>
            <a:pPr marL="0" indent="0">
              <a:buNone/>
            </a:pPr>
            <a:r>
              <a:rPr lang="en-US" sz="1000" dirty="0">
                <a:solidFill>
                  <a:srgbClr val="B0C4DE"/>
                </a:solidFill>
                <a:latin typeface="Calibri" pitchFamily="34" charset="0"/>
                <a:ea typeface="Calibri" pitchFamily="34" charset="-122"/>
                <a:cs typeface="Calibri" pitchFamily="34" charset="-120"/>
              </a:rPr>
              <a:t>Somme Suite A- cette valeur additionnées.</a:t>
            </a:r>
            <a:endParaRPr lang="en-US" sz="1000" dirty="0"/>
          </a:p>
        </p:txBody>
      </p:sp>
      <p:sp>
        <p:nvSpPr>
          <p:cNvPr id="16" name="Text 14"/>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6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37799"/>
    </mc:Choice>
    <mc:Fallback>
      <p:transition spd="slow" advTm="3779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4FC3F7">
              <a:alpha val="8000"/>
            </a:srgbClr>
          </a:solidFill>
          <a:ln/>
        </p:spPr>
        <p:txBody>
          <a:bodyPr/>
          <a:lstStyle/>
          <a:p>
            <a:endParaRPr lang="fr-CA" dirty="0"/>
          </a:p>
        </p:txBody>
      </p:sp>
      <p:sp>
        <p:nvSpPr>
          <p:cNvPr id="3" name="Shape 1"/>
          <p:cNvSpPr/>
          <p:nvPr/>
        </p:nvSpPr>
        <p:spPr>
          <a:xfrm>
            <a:off x="6400800" y="2743200"/>
            <a:ext cx="3657600" cy="3657600"/>
          </a:xfrm>
          <a:prstGeom prst="ellipse">
            <a:avLst/>
          </a:prstGeom>
          <a:solidFill>
            <a:srgbClr val="4FC3F7">
              <a:alpha val="5000"/>
            </a:srgbClr>
          </a:solidFill>
          <a:ln/>
        </p:spPr>
        <p:txBody>
          <a:bodyPr/>
          <a:lstStyle/>
          <a:p>
            <a:endParaRPr lang="fr-CA" dirty="0"/>
          </a:p>
        </p:txBody>
      </p:sp>
      <p:sp>
        <p:nvSpPr>
          <p:cNvPr id="4" name="Text 2"/>
          <p:cNvSpPr/>
          <p:nvPr/>
        </p:nvSpPr>
        <p:spPr>
          <a:xfrm>
            <a:off x="640080" y="1097280"/>
            <a:ext cx="7315200" cy="457200"/>
          </a:xfrm>
          <a:prstGeom prst="rect">
            <a:avLst/>
          </a:prstGeom>
          <a:noFill/>
          <a:ln/>
        </p:spPr>
        <p:txBody>
          <a:bodyPr wrap="square" rtlCol="0" anchor="ctr"/>
          <a:lstStyle/>
          <a:p>
            <a:pPr marL="0" indent="0">
              <a:buNone/>
            </a:pPr>
            <a:r>
              <a:rPr lang="en-US" sz="1300" b="1" kern="0" spc="400" dirty="0">
                <a:solidFill>
                  <a:srgbClr val="4FC3F7"/>
                </a:solidFill>
                <a:latin typeface="Calibri" pitchFamily="34" charset="0"/>
                <a:ea typeface="Calibri" pitchFamily="34" charset="-122"/>
                <a:cs typeface="Calibri" pitchFamily="34" charset="-120"/>
              </a:rPr>
              <a:t>SECTION</a:t>
            </a:r>
            <a:endParaRPr lang="en-US" sz="1300" dirty="0"/>
          </a:p>
        </p:txBody>
      </p:sp>
      <p:sp>
        <p:nvSpPr>
          <p:cNvPr id="5" name="Text 3"/>
          <p:cNvSpPr/>
          <p:nvPr/>
        </p:nvSpPr>
        <p:spPr>
          <a:xfrm>
            <a:off x="640080" y="1554480"/>
            <a:ext cx="7772400" cy="10972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Le rapport spectral</a:t>
            </a:r>
            <a:endParaRPr lang="en-US" sz="3400" dirty="0"/>
          </a:p>
        </p:txBody>
      </p:sp>
      <p:sp>
        <p:nvSpPr>
          <p:cNvPr id="6" name="Text 4"/>
          <p:cNvSpPr/>
          <p:nvPr/>
        </p:nvSpPr>
        <p:spPr>
          <a:xfrm>
            <a:off x="640080" y="2651760"/>
            <a:ext cx="7315200" cy="731520"/>
          </a:xfrm>
          <a:prstGeom prst="rect">
            <a:avLst/>
          </a:prstGeom>
          <a:noFill/>
          <a:ln/>
        </p:spPr>
        <p:txBody>
          <a:bodyPr wrap="square" rtlCol="0" anchor="ctr"/>
          <a:lstStyle/>
          <a:p>
            <a:pPr marL="0" indent="0">
              <a:buNone/>
            </a:pPr>
            <a:r>
              <a:rPr lang="en-US" sz="1500" i="1" dirty="0">
                <a:solidFill>
                  <a:srgbClr val="B0C4DE"/>
                </a:solidFill>
                <a:latin typeface="Calibri" pitchFamily="34" charset="0"/>
                <a:ea typeface="Calibri" pitchFamily="34" charset="-122"/>
                <a:cs typeface="Calibri" pitchFamily="34" charset="-120"/>
              </a:rPr>
              <a:t>Comparaisons symétrique, asymétrique ordonnée et chaotique</a:t>
            </a:r>
            <a:endParaRPr lang="en-US" sz="1500" dirty="0"/>
          </a:p>
        </p:txBody>
      </p:sp>
      <p:sp>
        <p:nvSpPr>
          <p:cNvPr id="7" name="Text 5"/>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7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22873"/>
    </mc:Choice>
    <mc:Fallback>
      <p:transition spd="slow" advTm="2287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Rapport Spectral symétrique</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1×1 : Rapport entre deux nombre premier −5 et 29 :</a:t>
            </a:r>
            <a:endParaRPr lang="en-US" sz="1300" dirty="0"/>
          </a:p>
        </p:txBody>
      </p:sp>
      <p:sp>
        <p:nvSpPr>
          <p:cNvPr id="5" name="Shape 3"/>
          <p:cNvSpPr/>
          <p:nvPr/>
        </p:nvSpPr>
        <p:spPr>
          <a:xfrm>
            <a:off x="548640" y="1207008"/>
            <a:ext cx="8046720" cy="7863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6" name="Text 4"/>
          <p:cNvSpPr/>
          <p:nvPr/>
        </p:nvSpPr>
        <p:spPr>
          <a:xfrm>
            <a:off x="640080" y="1280160"/>
            <a:ext cx="7863840" cy="64008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[3.25 × 2⁻³ − 2] − (3.25/2 × 2¹⁰ − 2)  /  [6.5 × 2⁻³ − 66] − (6.5/2 × 2¹⁰ − 66)  =  1/2   Rapport spectrale 1/k</a:t>
            </a:r>
            <a:endParaRPr lang="en-US" sz="1200" dirty="0"/>
          </a:p>
        </p:txBody>
      </p:sp>
      <p:sp>
        <p:nvSpPr>
          <p:cNvPr id="7" name="Text 5"/>
          <p:cNvSpPr/>
          <p:nvPr/>
        </p:nvSpPr>
        <p:spPr>
          <a:xfrm>
            <a:off x="640080" y="210312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Comparaison symétrique 2×2 :</a:t>
            </a:r>
            <a:endParaRPr lang="en-US" sz="1300" dirty="0"/>
          </a:p>
        </p:txBody>
      </p:sp>
      <p:sp>
        <p:nvSpPr>
          <p:cNvPr id="8" name="Shape 6"/>
          <p:cNvSpPr/>
          <p:nvPr/>
        </p:nvSpPr>
        <p:spPr>
          <a:xfrm>
            <a:off x="548640" y="2350008"/>
            <a:ext cx="8046720" cy="7863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9" name="Text 7"/>
          <p:cNvSpPr/>
          <p:nvPr/>
        </p:nvSpPr>
        <p:spPr>
          <a:xfrm>
            <a:off x="640080" y="2423160"/>
            <a:ext cx="7863840" cy="640080"/>
          </a:xfrm>
          <a:prstGeom prst="rect">
            <a:avLst/>
          </a:prstGeom>
          <a:noFill/>
          <a:ln/>
        </p:spPr>
        <p:txBody>
          <a:bodyPr wrap="square" rtlCol="0" anchor="ctr"/>
          <a:lstStyle/>
          <a:p>
            <a:pPr marL="0" indent="0" algn="ctr">
              <a:buNone/>
            </a:pPr>
            <a:r>
              <a:rPr lang="en-US" sz="1100" b="1" dirty="0">
                <a:solidFill>
                  <a:srgbClr val="E0F7FA"/>
                </a:solidFill>
                <a:latin typeface="Calibri" pitchFamily="34" charset="0"/>
                <a:ea typeface="Calibri" pitchFamily="34" charset="-122"/>
                <a:cs typeface="Calibri" pitchFamily="34" charset="-120"/>
              </a:rPr>
              <a:t>[(3.25/2) × 2ⁿ¹ − 2] − [(3.25/2) × 2ⁿ² − 2]  /  [(6.5/2) × 2ⁿ¹ − 2) − ((6.5/2) × 2ⁿ² − 2)]  =  1/2   Rapport spectrale 1/k</a:t>
            </a:r>
            <a:endParaRPr lang="en-US" sz="1100" dirty="0"/>
          </a:p>
        </p:txBody>
      </p:sp>
      <p:sp>
        <p:nvSpPr>
          <p:cNvPr id="10" name="Text 8"/>
          <p:cNvSpPr/>
          <p:nvPr/>
        </p:nvSpPr>
        <p:spPr>
          <a:xfrm>
            <a:off x="640080" y="3291840"/>
            <a:ext cx="7863840" cy="365760"/>
          </a:xfrm>
          <a:prstGeom prst="rect">
            <a:avLst/>
          </a:prstGeom>
          <a:noFill/>
          <a:ln/>
        </p:spPr>
        <p:txBody>
          <a:bodyPr wrap="square" rtlCol="0" anchor="ctr"/>
          <a:lstStyle/>
          <a:p>
            <a:pPr marL="0" indent="0">
              <a:buNone/>
            </a:pPr>
            <a:r>
              <a:rPr lang="en-US" sz="1400" dirty="0">
                <a:solidFill>
                  <a:srgbClr val="B0C4DE"/>
                </a:solidFill>
                <a:latin typeface="Calibri" pitchFamily="34" charset="0"/>
                <a:ea typeface="Calibri" pitchFamily="34" charset="-122"/>
                <a:cs typeface="Calibri" pitchFamily="34" charset="-120"/>
              </a:rPr>
              <a:t>Cette comparaison peut-être généralisé jusqu’à n × n symétrique.</a:t>
            </a:r>
            <a:endParaRPr lang="en-US" sz="1400" dirty="0"/>
          </a:p>
        </p:txBody>
      </p:sp>
      <p:sp>
        <p:nvSpPr>
          <p:cNvPr id="11" name="Text 9"/>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8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15553"/>
    </mc:Choice>
    <mc:Fallback>
      <p:transition spd="slow" advTm="1555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Comparaison asymétrique ordonnée 2–(3-5). Partie #1</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1005840"/>
            <a:ext cx="7863840" cy="36576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Cette comparaison ordonnée doit respecter deux critères:</a:t>
            </a:r>
            <a:endParaRPr lang="en-US" sz="1400" dirty="0"/>
          </a:p>
          <a:p>
            <a:pPr marL="0" indent="0">
              <a:buNone/>
            </a:pPr>
            <a:endParaRPr lang="en-US" sz="1400" dirty="0"/>
          </a:p>
          <a:p>
            <a:pPr marL="0" indent="0">
              <a:buNone/>
            </a:pPr>
            <a:r>
              <a:rPr lang="en-US" sz="1300" dirty="0">
                <a:solidFill>
                  <a:srgbClr val="B0C4DE"/>
                </a:solidFill>
                <a:latin typeface="Calibri" pitchFamily="34" charset="0"/>
                <a:ea typeface="Calibri" pitchFamily="34" charset="-122"/>
                <a:cs typeface="Calibri" pitchFamily="34" charset="-120"/>
              </a:rPr>
              <a:t>1. Être composé de de deux bloc le bloc A et le bloc B. Le bloc B qui dans cet exemple est composé des nombres premiers (3 et 5) doit toujours être égale à A+1.</a:t>
            </a:r>
            <a:endParaRPr lang="en-US" sz="1400" dirty="0"/>
          </a:p>
          <a:p>
            <a:pPr marL="0" indent="0">
              <a:buNone/>
            </a:pPr>
            <a:endParaRPr lang="en-US" sz="1400" dirty="0"/>
          </a:p>
          <a:p>
            <a:pPr marL="0" indent="0">
              <a:buNone/>
            </a:pPr>
            <a:r>
              <a:rPr lang="en-US" sz="1300" dirty="0">
                <a:solidFill>
                  <a:srgbClr val="B0C4DE"/>
                </a:solidFill>
                <a:latin typeface="Calibri" pitchFamily="34" charset="0"/>
                <a:ea typeface="Calibri" pitchFamily="34" charset="-122"/>
                <a:cs typeface="Calibri" pitchFamily="34" charset="-120"/>
              </a:rPr>
              <a:t>2. Les nombres premiers qui constituent les blocs A et B doivent obligatoirement être dans l’ordre croissant chronologique. Comme dans cet exemple, puisque 2 est le premier, 3 le deuxième et 5 le troisième…  Si la comparaison était entre les nombres premier 2,3,5,7,11,13,17,19,23,29,31 Le bloc A serait (2-3-5-7-11)-(13-17-19-23-29-31)</a:t>
            </a:r>
            <a:endParaRPr lang="en-US" sz="1400" dirty="0"/>
          </a:p>
        </p:txBody>
      </p:sp>
      <p:sp>
        <p:nvSpPr>
          <p:cNvPr id="5" name="Text 3"/>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9 /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Comparaison asymétrique ordonnée 2-(3-5). Partie #2</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320040"/>
          </a:xfrm>
          <a:prstGeom prst="rect">
            <a:avLst/>
          </a:prstGeom>
          <a:noFill/>
          <a:ln/>
        </p:spPr>
        <p:txBody>
          <a:bodyPr wrap="square" rtlCol="0" anchor="ctr"/>
          <a:lstStyle/>
          <a:p>
            <a:pPr marL="0" indent="0">
              <a:buNone/>
            </a:pPr>
            <a:r>
              <a:rPr lang="en-US" sz="1300" dirty="0">
                <a:solidFill>
                  <a:srgbClr val="B0C4DE"/>
                </a:solidFill>
                <a:latin typeface="Calibri" pitchFamily="34" charset="0"/>
                <a:ea typeface="Calibri" pitchFamily="34" charset="-122"/>
                <a:cs typeface="Calibri" pitchFamily="34" charset="-120"/>
              </a:rPr>
              <a:t>Cette comparaison s’éloigne initialement du rapport spectral 1/k = 1/2 ?</a:t>
            </a:r>
            <a:endParaRPr lang="en-US" sz="1300" dirty="0"/>
          </a:p>
        </p:txBody>
      </p:sp>
      <p:sp>
        <p:nvSpPr>
          <p:cNvPr id="5" name="Text 3"/>
          <p:cNvSpPr/>
          <p:nvPr/>
        </p:nvSpPr>
        <p:spPr>
          <a:xfrm>
            <a:off x="640080" y="1280160"/>
            <a:ext cx="7863840" cy="320040"/>
          </a:xfrm>
          <a:prstGeom prst="rect">
            <a:avLst/>
          </a:prstGeom>
          <a:noFill/>
          <a:ln/>
        </p:spPr>
        <p:txBody>
          <a:bodyPr wrap="square" rtlCol="0" anchor="ctr"/>
          <a:lstStyle/>
          <a:p>
            <a:pPr marL="0" indent="0">
              <a:buNone/>
            </a:pPr>
            <a:r>
              <a:rPr lang="en-US" sz="1300" dirty="0">
                <a:solidFill>
                  <a:srgbClr val="B0C4DE"/>
                </a:solidFill>
                <a:latin typeface="Calibri" pitchFamily="34" charset="0"/>
                <a:ea typeface="Calibri" pitchFamily="34" charset="-122"/>
                <a:cs typeface="Calibri" pitchFamily="34" charset="-120"/>
              </a:rPr>
              <a:t>Plus la quantité de nombres premiers comparés est grande plus le rapport revient près de 1/2</a:t>
            </a:r>
            <a:endParaRPr lang="en-US" sz="1300" dirty="0"/>
          </a:p>
        </p:txBody>
      </p:sp>
      <p:sp>
        <p:nvSpPr>
          <p:cNvPr id="6" name="Text 4"/>
          <p:cNvSpPr/>
          <p:nvPr/>
        </p:nvSpPr>
        <p:spPr>
          <a:xfrm>
            <a:off x="640080" y="173736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Valeurs des suites :</a:t>
            </a:r>
            <a:endParaRPr lang="en-US" sz="1300" dirty="0"/>
          </a:p>
        </p:txBody>
      </p:sp>
      <p:sp>
        <p:nvSpPr>
          <p:cNvPr id="7" name="Shape 5"/>
          <p:cNvSpPr/>
          <p:nvPr/>
        </p:nvSpPr>
        <p:spPr>
          <a:xfrm>
            <a:off x="548640" y="198424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2057400"/>
            <a:ext cx="7863840" cy="36576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Suite A(2) = 5/4     Suite A(3) = 9/2     Suite A(5) = 11</a:t>
            </a:r>
            <a:endParaRPr lang="en-US" sz="1300" dirty="0"/>
          </a:p>
        </p:txBody>
      </p:sp>
      <p:sp>
        <p:nvSpPr>
          <p:cNvPr id="9" name="Shape 7"/>
          <p:cNvSpPr/>
          <p:nvPr/>
        </p:nvSpPr>
        <p:spPr>
          <a:xfrm>
            <a:off x="548640" y="248716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0" name="Text 8"/>
          <p:cNvSpPr/>
          <p:nvPr/>
        </p:nvSpPr>
        <p:spPr>
          <a:xfrm>
            <a:off x="640080" y="2560320"/>
            <a:ext cx="7863840" cy="36576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Suite B(2) = −119/2     Suite B(3) = −53     Suite B(5) = −40</a:t>
            </a:r>
            <a:endParaRPr lang="en-US" sz="1300" dirty="0"/>
          </a:p>
        </p:txBody>
      </p:sp>
      <p:sp>
        <p:nvSpPr>
          <p:cNvPr id="11" name="Text 9"/>
          <p:cNvSpPr/>
          <p:nvPr/>
        </p:nvSpPr>
        <p:spPr>
          <a:xfrm>
            <a:off x="640080" y="310896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Calcul :</a:t>
            </a:r>
            <a:endParaRPr lang="en-US" sz="1300" dirty="0"/>
          </a:p>
        </p:txBody>
      </p:sp>
      <p:sp>
        <p:nvSpPr>
          <p:cNvPr id="12" name="Shape 10"/>
          <p:cNvSpPr/>
          <p:nvPr/>
        </p:nvSpPr>
        <p:spPr>
          <a:xfrm>
            <a:off x="548640" y="335584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3" name="Text 11"/>
          <p:cNvSpPr/>
          <p:nvPr/>
        </p:nvSpPr>
        <p:spPr>
          <a:xfrm>
            <a:off x="640080" y="3429000"/>
            <a:ext cx="7863840" cy="50292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(5/4 − (9/2 − 11))  /  (−119/2 − (−53 − −40))  =  (31/4) / (−93/2)  =  1/6  ≠  1/2</a:t>
            </a:r>
            <a:endParaRPr lang="en-US" sz="1300" dirty="0"/>
          </a:p>
        </p:txBody>
      </p:sp>
      <p:sp>
        <p:nvSpPr>
          <p:cNvPr id="14" name="Text 12"/>
          <p:cNvSpPr/>
          <p:nvPr/>
        </p:nvSpPr>
        <p:spPr>
          <a:xfrm>
            <a:off x="640080" y="4114800"/>
            <a:ext cx="7863840" cy="320040"/>
          </a:xfrm>
          <a:prstGeom prst="rect">
            <a:avLst/>
          </a:prstGeom>
          <a:noFill/>
          <a:ln/>
        </p:spPr>
        <p:txBody>
          <a:bodyPr wrap="square" rtlCol="0" anchor="ctr"/>
          <a:lstStyle/>
          <a:p>
            <a:pPr marL="0" indent="0">
              <a:buNone/>
            </a:pPr>
            <a:r>
              <a:rPr lang="en-US" sz="1300" i="1" dirty="0">
                <a:solidFill>
                  <a:srgbClr val="FFD54F"/>
                </a:solidFill>
                <a:latin typeface="Calibri" pitchFamily="34" charset="0"/>
                <a:ea typeface="Calibri" pitchFamily="34" charset="-122"/>
                <a:cs typeface="Calibri" pitchFamily="34" charset="-120"/>
              </a:rPr>
              <a:t>Pas le rapport spectral attendu ?</a:t>
            </a:r>
            <a:endParaRPr lang="en-US" sz="1300" dirty="0"/>
          </a:p>
        </p:txBody>
      </p:sp>
      <p:sp>
        <p:nvSpPr>
          <p:cNvPr id="15" name="Text 13"/>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10 / 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Comparaison asymétrique ordonnée (2-3-5-7-11)-(13-17-19-23-29-31) Partie #3</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548640"/>
          </a:xfrm>
          <a:prstGeom prst="rect">
            <a:avLst/>
          </a:prstGeom>
          <a:noFill/>
          <a:ln/>
        </p:spPr>
        <p:txBody>
          <a:bodyPr wrap="square" rtlCol="0" anchor="ctr"/>
          <a:lstStyle/>
          <a:p>
            <a:pPr marL="0" indent="0">
              <a:buNone/>
            </a:pPr>
            <a:r>
              <a:rPr lang="en-US" sz="1200" dirty="0">
                <a:solidFill>
                  <a:srgbClr val="B0C4DE"/>
                </a:solidFill>
                <a:latin typeface="Calibri" pitchFamily="34" charset="0"/>
                <a:ea typeface="Calibri" pitchFamily="34" charset="-122"/>
                <a:cs typeface="Calibri" pitchFamily="34" charset="-120"/>
              </a:rPr>
              <a:t>Plus la quantité de nombres premiers comparé d’une manière ordonnée asymétrique est grand plus le rapport pour les premiers comparé tend vers le rapport spectral recherché :</a:t>
            </a:r>
            <a:endParaRPr lang="en-US" sz="1200" dirty="0"/>
          </a:p>
        </p:txBody>
      </p:sp>
      <p:sp>
        <p:nvSpPr>
          <p:cNvPr id="5" name="Shape 3"/>
          <p:cNvSpPr/>
          <p:nvPr/>
        </p:nvSpPr>
        <p:spPr>
          <a:xfrm>
            <a:off x="548640" y="157276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6" name="Text 4"/>
          <p:cNvSpPr/>
          <p:nvPr/>
        </p:nvSpPr>
        <p:spPr>
          <a:xfrm>
            <a:off x="640080" y="1645920"/>
            <a:ext cx="7863840" cy="411480"/>
          </a:xfrm>
          <a:prstGeom prst="rect">
            <a:avLst/>
          </a:prstGeom>
          <a:noFill/>
          <a:ln/>
        </p:spPr>
        <p:txBody>
          <a:bodyPr wrap="square" rtlCol="0" anchor="ctr"/>
          <a:lstStyle/>
          <a:p>
            <a:pPr marL="0" indent="0" algn="ctr">
              <a:buNone/>
            </a:pPr>
            <a:r>
              <a:rPr lang="en-US" sz="1100" b="1" dirty="0">
                <a:solidFill>
                  <a:srgbClr val="E0F7FA"/>
                </a:solidFill>
                <a:latin typeface="Calibri" pitchFamily="34" charset="0"/>
                <a:ea typeface="Calibri" pitchFamily="34" charset="-122"/>
                <a:cs typeface="Calibri" pitchFamily="34" charset="-120"/>
              </a:rPr>
              <a:t>(5/4 − 9/2 − 11 − 24 − 50) − (102 − 206 − 414 − 830 − 1662 − 3326)</a:t>
            </a:r>
            <a:endParaRPr lang="en-US" sz="1100" dirty="0"/>
          </a:p>
        </p:txBody>
      </p:sp>
      <p:sp>
        <p:nvSpPr>
          <p:cNvPr id="7" name="Shape 5"/>
          <p:cNvSpPr/>
          <p:nvPr/>
        </p:nvSpPr>
        <p:spPr>
          <a:xfrm>
            <a:off x="548640" y="216712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2240280"/>
            <a:ext cx="7863840" cy="411480"/>
          </a:xfrm>
          <a:prstGeom prst="rect">
            <a:avLst/>
          </a:prstGeom>
          <a:noFill/>
          <a:ln/>
        </p:spPr>
        <p:txBody>
          <a:bodyPr wrap="square" rtlCol="0" anchor="ctr"/>
          <a:lstStyle/>
          <a:p>
            <a:pPr marL="0" indent="0" algn="ctr">
              <a:buNone/>
            </a:pPr>
            <a:r>
              <a:rPr lang="en-US" sz="1100" b="1" dirty="0">
                <a:solidFill>
                  <a:srgbClr val="E0F7FA"/>
                </a:solidFill>
                <a:latin typeface="Calibri" pitchFamily="34" charset="0"/>
                <a:ea typeface="Calibri" pitchFamily="34" charset="-122"/>
                <a:cs typeface="Calibri" pitchFamily="34" charset="-120"/>
              </a:rPr>
              <a:t>(−119/2 − −53 − −40 − −14 − 38) − (142 − 350 − 766 − 1598 − 3262 − 6590)</a:t>
            </a:r>
            <a:endParaRPr lang="en-US" sz="1100" dirty="0"/>
          </a:p>
        </p:txBody>
      </p:sp>
      <p:sp>
        <p:nvSpPr>
          <p:cNvPr id="9" name="Shape 7"/>
          <p:cNvSpPr/>
          <p:nvPr/>
        </p:nvSpPr>
        <p:spPr>
          <a:xfrm>
            <a:off x="548640" y="2761488"/>
            <a:ext cx="8046720" cy="60350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0" name="Text 8"/>
          <p:cNvSpPr/>
          <p:nvPr/>
        </p:nvSpPr>
        <p:spPr>
          <a:xfrm>
            <a:off x="640080" y="2834640"/>
            <a:ext cx="7863840" cy="45720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 (−353/4 − 6336) / (257/2 − 12424) = −25697/4  /  −24591/2  ≈  0.5   1/k</a:t>
            </a:r>
            <a:endParaRPr lang="en-US" sz="1200" dirty="0"/>
          </a:p>
        </p:txBody>
      </p:sp>
      <p:sp>
        <p:nvSpPr>
          <p:cNvPr id="11" name="Text 9"/>
          <p:cNvSpPr/>
          <p:nvPr/>
        </p:nvSpPr>
        <p:spPr>
          <a:xfrm>
            <a:off x="640080" y="3520440"/>
            <a:ext cx="7863840" cy="548640"/>
          </a:xfrm>
          <a:prstGeom prst="rect">
            <a:avLst/>
          </a:prstGeom>
          <a:noFill/>
          <a:ln/>
        </p:spPr>
        <p:txBody>
          <a:bodyPr wrap="square" rtlCol="0" anchor="ctr"/>
          <a:lstStyle/>
          <a:p>
            <a:pPr marL="0" indent="0">
              <a:buNone/>
            </a:pPr>
            <a:r>
              <a:rPr lang="en-US" sz="1300" i="1" dirty="0">
                <a:solidFill>
                  <a:srgbClr val="FFD54F"/>
                </a:solidFill>
                <a:latin typeface="Calibri" pitchFamily="34" charset="0"/>
                <a:ea typeface="Calibri" pitchFamily="34" charset="-122"/>
                <a:cs typeface="Calibri" pitchFamily="34" charset="-120"/>
              </a:rPr>
              <a:t>Le rapport spectral 1/k revient graduellement vers ½ plus le nombre de premiers comparés asymétrique ordonnée est grand.</a:t>
            </a:r>
            <a:endParaRPr lang="en-US" sz="1300" dirty="0"/>
          </a:p>
        </p:txBody>
      </p:sp>
      <p:sp>
        <p:nvSpPr>
          <p:cNvPr id="12" name="Text 10"/>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11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61134"/>
    </mc:Choice>
    <mc:Fallback>
      <p:transition spd="slow" advTm="6113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Comparaison asymétrique chaotique: ((3,23)=A et B=(41,29,31)</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640080"/>
          </a:xfrm>
          <a:prstGeom prst="rect">
            <a:avLst/>
          </a:prstGeom>
          <a:noFill/>
          <a:ln/>
        </p:spPr>
        <p:txBody>
          <a:bodyPr wrap="square" rtlCol="0" anchor="ctr"/>
          <a:lstStyle/>
          <a:p>
            <a:pPr marL="0" indent="0">
              <a:buNone/>
            </a:pPr>
            <a:r>
              <a:rPr lang="en-US" sz="1300" dirty="0">
                <a:solidFill>
                  <a:srgbClr val="B0C4DE"/>
                </a:solidFill>
                <a:latin typeface="Calibri" pitchFamily="34" charset="0"/>
                <a:ea typeface="Calibri" pitchFamily="34" charset="-122"/>
                <a:cs typeface="Calibri" pitchFamily="34" charset="-120"/>
              </a:rPr>
              <a:t>Dans cette comparaison asymétrique chaotique le décalage entre les blocs A et B doit être B ≥ A+1 et les nombres premiers comparés ne sont pas dans l’ordre croissant chronologique. Le rapport spectral est toujours très près de celui attendu.</a:t>
            </a:r>
            <a:endParaRPr lang="en-US" sz="1300" dirty="0"/>
          </a:p>
        </p:txBody>
      </p:sp>
      <p:sp>
        <p:nvSpPr>
          <p:cNvPr id="5" name="Shape 3"/>
          <p:cNvSpPr/>
          <p:nvPr/>
        </p:nvSpPr>
        <p:spPr>
          <a:xfrm>
            <a:off x="548640" y="170992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6" name="Text 4"/>
          <p:cNvSpPr/>
          <p:nvPr/>
        </p:nvSpPr>
        <p:spPr>
          <a:xfrm>
            <a:off x="640080" y="1783080"/>
            <a:ext cx="7863840" cy="502920"/>
          </a:xfrm>
          <a:prstGeom prst="rect">
            <a:avLst/>
          </a:prstGeom>
          <a:noFill/>
          <a:ln/>
        </p:spPr>
        <p:txBody>
          <a:bodyPr wrap="square" rtlCol="0" anchor="ctr"/>
          <a:lstStyle/>
          <a:p>
            <a:pPr marL="0" indent="0" algn="ctr">
              <a:buNone/>
            </a:pPr>
            <a:r>
              <a:rPr lang="en-US" sz="1000" b="1" dirty="0">
                <a:solidFill>
                  <a:srgbClr val="E0F7FA"/>
                </a:solidFill>
                <a:latin typeface="Calibri" pitchFamily="34" charset="0"/>
                <a:ea typeface="Calibri" pitchFamily="34" charset="-122"/>
                <a:cs typeface="Calibri" pitchFamily="34" charset="-120"/>
              </a:rPr>
              <a:t>[(3.25/2)×2² − 2] − [(3.25/2)×2⁹ − 2] − {[(3.25/2)×2¹³ − 2] − [(3.25/2)×2¹⁰ − 2] − [(3.25/2)×2¹¹ − 2]}</a:t>
            </a:r>
            <a:endParaRPr lang="en-US" sz="1000" dirty="0"/>
          </a:p>
        </p:txBody>
      </p:sp>
      <p:sp>
        <p:nvSpPr>
          <p:cNvPr id="7" name="Shape 5"/>
          <p:cNvSpPr/>
          <p:nvPr/>
        </p:nvSpPr>
        <p:spPr>
          <a:xfrm>
            <a:off x="548640" y="239572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2468880"/>
            <a:ext cx="7863840" cy="502920"/>
          </a:xfrm>
          <a:prstGeom prst="rect">
            <a:avLst/>
          </a:prstGeom>
          <a:noFill/>
          <a:ln/>
        </p:spPr>
        <p:txBody>
          <a:bodyPr wrap="square" rtlCol="0" anchor="ctr"/>
          <a:lstStyle/>
          <a:p>
            <a:pPr marL="0" indent="0" algn="ctr">
              <a:buNone/>
            </a:pPr>
            <a:r>
              <a:rPr lang="en-US" sz="1000" b="1" dirty="0">
                <a:solidFill>
                  <a:srgbClr val="E0F7FA"/>
                </a:solidFill>
                <a:latin typeface="Calibri" pitchFamily="34" charset="0"/>
                <a:ea typeface="Calibri" pitchFamily="34" charset="-122"/>
                <a:cs typeface="Calibri" pitchFamily="34" charset="-120"/>
              </a:rPr>
              <a:t>[(6.5/2)×2² − 66] − [(6.5/2)×2⁹ − 66] − {[(6.5/2)×2¹³ − 66] − [(6.5/2)×2¹⁰ − 66] − [(6.5/2)×2¹¹ − 66]}</a:t>
            </a:r>
            <a:endParaRPr lang="en-US" sz="1000" dirty="0"/>
          </a:p>
        </p:txBody>
      </p:sp>
      <p:sp>
        <p:nvSpPr>
          <p:cNvPr id="9" name="Shape 7"/>
          <p:cNvSpPr/>
          <p:nvPr/>
        </p:nvSpPr>
        <p:spPr>
          <a:xfrm>
            <a:off x="3108960" y="3081528"/>
            <a:ext cx="292608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0" name="Text 8"/>
          <p:cNvSpPr/>
          <p:nvPr/>
        </p:nvSpPr>
        <p:spPr>
          <a:xfrm>
            <a:off x="3200400" y="3154680"/>
            <a:ext cx="2743200" cy="411480"/>
          </a:xfrm>
          <a:prstGeom prst="rect">
            <a:avLst/>
          </a:prstGeom>
          <a:noFill/>
          <a:ln/>
        </p:spPr>
        <p:txBody>
          <a:bodyPr wrap="square" rtlCol="0" anchor="ctr"/>
          <a:lstStyle/>
          <a:p>
            <a:pPr marL="0" indent="0" algn="ctr">
              <a:buNone/>
            </a:pPr>
            <a:r>
              <a:rPr lang="en-US" sz="1800" b="1" dirty="0">
                <a:solidFill>
                  <a:srgbClr val="E0F7FA"/>
                </a:solidFill>
                <a:latin typeface="Calibri" pitchFamily="34" charset="0"/>
                <a:ea typeface="Calibri" pitchFamily="34" charset="-122"/>
                <a:cs typeface="Calibri" pitchFamily="34" charset="-120"/>
              </a:rPr>
              <a:t>≈ 1/2</a:t>
            </a:r>
            <a:endParaRPr lang="en-US" sz="1800" dirty="0"/>
          </a:p>
        </p:txBody>
      </p:sp>
      <p:sp>
        <p:nvSpPr>
          <p:cNvPr id="11" name="Text 9"/>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12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22556"/>
    </mc:Choice>
    <mc:Fallback>
      <p:transition spd="slow" advTm="2255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Évidence de la géométrie du spectre des nombres premiers (1/2)</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Shape 2"/>
          <p:cNvSpPr/>
          <p:nvPr/>
        </p:nvSpPr>
        <p:spPr>
          <a:xfrm>
            <a:off x="640080" y="1005840"/>
            <a:ext cx="7863840" cy="201168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5" name="Text 3"/>
          <p:cNvSpPr/>
          <p:nvPr/>
        </p:nvSpPr>
        <p:spPr>
          <a:xfrm>
            <a:off x="822960" y="1097280"/>
            <a:ext cx="7498080" cy="1828800"/>
          </a:xfrm>
          <a:prstGeom prst="rect">
            <a:avLst/>
          </a:prstGeom>
          <a:noFill/>
          <a:ln/>
        </p:spPr>
        <p:txBody>
          <a:bodyPr wrap="square" rtlCol="0" anchor="ctr"/>
          <a:lstStyle/>
          <a:p>
            <a:pPr marL="0" indent="0">
              <a:buNone/>
            </a:pPr>
            <a:r>
              <a:rPr lang="en-US" sz="1300" i="1" dirty="0">
                <a:solidFill>
                  <a:srgbClr val="B0C4DE"/>
                </a:solidFill>
                <a:latin typeface="Calibri" pitchFamily="34" charset="0"/>
                <a:ea typeface="Calibri" pitchFamily="34" charset="-122"/>
                <a:cs typeface="Calibri" pitchFamily="34" charset="-120"/>
              </a:rPr>
              <a:t>Quand n ≥ 1 et que n ≤ −1. Tous les n ramènent a un nombre premier P. Tous les n sont la conséquence de la quantité de termes dans les suites A et B. Tous les P entre eux respectent le rapport spectral 1/k.</a:t>
            </a:r>
            <a:endParaRPr lang="en-US" sz="1300" dirty="0"/>
          </a:p>
          <a:p>
            <a:pPr marL="0" indent="0">
              <a:buNone/>
            </a:pPr>
            <a:endParaRPr lang="en-US" sz="1300" dirty="0"/>
          </a:p>
          <a:p>
            <a:pPr marL="0" indent="0">
              <a:buNone/>
            </a:pPr>
            <a:r>
              <a:rPr lang="en-US" sz="1200" i="1" dirty="0">
                <a:solidFill>
                  <a:srgbClr val="4FC3F7"/>
                </a:solidFill>
                <a:latin typeface="Calibri" pitchFamily="34" charset="0"/>
                <a:ea typeface="Calibri" pitchFamily="34" charset="-122"/>
                <a:cs typeface="Calibri" pitchFamily="34" charset="-120"/>
              </a:rPr>
              <a:t>Ce rapport est numériquement valide algébriquement incohérent. — Philippe Thomas Savard.</a:t>
            </a:r>
            <a:endParaRPr lang="en-US" sz="1300" dirty="0"/>
          </a:p>
        </p:txBody>
      </p:sp>
      <p:sp>
        <p:nvSpPr>
          <p:cNvPr id="6" name="Text 4"/>
          <p:cNvSpPr/>
          <p:nvPr/>
        </p:nvSpPr>
        <p:spPr>
          <a:xfrm>
            <a:off x="640080" y="3200400"/>
            <a:ext cx="786384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Si 2x+4 = 9 et que 4x+8 = 11 :</a:t>
            </a:r>
            <a:endParaRPr lang="en-US" sz="1300" dirty="0"/>
          </a:p>
        </p:txBody>
      </p:sp>
      <p:sp>
        <p:nvSpPr>
          <p:cNvPr id="7" name="Shape 5"/>
          <p:cNvSpPr/>
          <p:nvPr/>
        </p:nvSpPr>
        <p:spPr>
          <a:xfrm>
            <a:off x="548640" y="3447288"/>
            <a:ext cx="475488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3520440"/>
            <a:ext cx="4572000" cy="41148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(2x+4) / (4x+8)  =  9/11  ≠  1/2</a:t>
            </a:r>
            <a:endParaRPr lang="en-US" sz="1400" dirty="0"/>
          </a:p>
        </p:txBody>
      </p:sp>
      <p:sp>
        <p:nvSpPr>
          <p:cNvPr id="9" name="Text 7"/>
          <p:cNvSpPr/>
          <p:nvPr/>
        </p:nvSpPr>
        <p:spPr>
          <a:xfrm>
            <a:off x="640080" y="4069080"/>
            <a:ext cx="7863840" cy="320040"/>
          </a:xfrm>
          <a:prstGeom prst="rect">
            <a:avLst/>
          </a:prstGeom>
          <a:noFill/>
          <a:ln/>
        </p:spPr>
        <p:txBody>
          <a:bodyPr wrap="square" rtlCol="0" anchor="ctr"/>
          <a:lstStyle/>
          <a:p>
            <a:pPr marL="0" indent="0">
              <a:buNone/>
            </a:pPr>
            <a:r>
              <a:rPr lang="en-US" sz="1300" dirty="0">
                <a:solidFill>
                  <a:srgbClr val="B0C4DE"/>
                </a:solidFill>
                <a:latin typeface="Calibri" pitchFamily="34" charset="0"/>
                <a:ea typeface="Calibri" pitchFamily="34" charset="-122"/>
                <a:cs typeface="Calibri" pitchFamily="34" charset="-120"/>
              </a:rPr>
              <a:t>Bien que ce rapport algébriquement ce simplifie par 1/2.</a:t>
            </a:r>
            <a:endParaRPr lang="en-US" sz="1300" dirty="0"/>
          </a:p>
        </p:txBody>
      </p:sp>
      <p:sp>
        <p:nvSpPr>
          <p:cNvPr id="10" name="Text 8"/>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13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77419"/>
    </mc:Choice>
    <mc:Fallback>
      <p:transition spd="slow" advTm="7741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Évidence de la géométrie du spectre des nombres premiers (2/2)</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Shape 2"/>
          <p:cNvSpPr/>
          <p:nvPr/>
        </p:nvSpPr>
        <p:spPr>
          <a:xfrm>
            <a:off x="548640" y="93268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5" name="Text 3"/>
          <p:cNvSpPr/>
          <p:nvPr/>
        </p:nvSpPr>
        <p:spPr>
          <a:xfrm>
            <a:off x="640080" y="1005840"/>
            <a:ext cx="7863840" cy="502920"/>
          </a:xfrm>
          <a:prstGeom prst="rect">
            <a:avLst/>
          </a:prstGeom>
          <a:noFill/>
          <a:ln/>
        </p:spPr>
        <p:txBody>
          <a:bodyPr wrap="square" rtlCol="0" anchor="ctr"/>
          <a:lstStyle/>
          <a:p>
            <a:pPr marL="0" indent="0" algn="ctr">
              <a:buNone/>
            </a:pPr>
            <a:r>
              <a:rPr lang="en-US" sz="1100" b="1" dirty="0">
                <a:solidFill>
                  <a:srgbClr val="E0F7FA"/>
                </a:solidFill>
                <a:latin typeface="Calibri" pitchFamily="34" charset="0"/>
                <a:ea typeface="Calibri" pitchFamily="34" charset="-122"/>
                <a:cs typeface="Calibri" pitchFamily="34" charset="-120"/>
              </a:rPr>
              <a:t>[(3.25/2)×2³ − 2] − [(3.25/2)×2⁸ − 2]  /  [(3.25/2)×2³ − 2] − [(3.25/2)×2³ − 2]</a:t>
            </a:r>
            <a:endParaRPr lang="en-US" sz="1100" dirty="0"/>
          </a:p>
        </p:txBody>
      </p:sp>
      <p:sp>
        <p:nvSpPr>
          <p:cNvPr id="6" name="Text 4"/>
          <p:cNvSpPr/>
          <p:nvPr/>
        </p:nvSpPr>
        <p:spPr>
          <a:xfrm>
            <a:off x="640080" y="1691640"/>
            <a:ext cx="7863840" cy="365760"/>
          </a:xfrm>
          <a:prstGeom prst="rect">
            <a:avLst/>
          </a:prstGeom>
          <a:noFill/>
          <a:ln/>
        </p:spPr>
        <p:txBody>
          <a:bodyPr wrap="square" rtlCol="0" anchor="ctr"/>
          <a:lstStyle/>
          <a:p>
            <a:pPr marL="0" indent="0">
              <a:buNone/>
            </a:pPr>
            <a:r>
              <a:rPr lang="en-US" sz="1300" dirty="0">
                <a:solidFill>
                  <a:srgbClr val="B0C4DE"/>
                </a:solidFill>
                <a:latin typeface="Calibri" pitchFamily="34" charset="0"/>
                <a:ea typeface="Calibri" pitchFamily="34" charset="-122"/>
                <a:cs typeface="Calibri" pitchFamily="34" charset="-120"/>
              </a:rPr>
              <a:t>se simplifie algébriquement par (3.25/6.5) = 1/2 mais ils sont déjà valorisés par les suites A et B.</a:t>
            </a:r>
            <a:endParaRPr lang="en-US" sz="1300" dirty="0"/>
          </a:p>
        </p:txBody>
      </p:sp>
      <p:sp>
        <p:nvSpPr>
          <p:cNvPr id="7" name="Shape 5"/>
          <p:cNvSpPr/>
          <p:nvPr/>
        </p:nvSpPr>
        <p:spPr>
          <a:xfrm>
            <a:off x="548640" y="2121408"/>
            <a:ext cx="365760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2194560"/>
            <a:ext cx="3474720" cy="41148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11 / −40  ≠  1/2</a:t>
            </a:r>
            <a:endParaRPr lang="en-US" sz="1400" dirty="0"/>
          </a:p>
        </p:txBody>
      </p:sp>
      <p:sp>
        <p:nvSpPr>
          <p:cNvPr id="9" name="Text 7"/>
          <p:cNvSpPr/>
          <p:nvPr/>
        </p:nvSpPr>
        <p:spPr>
          <a:xfrm>
            <a:off x="4160520" y="2194560"/>
            <a:ext cx="457200" cy="41148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et</a:t>
            </a:r>
            <a:endParaRPr lang="en-US" sz="1400" dirty="0"/>
          </a:p>
        </p:txBody>
      </p:sp>
      <p:sp>
        <p:nvSpPr>
          <p:cNvPr id="10" name="Shape 8"/>
          <p:cNvSpPr/>
          <p:nvPr/>
        </p:nvSpPr>
        <p:spPr>
          <a:xfrm>
            <a:off x="4572000" y="2121408"/>
            <a:ext cx="402336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1" name="Text 9"/>
          <p:cNvSpPr/>
          <p:nvPr/>
        </p:nvSpPr>
        <p:spPr>
          <a:xfrm>
            <a:off x="4663440" y="2194560"/>
            <a:ext cx="3840480" cy="41148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414 / 766  ≠  1/2</a:t>
            </a:r>
            <a:endParaRPr lang="en-US" sz="1400" dirty="0"/>
          </a:p>
        </p:txBody>
      </p:sp>
      <p:sp>
        <p:nvSpPr>
          <p:cNvPr id="12" name="Text 10"/>
          <p:cNvSpPr/>
          <p:nvPr/>
        </p:nvSpPr>
        <p:spPr>
          <a:xfrm>
            <a:off x="640080" y="2788920"/>
            <a:ext cx="7863840" cy="274320"/>
          </a:xfrm>
          <a:prstGeom prst="rect">
            <a:avLst/>
          </a:prstGeom>
          <a:noFill/>
          <a:ln/>
        </p:spPr>
        <p:txBody>
          <a:bodyPr wrap="square" rtlCol="0" anchor="ctr"/>
          <a:lstStyle/>
          <a:p>
            <a:pPr marL="0" indent="0">
              <a:buNone/>
            </a:pPr>
            <a:r>
              <a:rPr lang="en-US" sz="1400" b="1" dirty="0">
                <a:solidFill>
                  <a:srgbClr val="FFD54F"/>
                </a:solidFill>
                <a:latin typeface="Calibri" pitchFamily="34" charset="0"/>
                <a:ea typeface="Calibri" pitchFamily="34" charset="-122"/>
                <a:cs typeface="Calibri" pitchFamily="34" charset="-120"/>
              </a:rPr>
              <a:t>mais</a:t>
            </a:r>
            <a:endParaRPr lang="en-US" sz="1400" dirty="0"/>
          </a:p>
        </p:txBody>
      </p:sp>
      <p:sp>
        <p:nvSpPr>
          <p:cNvPr id="13" name="Shape 11"/>
          <p:cNvSpPr/>
          <p:nvPr/>
        </p:nvSpPr>
        <p:spPr>
          <a:xfrm>
            <a:off x="548640" y="303580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4" name="Text 12"/>
          <p:cNvSpPr/>
          <p:nvPr/>
        </p:nvSpPr>
        <p:spPr>
          <a:xfrm>
            <a:off x="640080" y="3108960"/>
            <a:ext cx="7863840" cy="502920"/>
          </a:xfrm>
          <a:prstGeom prst="rect">
            <a:avLst/>
          </a:prstGeom>
          <a:noFill/>
          <a:ln/>
        </p:spPr>
        <p:txBody>
          <a:bodyPr wrap="square" rtlCol="0" anchor="ctr"/>
          <a:lstStyle/>
          <a:p>
            <a:pPr marL="0" indent="0" algn="ctr">
              <a:buNone/>
            </a:pPr>
            <a:r>
              <a:rPr lang="en-US" sz="1600" b="1" dirty="0">
                <a:solidFill>
                  <a:srgbClr val="E0F7FA"/>
                </a:solidFill>
                <a:latin typeface="Calibri" pitchFamily="34" charset="0"/>
                <a:ea typeface="Calibri" pitchFamily="34" charset="-122"/>
                <a:cs typeface="Calibri" pitchFamily="34" charset="-120"/>
              </a:rPr>
              <a:t>(11 − 414) / (−40 − 766)  =  1/2</a:t>
            </a:r>
            <a:endParaRPr lang="en-US" sz="1600" dirty="0"/>
          </a:p>
        </p:txBody>
      </p:sp>
      <p:sp>
        <p:nvSpPr>
          <p:cNvPr id="15" name="Text 13"/>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14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44540"/>
    </mc:Choice>
    <mc:Fallback>
      <p:transition spd="slow" advTm="4454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4FC3F7">
              <a:alpha val="8000"/>
            </a:srgbClr>
          </a:solidFill>
          <a:ln/>
        </p:spPr>
        <p:txBody>
          <a:bodyPr/>
          <a:lstStyle/>
          <a:p>
            <a:endParaRPr lang="fr-CA" dirty="0"/>
          </a:p>
        </p:txBody>
      </p:sp>
      <p:sp>
        <p:nvSpPr>
          <p:cNvPr id="3" name="Shape 1"/>
          <p:cNvSpPr/>
          <p:nvPr/>
        </p:nvSpPr>
        <p:spPr>
          <a:xfrm>
            <a:off x="6400800" y="2743200"/>
            <a:ext cx="3657600" cy="3657600"/>
          </a:xfrm>
          <a:prstGeom prst="ellipse">
            <a:avLst/>
          </a:prstGeom>
          <a:solidFill>
            <a:srgbClr val="4FC3F7">
              <a:alpha val="5000"/>
            </a:srgbClr>
          </a:solidFill>
          <a:ln/>
        </p:spPr>
        <p:txBody>
          <a:bodyPr/>
          <a:lstStyle/>
          <a:p>
            <a:endParaRPr lang="fr-CA" dirty="0"/>
          </a:p>
        </p:txBody>
      </p:sp>
      <p:sp>
        <p:nvSpPr>
          <p:cNvPr id="4" name="Text 2"/>
          <p:cNvSpPr/>
          <p:nvPr/>
        </p:nvSpPr>
        <p:spPr>
          <a:xfrm>
            <a:off x="640080" y="1097280"/>
            <a:ext cx="7315200" cy="457200"/>
          </a:xfrm>
          <a:prstGeom prst="rect">
            <a:avLst/>
          </a:prstGeom>
          <a:noFill/>
          <a:ln/>
        </p:spPr>
        <p:txBody>
          <a:bodyPr wrap="square" rtlCol="0" anchor="ctr"/>
          <a:lstStyle/>
          <a:p>
            <a:pPr marL="0" indent="0">
              <a:buNone/>
            </a:pPr>
            <a:r>
              <a:rPr lang="en-US" sz="1300" b="1" kern="0" spc="400" dirty="0">
                <a:solidFill>
                  <a:srgbClr val="4FC3F7"/>
                </a:solidFill>
                <a:latin typeface="Calibri" pitchFamily="34" charset="0"/>
                <a:ea typeface="Calibri" pitchFamily="34" charset="-122"/>
                <a:cs typeface="Calibri" pitchFamily="34" charset="-120"/>
              </a:rPr>
              <a:t>SECTION</a:t>
            </a:r>
            <a:endParaRPr lang="en-US" sz="1300" dirty="0"/>
          </a:p>
        </p:txBody>
      </p:sp>
      <p:sp>
        <p:nvSpPr>
          <p:cNvPr id="5" name="Text 3"/>
          <p:cNvSpPr/>
          <p:nvPr/>
        </p:nvSpPr>
        <p:spPr>
          <a:xfrm>
            <a:off x="640080" y="1554480"/>
            <a:ext cx="7772400" cy="10972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Méthode spectrale</a:t>
            </a:r>
            <a:endParaRPr lang="en-US" sz="3400" dirty="0"/>
          </a:p>
          <a:p>
            <a:pPr marL="0" indent="0">
              <a:buNone/>
            </a:pPr>
            <a:r>
              <a:rPr lang="en-US" sz="3400" b="1" dirty="0">
                <a:solidFill>
                  <a:srgbClr val="FFFFFF"/>
                </a:solidFill>
                <a:latin typeface="Georgia" pitchFamily="34" charset="0"/>
                <a:ea typeface="Georgia" pitchFamily="34" charset="-122"/>
                <a:cs typeface="Georgia" pitchFamily="34" charset="-120"/>
              </a:rPr>
              <a:t>pour le rapport 1/3</a:t>
            </a:r>
            <a:endParaRPr lang="en-US" sz="3400" dirty="0"/>
          </a:p>
        </p:txBody>
      </p:sp>
      <p:sp>
        <p:nvSpPr>
          <p:cNvPr id="6" name="Text 4"/>
          <p:cNvSpPr/>
          <p:nvPr/>
        </p:nvSpPr>
        <p:spPr>
          <a:xfrm>
            <a:off x="640080" y="2651760"/>
            <a:ext cx="7315200" cy="731520"/>
          </a:xfrm>
          <a:prstGeom prst="rect">
            <a:avLst/>
          </a:prstGeom>
          <a:noFill/>
          <a:ln/>
        </p:spPr>
        <p:txBody>
          <a:bodyPr wrap="square" rtlCol="0" anchor="ctr"/>
          <a:lstStyle/>
          <a:p>
            <a:pPr marL="0" indent="0">
              <a:buNone/>
            </a:pPr>
            <a:r>
              <a:rPr lang="en-US" sz="1500" i="1" dirty="0">
                <a:solidFill>
                  <a:srgbClr val="B0C4DE"/>
                </a:solidFill>
                <a:latin typeface="Calibri" pitchFamily="34" charset="0"/>
                <a:ea typeface="Calibri" pitchFamily="34" charset="-122"/>
                <a:cs typeface="Calibri" pitchFamily="34" charset="-120"/>
              </a:rPr>
              <a:t>Extension de la théorie au-delà du rapport 1/2</a:t>
            </a:r>
            <a:endParaRPr lang="en-US" sz="1500" dirty="0"/>
          </a:p>
        </p:txBody>
      </p:sp>
      <p:sp>
        <p:nvSpPr>
          <p:cNvPr id="7" name="Text 5"/>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15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13618"/>
    </mc:Choice>
    <mc:Fallback>
      <p:transition spd="slow" advTm="1361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Méthode spectrale pour rapport 1/3. Partie #1</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Somme Suite A et B pour 10 termes:</a:t>
            </a:r>
            <a:endParaRPr lang="en-US" sz="1400" dirty="0"/>
          </a:p>
        </p:txBody>
      </p:sp>
      <p:sp>
        <p:nvSpPr>
          <p:cNvPr id="5" name="Shape 3"/>
          <p:cNvSpPr/>
          <p:nvPr/>
        </p:nvSpPr>
        <p:spPr>
          <a:xfrm>
            <a:off x="548640" y="125272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6" name="Text 4"/>
          <p:cNvSpPr/>
          <p:nvPr/>
        </p:nvSpPr>
        <p:spPr>
          <a:xfrm>
            <a:off x="640080" y="1325880"/>
            <a:ext cx="7863840" cy="41148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3+9+27+81+243+729+2187+6561+17496+52488 = 79824  Somme suite A</a:t>
            </a:r>
            <a:endParaRPr lang="en-US" sz="1200" dirty="0"/>
          </a:p>
        </p:txBody>
      </p:sp>
      <p:sp>
        <p:nvSpPr>
          <p:cNvPr id="7" name="Shape 5"/>
          <p:cNvSpPr/>
          <p:nvPr/>
        </p:nvSpPr>
        <p:spPr>
          <a:xfrm>
            <a:off x="548640" y="184708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1920240"/>
            <a:ext cx="7863840" cy="41148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3+9+27+81+243+2187+6561+19683+52488+157464 = 238746  Somme suite B</a:t>
            </a:r>
            <a:endParaRPr lang="en-US" sz="1200" dirty="0"/>
          </a:p>
        </p:txBody>
      </p:sp>
      <p:sp>
        <p:nvSpPr>
          <p:cNvPr id="9" name="Text 7"/>
          <p:cNvSpPr/>
          <p:nvPr/>
        </p:nvSpPr>
        <p:spPr>
          <a:xfrm>
            <a:off x="640080" y="2514600"/>
            <a:ext cx="786384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Équations généralisant la somme des suites A et B:</a:t>
            </a:r>
            <a:endParaRPr lang="en-US" sz="1400" dirty="0"/>
          </a:p>
        </p:txBody>
      </p:sp>
      <p:sp>
        <p:nvSpPr>
          <p:cNvPr id="10" name="Shape 8"/>
          <p:cNvSpPr/>
          <p:nvPr/>
        </p:nvSpPr>
        <p:spPr>
          <a:xfrm>
            <a:off x="548640" y="280720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1" name="Text 9"/>
          <p:cNvSpPr/>
          <p:nvPr/>
        </p:nvSpPr>
        <p:spPr>
          <a:xfrm>
            <a:off x="640080" y="2880360"/>
            <a:ext cx="7863840" cy="41148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(73/9)/6 × 3ⁿ − 1.5 = Somme suite A</a:t>
            </a:r>
            <a:endParaRPr lang="en-US" sz="1400" dirty="0"/>
          </a:p>
        </p:txBody>
      </p:sp>
      <p:sp>
        <p:nvSpPr>
          <p:cNvPr id="12" name="Shape 10"/>
          <p:cNvSpPr/>
          <p:nvPr/>
        </p:nvSpPr>
        <p:spPr>
          <a:xfrm>
            <a:off x="548640" y="340156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3" name="Text 11"/>
          <p:cNvSpPr/>
          <p:nvPr/>
        </p:nvSpPr>
        <p:spPr>
          <a:xfrm>
            <a:off x="640080" y="3474720"/>
            <a:ext cx="7863840" cy="41148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(219/9)/6 × 3ⁿ − 4871.5 = Somme suite B</a:t>
            </a:r>
            <a:endParaRPr lang="en-US" sz="1400" dirty="0"/>
          </a:p>
        </p:txBody>
      </p:sp>
      <p:sp>
        <p:nvSpPr>
          <p:cNvPr id="14" name="Text 12"/>
          <p:cNvSpPr/>
          <p:nvPr/>
        </p:nvSpPr>
        <p:spPr>
          <a:xfrm>
            <a:off x="640080" y="4023360"/>
            <a:ext cx="7863840" cy="274320"/>
          </a:xfrm>
          <a:prstGeom prst="rect">
            <a:avLst/>
          </a:prstGeom>
          <a:noFill/>
          <a:ln/>
        </p:spPr>
        <p:txBody>
          <a:bodyPr wrap="square" rtlCol="0" anchor="ctr"/>
          <a:lstStyle/>
          <a:p>
            <a:pPr marL="0" indent="0">
              <a:buNone/>
            </a:pPr>
            <a:r>
              <a:rPr lang="en-US" sz="1200" dirty="0">
                <a:solidFill>
                  <a:srgbClr val="6B8DAD"/>
                </a:solidFill>
                <a:latin typeface="Calibri" pitchFamily="34" charset="0"/>
                <a:ea typeface="Calibri" pitchFamily="34" charset="-122"/>
                <a:cs typeface="Calibri" pitchFamily="34" charset="-120"/>
              </a:rPr>
              <a:t>Quand n est un nombre entier strictement positif.</a:t>
            </a:r>
            <a:endParaRPr lang="en-US" sz="1200" dirty="0"/>
          </a:p>
        </p:txBody>
      </p:sp>
      <p:sp>
        <p:nvSpPr>
          <p:cNvPr id="15" name="Text 13"/>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16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25111"/>
    </mc:Choice>
    <mc:Fallback>
      <p:transition spd="slow" advTm="2511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Déterminer le nombre premier</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1005840"/>
            <a:ext cx="7863840" cy="73152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Digamma = Somme suite A − 6561</a:t>
            </a:r>
            <a:endParaRPr lang="en-US" sz="1500" dirty="0"/>
          </a:p>
          <a:p>
            <a:pPr marL="0" indent="0">
              <a:buNone/>
            </a:pPr>
            <a:r>
              <a:rPr lang="en-US" sz="1500" dirty="0">
                <a:solidFill>
                  <a:srgbClr val="E0F7FA"/>
                </a:solidFill>
                <a:latin typeface="Calibri" pitchFamily="34" charset="0"/>
                <a:ea typeface="Calibri" pitchFamily="34" charset="-122"/>
                <a:cs typeface="Calibri" pitchFamily="34" charset="-120"/>
              </a:rPr>
              <a:t>79824 − 6561 = 73263 Digamma</a:t>
            </a:r>
            <a:endParaRPr lang="en-US" sz="1500" dirty="0"/>
          </a:p>
        </p:txBody>
      </p:sp>
      <p:sp>
        <p:nvSpPr>
          <p:cNvPr id="5" name="Shape 3"/>
          <p:cNvSpPr/>
          <p:nvPr/>
        </p:nvSpPr>
        <p:spPr>
          <a:xfrm>
            <a:off x="548640" y="184708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6" name="Text 4"/>
          <p:cNvSpPr/>
          <p:nvPr/>
        </p:nvSpPr>
        <p:spPr>
          <a:xfrm>
            <a:off x="640080" y="1920240"/>
            <a:ext cx="7863840" cy="50292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(Somme suite B − Digamma) / (sixième position suite A) = 227</a:t>
            </a:r>
            <a:endParaRPr lang="en-US" sz="1400" dirty="0"/>
          </a:p>
        </p:txBody>
      </p:sp>
      <p:sp>
        <p:nvSpPr>
          <p:cNvPr id="7" name="Shape 5"/>
          <p:cNvSpPr/>
          <p:nvPr/>
        </p:nvSpPr>
        <p:spPr>
          <a:xfrm>
            <a:off x="548640" y="253288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2606040"/>
            <a:ext cx="7863840" cy="502920"/>
          </a:xfrm>
          <a:prstGeom prst="rect">
            <a:avLst/>
          </a:prstGeom>
          <a:noFill/>
          <a:ln/>
        </p:spPr>
        <p:txBody>
          <a:bodyPr wrap="square" rtlCol="0" anchor="ctr"/>
          <a:lstStyle/>
          <a:p>
            <a:pPr marL="0" indent="0" algn="ctr">
              <a:buNone/>
            </a:pPr>
            <a:r>
              <a:rPr lang="en-US" sz="1600" b="1" dirty="0">
                <a:solidFill>
                  <a:srgbClr val="E0F7FA"/>
                </a:solidFill>
                <a:latin typeface="Calibri" pitchFamily="34" charset="0"/>
                <a:ea typeface="Calibri" pitchFamily="34" charset="-122"/>
                <a:cs typeface="Calibri" pitchFamily="34" charset="-120"/>
              </a:rPr>
              <a:t>(238746 − 73263) / 729 = 227</a:t>
            </a:r>
            <a:endParaRPr lang="en-US" sz="1600" dirty="0"/>
          </a:p>
        </p:txBody>
      </p:sp>
      <p:sp>
        <p:nvSpPr>
          <p:cNvPr id="9" name="Shape 7"/>
          <p:cNvSpPr/>
          <p:nvPr/>
        </p:nvSpPr>
        <p:spPr>
          <a:xfrm>
            <a:off x="2286000" y="3383280"/>
            <a:ext cx="4572000" cy="731520"/>
          </a:xfrm>
          <a:prstGeom prst="rect">
            <a:avLst/>
          </a:prstGeom>
          <a:solidFill>
            <a:srgbClr val="4FC3F7">
              <a:alpha val="15000"/>
            </a:srgbClr>
          </a:solidFill>
          <a:ln/>
          <a:effectLst>
            <a:outerShdw blurRad="76200" dist="25400" dir="8100000" algn="bl" rotWithShape="0">
              <a:srgbClr val="000000">
                <a:alpha val="15000"/>
              </a:srgbClr>
            </a:outerShdw>
          </a:effectLst>
        </p:spPr>
        <p:txBody>
          <a:bodyPr/>
          <a:lstStyle/>
          <a:p>
            <a:endParaRPr lang="fr-CA" dirty="0"/>
          </a:p>
        </p:txBody>
      </p:sp>
      <p:sp>
        <p:nvSpPr>
          <p:cNvPr id="10" name="Text 8"/>
          <p:cNvSpPr/>
          <p:nvPr/>
        </p:nvSpPr>
        <p:spPr>
          <a:xfrm>
            <a:off x="2286000" y="3383280"/>
            <a:ext cx="4572000" cy="731520"/>
          </a:xfrm>
          <a:prstGeom prst="rect">
            <a:avLst/>
          </a:prstGeom>
          <a:no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227   49ième nombre premier.</a:t>
            </a:r>
            <a:endParaRPr lang="en-US" sz="2200" dirty="0"/>
          </a:p>
        </p:txBody>
      </p:sp>
      <p:sp>
        <p:nvSpPr>
          <p:cNvPr id="11" name="Text 9"/>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17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33434"/>
    </mc:Choice>
    <mc:Fallback>
      <p:transition spd="slow" advTm="3343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Rapport spectral</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1005840"/>
            <a:ext cx="78638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Somme suite A (227) = 79824    Somme suite B (227) = 238746</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Somme Suite A (223) = 26607    Somme Suite B (223) = 79095</a:t>
            </a:r>
            <a:endParaRPr lang="en-US" sz="1400" dirty="0"/>
          </a:p>
        </p:txBody>
      </p:sp>
      <p:sp>
        <p:nvSpPr>
          <p:cNvPr id="5" name="Shape 3"/>
          <p:cNvSpPr/>
          <p:nvPr/>
        </p:nvSpPr>
        <p:spPr>
          <a:xfrm>
            <a:off x="548640" y="1755648"/>
            <a:ext cx="8046720" cy="69494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6" name="Text 4"/>
          <p:cNvSpPr/>
          <p:nvPr/>
        </p:nvSpPr>
        <p:spPr>
          <a:xfrm>
            <a:off x="640080" y="1828800"/>
            <a:ext cx="7863840" cy="548640"/>
          </a:xfrm>
          <a:prstGeom prst="rect">
            <a:avLst/>
          </a:prstGeom>
          <a:noFill/>
          <a:ln/>
        </p:spPr>
        <p:txBody>
          <a:bodyPr wrap="square" rtlCol="0" anchor="ctr"/>
          <a:lstStyle/>
          <a:p>
            <a:pPr marL="0" indent="0" algn="ctr">
              <a:buNone/>
            </a:pPr>
            <a:r>
              <a:rPr lang="en-US" sz="1500" b="1" dirty="0">
                <a:solidFill>
                  <a:srgbClr val="E0F7FA"/>
                </a:solidFill>
                <a:latin typeface="Calibri" pitchFamily="34" charset="0"/>
                <a:ea typeface="Calibri" pitchFamily="34" charset="-122"/>
                <a:cs typeface="Calibri" pitchFamily="34" charset="-120"/>
              </a:rPr>
              <a:t>(79824 − 26607) / (238746 − 79095) = 1/3  Rapport Spectral.</a:t>
            </a:r>
            <a:endParaRPr lang="en-US" sz="1500" dirty="0"/>
          </a:p>
        </p:txBody>
      </p:sp>
      <p:sp>
        <p:nvSpPr>
          <p:cNvPr id="7" name="Text 5"/>
          <p:cNvSpPr/>
          <p:nvPr/>
        </p:nvSpPr>
        <p:spPr>
          <a:xfrm>
            <a:off x="640080" y="2606040"/>
            <a:ext cx="7863840" cy="1097280"/>
          </a:xfrm>
          <a:prstGeom prst="rect">
            <a:avLst/>
          </a:prstGeom>
          <a:noFill/>
          <a:ln/>
        </p:spPr>
        <p:txBody>
          <a:bodyPr wrap="square" rtlCol="0" anchor="ctr"/>
          <a:lstStyle/>
          <a:p>
            <a:pPr marL="0" indent="0">
              <a:buNone/>
            </a:pPr>
            <a:r>
              <a:rPr lang="en-US" sz="1400" b="1" dirty="0">
                <a:solidFill>
                  <a:srgbClr val="FFD54F"/>
                </a:solidFill>
                <a:latin typeface="Calibri" pitchFamily="34" charset="0"/>
                <a:ea typeface="Calibri" pitchFamily="34" charset="-122"/>
                <a:cs typeface="Calibri" pitchFamily="34" charset="-120"/>
              </a:rPr>
              <a:t>Le rapport spectral est bien celui recherché!</a:t>
            </a:r>
            <a:endParaRPr lang="en-US" sz="1400" dirty="0"/>
          </a:p>
          <a:p>
            <a:pPr marL="0" indent="0">
              <a:buNone/>
            </a:pPr>
            <a:r>
              <a:rPr lang="en-US" sz="1300" dirty="0">
                <a:solidFill>
                  <a:srgbClr val="B0C4DE"/>
                </a:solidFill>
                <a:latin typeface="Calibri" pitchFamily="34" charset="0"/>
                <a:ea typeface="Calibri" pitchFamily="34" charset="-122"/>
                <a:cs typeface="Calibri" pitchFamily="34" charset="-120"/>
              </a:rPr>
              <a:t>Les comparaisons sont les mêmes que pour le précédent exemple asymétrique ordonné asymétrique chaotique et la comparaison symétrique 1×1 à n×n. Et respectent les mêmes règles?</a:t>
            </a:r>
            <a:endParaRPr lang="en-US" sz="1400" dirty="0"/>
          </a:p>
        </p:txBody>
      </p:sp>
      <p:sp>
        <p:nvSpPr>
          <p:cNvPr id="8" name="Text 6"/>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18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13828"/>
    </mc:Choice>
    <mc:Fallback>
      <p:transition spd="slow" advTm="1382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4FC3F7">
              <a:alpha val="8000"/>
            </a:srgbClr>
          </a:solidFill>
          <a:ln/>
        </p:spPr>
        <p:txBody>
          <a:bodyPr/>
          <a:lstStyle/>
          <a:p>
            <a:endParaRPr lang="fr-CA" dirty="0"/>
          </a:p>
        </p:txBody>
      </p:sp>
      <p:sp>
        <p:nvSpPr>
          <p:cNvPr id="3" name="Shape 1"/>
          <p:cNvSpPr/>
          <p:nvPr/>
        </p:nvSpPr>
        <p:spPr>
          <a:xfrm>
            <a:off x="6400800" y="2743200"/>
            <a:ext cx="3657600" cy="3657600"/>
          </a:xfrm>
          <a:prstGeom prst="ellipse">
            <a:avLst/>
          </a:prstGeom>
          <a:solidFill>
            <a:srgbClr val="4FC3F7">
              <a:alpha val="5000"/>
            </a:srgbClr>
          </a:solidFill>
          <a:ln/>
        </p:spPr>
        <p:txBody>
          <a:bodyPr/>
          <a:lstStyle/>
          <a:p>
            <a:endParaRPr lang="fr-CA" dirty="0"/>
          </a:p>
        </p:txBody>
      </p:sp>
      <p:sp>
        <p:nvSpPr>
          <p:cNvPr id="4" name="Text 2"/>
          <p:cNvSpPr/>
          <p:nvPr/>
        </p:nvSpPr>
        <p:spPr>
          <a:xfrm>
            <a:off x="640080" y="1097280"/>
            <a:ext cx="7315200" cy="457200"/>
          </a:xfrm>
          <a:prstGeom prst="rect">
            <a:avLst/>
          </a:prstGeom>
          <a:noFill/>
          <a:ln/>
        </p:spPr>
        <p:txBody>
          <a:bodyPr wrap="square" rtlCol="0" anchor="ctr"/>
          <a:lstStyle/>
          <a:p>
            <a:pPr marL="0" indent="0">
              <a:buNone/>
            </a:pPr>
            <a:r>
              <a:rPr lang="en-US" sz="1300" b="1" kern="0" spc="400" dirty="0">
                <a:solidFill>
                  <a:srgbClr val="4FC3F7"/>
                </a:solidFill>
                <a:latin typeface="Calibri" pitchFamily="34" charset="0"/>
                <a:ea typeface="Calibri" pitchFamily="34" charset="-122"/>
                <a:cs typeface="Calibri" pitchFamily="34" charset="-120"/>
              </a:rPr>
              <a:t>SECTION</a:t>
            </a:r>
            <a:endParaRPr lang="en-US" sz="1300" dirty="0"/>
          </a:p>
        </p:txBody>
      </p:sp>
      <p:sp>
        <p:nvSpPr>
          <p:cNvPr id="5" name="Text 3"/>
          <p:cNvSpPr/>
          <p:nvPr/>
        </p:nvSpPr>
        <p:spPr>
          <a:xfrm>
            <a:off x="640080" y="1554480"/>
            <a:ext cx="7772400" cy="109728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Quantité de termes entre</a:t>
            </a:r>
            <a:endParaRPr lang="en-US" sz="3400" dirty="0"/>
          </a:p>
          <a:p>
            <a:pPr marL="0" indent="0">
              <a:buNone/>
            </a:pPr>
            <a:r>
              <a:rPr lang="en-US" sz="3400" b="1" dirty="0">
                <a:solidFill>
                  <a:srgbClr val="FFFFFF"/>
                </a:solidFill>
                <a:latin typeface="Georgia" pitchFamily="34" charset="0"/>
                <a:ea typeface="Georgia" pitchFamily="34" charset="-122"/>
                <a:cs typeface="Georgia" pitchFamily="34" charset="-120"/>
              </a:rPr>
              <a:t>deux nombres premiers</a:t>
            </a:r>
            <a:endParaRPr lang="en-US" sz="3400" dirty="0"/>
          </a:p>
        </p:txBody>
      </p:sp>
      <p:sp>
        <p:nvSpPr>
          <p:cNvPr id="6" name="Text 4"/>
          <p:cNvSpPr/>
          <p:nvPr/>
        </p:nvSpPr>
        <p:spPr>
          <a:xfrm>
            <a:off x="640080" y="2651760"/>
            <a:ext cx="7315200" cy="731520"/>
          </a:xfrm>
          <a:prstGeom prst="rect">
            <a:avLst/>
          </a:prstGeom>
          <a:noFill/>
          <a:ln/>
        </p:spPr>
        <p:txBody>
          <a:bodyPr wrap="square" rtlCol="0" anchor="ctr"/>
          <a:lstStyle/>
          <a:p>
            <a:pPr marL="0" indent="0">
              <a:buNone/>
            </a:pPr>
            <a:r>
              <a:rPr lang="en-US" sz="1500" i="1" dirty="0">
                <a:solidFill>
                  <a:srgbClr val="B0C4DE"/>
                </a:solidFill>
                <a:latin typeface="Calibri" pitchFamily="34" charset="0"/>
                <a:ea typeface="Calibri" pitchFamily="34" charset="-122"/>
                <a:cs typeface="Calibri" pitchFamily="34" charset="-120"/>
              </a:rPr>
              <a:t>Calcul des écarts : positif, négatif et mixte</a:t>
            </a:r>
            <a:endParaRPr lang="en-US" sz="1500" dirty="0"/>
          </a:p>
        </p:txBody>
      </p:sp>
      <p:sp>
        <p:nvSpPr>
          <p:cNvPr id="7" name="Text 5"/>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19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4984"/>
    </mc:Choice>
    <mc:Fallback>
      <p:transition spd="slow" advTm="498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Quantité de termes entre deux nombres premiers: Partie #1</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320040"/>
          </a:xfrm>
          <a:prstGeom prst="rect">
            <a:avLst/>
          </a:prstGeom>
          <a:noFill/>
          <a:ln/>
        </p:spPr>
        <p:txBody>
          <a:bodyPr wrap="square" rtlCol="0" anchor="ctr"/>
          <a:lstStyle/>
          <a:p>
            <a:pPr marL="0" indent="0">
              <a:buNone/>
            </a:pPr>
            <a:r>
              <a:rPr lang="en-US" sz="1300" dirty="0">
                <a:solidFill>
                  <a:srgbClr val="B0C4DE"/>
                </a:solidFill>
                <a:latin typeface="Calibri" pitchFamily="34" charset="0"/>
                <a:ea typeface="Calibri" pitchFamily="34" charset="-122"/>
                <a:cs typeface="Calibri" pitchFamily="34" charset="-120"/>
              </a:rPr>
              <a:t>Trois cas sont possibles (+,+), (-,-) et (-,+) le dernier étant l’écart mixte.</a:t>
            </a:r>
            <a:endParaRPr lang="en-US" sz="1300" dirty="0"/>
          </a:p>
        </p:txBody>
      </p:sp>
      <p:sp>
        <p:nvSpPr>
          <p:cNvPr id="5" name="Text 3"/>
          <p:cNvSpPr/>
          <p:nvPr/>
        </p:nvSpPr>
        <p:spPr>
          <a:xfrm>
            <a:off x="640080" y="1325880"/>
            <a:ext cx="786384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Exemple 1. Entre 23 et 7:</a:t>
            </a:r>
            <a:endParaRPr lang="en-US" sz="1400" dirty="0"/>
          </a:p>
        </p:txBody>
      </p:sp>
      <p:sp>
        <p:nvSpPr>
          <p:cNvPr id="6" name="Text 4"/>
          <p:cNvSpPr/>
          <p:nvPr/>
        </p:nvSpPr>
        <p:spPr>
          <a:xfrm>
            <a:off x="640080" y="169164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Somme Suite A 11 :</a:t>
            </a:r>
            <a:endParaRPr lang="en-US" sz="1300" dirty="0"/>
          </a:p>
        </p:txBody>
      </p:sp>
      <p:sp>
        <p:nvSpPr>
          <p:cNvPr id="7" name="Shape 5"/>
          <p:cNvSpPr/>
          <p:nvPr/>
        </p:nvSpPr>
        <p:spPr>
          <a:xfrm>
            <a:off x="548640" y="193852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2011680"/>
            <a:ext cx="7863840" cy="36576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(3.25/2) × 2⁵ − 2 = 50  somme suite A(11)</a:t>
            </a:r>
            <a:endParaRPr lang="en-US" sz="1300" dirty="0"/>
          </a:p>
        </p:txBody>
      </p:sp>
      <p:sp>
        <p:nvSpPr>
          <p:cNvPr id="9" name="Text 7"/>
          <p:cNvSpPr/>
          <p:nvPr/>
        </p:nvSpPr>
        <p:spPr>
          <a:xfrm>
            <a:off x="640080" y="251460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Il faut déterminer la somme de la suite B de 23 :</a:t>
            </a:r>
            <a:endParaRPr lang="en-US" sz="1300" dirty="0"/>
          </a:p>
        </p:txBody>
      </p:sp>
      <p:sp>
        <p:nvSpPr>
          <p:cNvPr id="10" name="Shape 8"/>
          <p:cNvSpPr/>
          <p:nvPr/>
        </p:nvSpPr>
        <p:spPr>
          <a:xfrm>
            <a:off x="548640" y="276148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1" name="Text 9"/>
          <p:cNvSpPr/>
          <p:nvPr/>
        </p:nvSpPr>
        <p:spPr>
          <a:xfrm>
            <a:off x="640080" y="2834640"/>
            <a:ext cx="7863840" cy="36576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(6.5/2) × 2⁹ − 66 = 1598  somme suite B(23)</a:t>
            </a:r>
            <a:endParaRPr lang="en-US" sz="1300" dirty="0"/>
          </a:p>
        </p:txBody>
      </p:sp>
      <p:sp>
        <p:nvSpPr>
          <p:cNvPr id="12" name="Text 10"/>
          <p:cNvSpPr/>
          <p:nvPr/>
        </p:nvSpPr>
        <p:spPr>
          <a:xfrm>
            <a:off x="640080" y="333756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Il faut déterminer le Digamma calculé de 23 :</a:t>
            </a:r>
            <a:endParaRPr lang="en-US" sz="1300" dirty="0"/>
          </a:p>
        </p:txBody>
      </p:sp>
      <p:sp>
        <p:nvSpPr>
          <p:cNvPr id="13" name="Shape 11"/>
          <p:cNvSpPr/>
          <p:nvPr/>
        </p:nvSpPr>
        <p:spPr>
          <a:xfrm>
            <a:off x="548640" y="358444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4" name="Text 12"/>
          <p:cNvSpPr/>
          <p:nvPr/>
        </p:nvSpPr>
        <p:spPr>
          <a:xfrm>
            <a:off x="640080" y="3657600"/>
            <a:ext cx="7863840" cy="36576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(1598/64 − 23) × 64 = 126  Digamma calculé(23)</a:t>
            </a:r>
            <a:endParaRPr lang="en-US" sz="1300" dirty="0"/>
          </a:p>
        </p:txBody>
      </p:sp>
      <p:sp>
        <p:nvSpPr>
          <p:cNvPr id="15" name="Text 13"/>
          <p:cNvSpPr/>
          <p:nvPr/>
        </p:nvSpPr>
        <p:spPr>
          <a:xfrm>
            <a:off x="640080" y="4069080"/>
            <a:ext cx="7863840" cy="411480"/>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Il faut soustraire le résultat de la suite A pour 11 et la soustraire de la différence entre (somme suite B(23) − (Digamma calculé(23)) :</a:t>
            </a:r>
            <a:endParaRPr lang="en-US" sz="1100" dirty="0"/>
          </a:p>
        </p:txBody>
      </p:sp>
      <p:sp>
        <p:nvSpPr>
          <p:cNvPr id="16" name="Shape 14"/>
          <p:cNvSpPr/>
          <p:nvPr/>
        </p:nvSpPr>
        <p:spPr>
          <a:xfrm>
            <a:off x="2651760" y="4453128"/>
            <a:ext cx="384048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7" name="Text 15"/>
          <p:cNvSpPr/>
          <p:nvPr/>
        </p:nvSpPr>
        <p:spPr>
          <a:xfrm>
            <a:off x="2743200" y="4526280"/>
            <a:ext cx="3657600" cy="36576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50 − (1598 − 126) = −1422</a:t>
            </a:r>
            <a:endParaRPr lang="en-US" sz="1400" dirty="0"/>
          </a:p>
        </p:txBody>
      </p:sp>
      <p:sp>
        <p:nvSpPr>
          <p:cNvPr id="18" name="Text 16"/>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20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72981"/>
    </mc:Choice>
    <mc:Fallback>
      <p:transition spd="slow" advTm="7298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Quantité de termes entre deux premiers partie #2</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Déterminer le Digamma de 7 :</a:t>
            </a:r>
            <a:endParaRPr lang="en-US" sz="1400" dirty="0"/>
          </a:p>
        </p:txBody>
      </p:sp>
      <p:sp>
        <p:nvSpPr>
          <p:cNvPr id="5" name="Text 3"/>
          <p:cNvSpPr/>
          <p:nvPr/>
        </p:nvSpPr>
        <p:spPr>
          <a:xfrm>
            <a:off x="640080" y="1280160"/>
            <a:ext cx="7863840" cy="274320"/>
          </a:xfrm>
          <a:prstGeom prst="rect">
            <a:avLst/>
          </a:prstGeom>
          <a:noFill/>
          <a:ln/>
        </p:spPr>
        <p:txBody>
          <a:bodyPr wrap="square" rtlCol="0" anchor="ctr"/>
          <a:lstStyle/>
          <a:p>
            <a:pPr marL="0" indent="0">
              <a:buNone/>
            </a:pPr>
            <a:r>
              <a:rPr lang="en-US" sz="1300" dirty="0">
                <a:solidFill>
                  <a:srgbClr val="B0C4DE"/>
                </a:solidFill>
                <a:latin typeface="Calibri" pitchFamily="34" charset="0"/>
                <a:ea typeface="Calibri" pitchFamily="34" charset="-122"/>
                <a:cs typeface="Calibri" pitchFamily="34" charset="-120"/>
              </a:rPr>
              <a:t>Il faut pour ce faire déterminer préalablement la suite B de 7 :</a:t>
            </a:r>
            <a:endParaRPr lang="en-US" sz="1300" dirty="0"/>
          </a:p>
        </p:txBody>
      </p:sp>
      <p:sp>
        <p:nvSpPr>
          <p:cNvPr id="6" name="Shape 4"/>
          <p:cNvSpPr/>
          <p:nvPr/>
        </p:nvSpPr>
        <p:spPr>
          <a:xfrm>
            <a:off x="548640" y="157276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7" name="Text 5"/>
          <p:cNvSpPr/>
          <p:nvPr/>
        </p:nvSpPr>
        <p:spPr>
          <a:xfrm>
            <a:off x="640080" y="1645920"/>
            <a:ext cx="7863840" cy="36576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(6.5/2) × 2⁴ − 66 = −14  somme suite B(7)</a:t>
            </a:r>
            <a:endParaRPr lang="en-US" sz="1400" dirty="0"/>
          </a:p>
        </p:txBody>
      </p:sp>
      <p:sp>
        <p:nvSpPr>
          <p:cNvPr id="8" name="Text 6"/>
          <p:cNvSpPr/>
          <p:nvPr/>
        </p:nvSpPr>
        <p:spPr>
          <a:xfrm>
            <a:off x="640080" y="219456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Déterminer le Digamma calculé (7) :</a:t>
            </a:r>
            <a:endParaRPr lang="en-US" sz="1300" dirty="0"/>
          </a:p>
        </p:txBody>
      </p:sp>
      <p:sp>
        <p:nvSpPr>
          <p:cNvPr id="9" name="Shape 7"/>
          <p:cNvSpPr/>
          <p:nvPr/>
        </p:nvSpPr>
        <p:spPr>
          <a:xfrm>
            <a:off x="548640" y="248716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0" name="Text 8"/>
          <p:cNvSpPr/>
          <p:nvPr/>
        </p:nvSpPr>
        <p:spPr>
          <a:xfrm>
            <a:off x="640080" y="2560320"/>
            <a:ext cx="7863840" cy="36576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(−14/64 − 7) × 64 = −464  Digamma</a:t>
            </a:r>
            <a:endParaRPr lang="en-US" sz="1400" dirty="0"/>
          </a:p>
        </p:txBody>
      </p:sp>
      <p:sp>
        <p:nvSpPr>
          <p:cNvPr id="11" name="Shape 9"/>
          <p:cNvSpPr/>
          <p:nvPr/>
        </p:nvSpPr>
        <p:spPr>
          <a:xfrm>
            <a:off x="548640" y="312724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2" name="Text 10"/>
          <p:cNvSpPr/>
          <p:nvPr/>
        </p:nvSpPr>
        <p:spPr>
          <a:xfrm>
            <a:off x="640080" y="3200400"/>
            <a:ext cx="7863840" cy="502920"/>
          </a:xfrm>
          <a:prstGeom prst="rect">
            <a:avLst/>
          </a:prstGeom>
          <a:noFill/>
          <a:ln/>
        </p:spPr>
        <p:txBody>
          <a:bodyPr wrap="square" rtlCol="0" anchor="ctr"/>
          <a:lstStyle/>
          <a:p>
            <a:pPr marL="0" indent="0" algn="ctr">
              <a:buNone/>
            </a:pPr>
            <a:r>
              <a:rPr lang="en-US" sz="1500" b="1" dirty="0">
                <a:solidFill>
                  <a:srgbClr val="E0F7FA"/>
                </a:solidFill>
                <a:latin typeface="Calibri" pitchFamily="34" charset="0"/>
                <a:ea typeface="Calibri" pitchFamily="34" charset="-122"/>
                <a:cs typeface="Calibri" pitchFamily="34" charset="-120"/>
              </a:rPr>
              <a:t>(−1422 − −462) / 64 = −15  nombre entre 23 et 7</a:t>
            </a:r>
            <a:endParaRPr lang="en-US" sz="1500" dirty="0"/>
          </a:p>
        </p:txBody>
      </p:sp>
      <p:sp>
        <p:nvSpPr>
          <p:cNvPr id="13" name="Text 11"/>
          <p:cNvSpPr/>
          <p:nvPr/>
        </p:nvSpPr>
        <p:spPr>
          <a:xfrm>
            <a:off x="640080" y="3886200"/>
            <a:ext cx="7863840" cy="320040"/>
          </a:xfrm>
          <a:prstGeom prst="rect">
            <a:avLst/>
          </a:prstGeom>
          <a:noFill/>
          <a:ln/>
        </p:spPr>
        <p:txBody>
          <a:bodyPr wrap="square" rtlCol="0" anchor="ctr"/>
          <a:lstStyle/>
          <a:p>
            <a:pPr marL="0" indent="0">
              <a:buNone/>
            </a:pPr>
            <a:r>
              <a:rPr lang="en-US" sz="1300" dirty="0">
                <a:solidFill>
                  <a:srgbClr val="E0F7FA"/>
                </a:solidFill>
                <a:latin typeface="Calibri" pitchFamily="34" charset="0"/>
                <a:ea typeface="Calibri" pitchFamily="34" charset="-122"/>
                <a:cs typeface="Calibri" pitchFamily="34" charset="-120"/>
              </a:rPr>
              <a:t>8, 9, 10, 11, 12, 13, 14, 15, 16, 17, 18, 19, 20, 21, 22.</a:t>
            </a:r>
            <a:endParaRPr lang="en-US" sz="1300" dirty="0"/>
          </a:p>
        </p:txBody>
      </p:sp>
      <p:sp>
        <p:nvSpPr>
          <p:cNvPr id="14" name="Shape 12"/>
          <p:cNvSpPr/>
          <p:nvPr/>
        </p:nvSpPr>
        <p:spPr>
          <a:xfrm>
            <a:off x="1828800" y="4297680"/>
            <a:ext cx="5486400" cy="548640"/>
          </a:xfrm>
          <a:prstGeom prst="rect">
            <a:avLst/>
          </a:prstGeom>
          <a:solidFill>
            <a:srgbClr val="4FC3F7">
              <a:alpha val="15000"/>
            </a:srgbClr>
          </a:solidFill>
          <a:ln/>
          <a:effectLst>
            <a:outerShdw blurRad="76200" dist="25400" dir="8100000" algn="bl" rotWithShape="0">
              <a:srgbClr val="000000">
                <a:alpha val="15000"/>
              </a:srgbClr>
            </a:outerShdw>
          </a:effectLst>
        </p:spPr>
        <p:txBody>
          <a:bodyPr/>
          <a:lstStyle/>
          <a:p>
            <a:endParaRPr lang="fr-CA" dirty="0"/>
          </a:p>
        </p:txBody>
      </p:sp>
      <p:sp>
        <p:nvSpPr>
          <p:cNvPr id="15" name="Text 13"/>
          <p:cNvSpPr/>
          <p:nvPr/>
        </p:nvSpPr>
        <p:spPr>
          <a:xfrm>
            <a:off x="1828800" y="4297680"/>
            <a:ext cx="5486400" cy="54864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-15 nombre entre 23 et 7.</a:t>
            </a:r>
            <a:endParaRPr lang="en-US" sz="1800" dirty="0"/>
          </a:p>
        </p:txBody>
      </p:sp>
      <p:sp>
        <p:nvSpPr>
          <p:cNvPr id="16" name="Text 14"/>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Quantité de termes — Partie #3 Écart mixte (1/3)</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Quantité de nombre -31 et 17 :</a:t>
            </a:r>
            <a:endParaRPr lang="en-US" sz="1400" dirty="0"/>
          </a:p>
        </p:txBody>
      </p:sp>
      <p:sp>
        <p:nvSpPr>
          <p:cNvPr id="5" name="Text 3"/>
          <p:cNvSpPr/>
          <p:nvPr/>
        </p:nvSpPr>
        <p:spPr>
          <a:xfrm>
            <a:off x="640080" y="137160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Somme de la première suite de -29 :</a:t>
            </a:r>
            <a:endParaRPr lang="en-US" sz="1300" dirty="0"/>
          </a:p>
        </p:txBody>
      </p:sp>
      <p:sp>
        <p:nvSpPr>
          <p:cNvPr id="6" name="Shape 4"/>
          <p:cNvSpPr/>
          <p:nvPr/>
        </p:nvSpPr>
        <p:spPr>
          <a:xfrm>
            <a:off x="548640" y="161848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7" name="Text 5"/>
          <p:cNvSpPr/>
          <p:nvPr/>
        </p:nvSpPr>
        <p:spPr>
          <a:xfrm>
            <a:off x="640080" y="1691640"/>
            <a:ext cx="7863840" cy="36576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3.25 × 2⁻¹⁰ − 2 = −40895/20480  somme suite A(−29)</a:t>
            </a:r>
            <a:endParaRPr lang="en-US" sz="1300" dirty="0"/>
          </a:p>
        </p:txBody>
      </p:sp>
      <p:sp>
        <p:nvSpPr>
          <p:cNvPr id="8" name="Text 6"/>
          <p:cNvSpPr/>
          <p:nvPr/>
        </p:nvSpPr>
        <p:spPr>
          <a:xfrm>
            <a:off x="640080" y="224028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Somme suite B de 17 :</a:t>
            </a:r>
            <a:endParaRPr lang="en-US" sz="1300" dirty="0"/>
          </a:p>
        </p:txBody>
      </p:sp>
      <p:sp>
        <p:nvSpPr>
          <p:cNvPr id="9" name="Shape 7"/>
          <p:cNvSpPr/>
          <p:nvPr/>
        </p:nvSpPr>
        <p:spPr>
          <a:xfrm>
            <a:off x="548640" y="248716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0" name="Text 8"/>
          <p:cNvSpPr/>
          <p:nvPr/>
        </p:nvSpPr>
        <p:spPr>
          <a:xfrm>
            <a:off x="640080" y="2560320"/>
            <a:ext cx="7863840" cy="36576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6.5 × 2⁸ − 66 = 350</a:t>
            </a:r>
            <a:endParaRPr lang="en-US" sz="1400" dirty="0"/>
          </a:p>
        </p:txBody>
      </p:sp>
      <p:sp>
        <p:nvSpPr>
          <p:cNvPr id="11" name="Text 9"/>
          <p:cNvSpPr/>
          <p:nvPr/>
        </p:nvSpPr>
        <p:spPr>
          <a:xfrm>
            <a:off x="640080" y="310896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Digamma calculé de 17 :</a:t>
            </a:r>
            <a:endParaRPr lang="en-US" sz="1300" dirty="0"/>
          </a:p>
        </p:txBody>
      </p:sp>
      <p:sp>
        <p:nvSpPr>
          <p:cNvPr id="12" name="Shape 10"/>
          <p:cNvSpPr/>
          <p:nvPr/>
        </p:nvSpPr>
        <p:spPr>
          <a:xfrm>
            <a:off x="548640" y="335584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3" name="Text 11"/>
          <p:cNvSpPr/>
          <p:nvPr/>
        </p:nvSpPr>
        <p:spPr>
          <a:xfrm>
            <a:off x="640080" y="3429000"/>
            <a:ext cx="7863840" cy="36576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(350/64 − 17) × 64 = −738</a:t>
            </a:r>
            <a:endParaRPr lang="en-US" sz="1400" dirty="0"/>
          </a:p>
        </p:txBody>
      </p:sp>
      <p:sp>
        <p:nvSpPr>
          <p:cNvPr id="14" name="Shape 12"/>
          <p:cNvSpPr/>
          <p:nvPr/>
        </p:nvSpPr>
        <p:spPr>
          <a:xfrm>
            <a:off x="548640" y="395020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5" name="Text 13"/>
          <p:cNvSpPr/>
          <p:nvPr/>
        </p:nvSpPr>
        <p:spPr>
          <a:xfrm>
            <a:off x="640080" y="4023360"/>
            <a:ext cx="7863840" cy="41148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−(40895/20480) − (350 − 738) = −22323135/20480</a:t>
            </a:r>
            <a:endParaRPr lang="en-US" sz="1300" dirty="0"/>
          </a:p>
        </p:txBody>
      </p:sp>
      <p:sp>
        <p:nvSpPr>
          <p:cNvPr id="16" name="Text 14"/>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22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21394"/>
    </mc:Choice>
    <mc:Fallback>
      <p:transition spd="slow" advTm="2139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Quantité de termes — Partie #3 Écart mixte (2/3)</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Text 2"/>
          <p:cNvSpPr/>
          <p:nvPr/>
        </p:nvSpPr>
        <p:spPr>
          <a:xfrm>
            <a:off x="640080" y="960120"/>
            <a:ext cx="7863840" cy="274320"/>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Digamma calculé −31 :</a:t>
            </a:r>
            <a:endParaRPr lang="en-US" sz="1300" dirty="0"/>
          </a:p>
        </p:txBody>
      </p:sp>
      <p:sp>
        <p:nvSpPr>
          <p:cNvPr id="5" name="Shape 3"/>
          <p:cNvSpPr/>
          <p:nvPr/>
        </p:nvSpPr>
        <p:spPr>
          <a:xfrm>
            <a:off x="548640" y="120700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6" name="Text 4"/>
          <p:cNvSpPr/>
          <p:nvPr/>
        </p:nvSpPr>
        <p:spPr>
          <a:xfrm>
            <a:off x="640080" y="1280160"/>
            <a:ext cx="7863840" cy="36576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6.5 × 2⁻¹¹ − 66 = −1351615/20480</a:t>
            </a:r>
            <a:endParaRPr lang="en-US" sz="1400" dirty="0"/>
          </a:p>
        </p:txBody>
      </p:sp>
      <p:sp>
        <p:nvSpPr>
          <p:cNvPr id="7" name="Shape 5"/>
          <p:cNvSpPr/>
          <p:nvPr/>
        </p:nvSpPr>
        <p:spPr>
          <a:xfrm>
            <a:off x="548640" y="175564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8" name="Text 6"/>
          <p:cNvSpPr/>
          <p:nvPr/>
        </p:nvSpPr>
        <p:spPr>
          <a:xfrm>
            <a:off x="640080" y="1828800"/>
            <a:ext cx="7863840" cy="41148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(−1351615/20480) / 64 − (−31) × 64 = 39280705/20480</a:t>
            </a:r>
            <a:endParaRPr lang="en-US" sz="1300" dirty="0"/>
          </a:p>
        </p:txBody>
      </p:sp>
      <p:sp>
        <p:nvSpPr>
          <p:cNvPr id="9" name="Text 7"/>
          <p:cNvSpPr/>
          <p:nvPr/>
        </p:nvSpPr>
        <p:spPr>
          <a:xfrm>
            <a:off x="640080" y="2468880"/>
            <a:ext cx="7863840" cy="274320"/>
          </a:xfrm>
          <a:prstGeom prst="rect">
            <a:avLst/>
          </a:prstGeom>
          <a:noFill/>
          <a:ln/>
        </p:spPr>
        <p:txBody>
          <a:bodyPr wrap="square" rtlCol="0" anchor="ctr"/>
          <a:lstStyle/>
          <a:p>
            <a:pPr marL="0" indent="0">
              <a:buNone/>
            </a:pPr>
            <a:r>
              <a:rPr lang="en-US" sz="1300" b="1" dirty="0">
                <a:solidFill>
                  <a:srgbClr val="FFD54F"/>
                </a:solidFill>
                <a:latin typeface="Calibri" pitchFamily="34" charset="0"/>
                <a:ea typeface="Calibri" pitchFamily="34" charset="-122"/>
                <a:cs typeface="Calibri" pitchFamily="34" charset="-120"/>
              </a:rPr>
              <a:t>Résultat :</a:t>
            </a:r>
            <a:endParaRPr lang="en-US" sz="1300" dirty="0"/>
          </a:p>
        </p:txBody>
      </p:sp>
      <p:sp>
        <p:nvSpPr>
          <p:cNvPr id="10" name="Shape 8"/>
          <p:cNvSpPr/>
          <p:nvPr/>
        </p:nvSpPr>
        <p:spPr>
          <a:xfrm>
            <a:off x="548640" y="2715768"/>
            <a:ext cx="8046720" cy="64922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1" name="Text 9"/>
          <p:cNvSpPr/>
          <p:nvPr/>
        </p:nvSpPr>
        <p:spPr>
          <a:xfrm>
            <a:off x="640080" y="2788920"/>
            <a:ext cx="7863840" cy="502920"/>
          </a:xfrm>
          <a:prstGeom prst="rect">
            <a:avLst/>
          </a:prstGeom>
          <a:noFill/>
          <a:ln/>
        </p:spPr>
        <p:txBody>
          <a:bodyPr wrap="square" rtlCol="0" anchor="ctr"/>
          <a:lstStyle/>
          <a:p>
            <a:pPr marL="0" indent="0" algn="ctr">
              <a:buNone/>
            </a:pPr>
            <a:r>
              <a:rPr lang="en-US" sz="1300" b="1" dirty="0">
                <a:solidFill>
                  <a:srgbClr val="E0F7FA"/>
                </a:solidFill>
                <a:latin typeface="Calibri" pitchFamily="34" charset="0"/>
                <a:ea typeface="Calibri" pitchFamily="34" charset="-122"/>
                <a:cs typeface="Calibri" pitchFamily="34" charset="-120"/>
              </a:rPr>
              <a:t>(−22323135/20480) − (39280705/20480) / 64 = −47 nombres entre −31 et 17</a:t>
            </a:r>
            <a:endParaRPr lang="en-US" sz="1300" dirty="0"/>
          </a:p>
        </p:txBody>
      </p:sp>
      <p:sp>
        <p:nvSpPr>
          <p:cNvPr id="12" name="Shape 10"/>
          <p:cNvSpPr/>
          <p:nvPr/>
        </p:nvSpPr>
        <p:spPr>
          <a:xfrm>
            <a:off x="548640" y="3447288"/>
            <a:ext cx="8046720" cy="60350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3" name="Text 11"/>
          <p:cNvSpPr/>
          <p:nvPr/>
        </p:nvSpPr>
        <p:spPr>
          <a:xfrm>
            <a:off x="640080" y="3520440"/>
            <a:ext cx="7863840" cy="457200"/>
          </a:xfrm>
          <a:prstGeom prst="rect">
            <a:avLst/>
          </a:prstGeom>
          <a:noFill/>
          <a:ln/>
        </p:spPr>
        <p:txBody>
          <a:bodyPr wrap="square" rtlCol="0" anchor="ctr"/>
          <a:lstStyle/>
          <a:p>
            <a:pPr marL="0" indent="0" algn="ctr">
              <a:buNone/>
            </a:pPr>
            <a:r>
              <a:rPr lang="en-US" sz="1500" b="1" dirty="0">
                <a:solidFill>
                  <a:srgbClr val="E0F7FA"/>
                </a:solidFill>
                <a:latin typeface="Calibri" pitchFamily="34" charset="0"/>
                <a:ea typeface="Calibri" pitchFamily="34" charset="-122"/>
                <a:cs typeface="Calibri" pitchFamily="34" charset="-120"/>
              </a:rPr>
              <a:t>30 + 0(1) + 16 = −47 nombre entre -31 et 17</a:t>
            </a:r>
            <a:endParaRPr lang="en-US" sz="1500" dirty="0"/>
          </a:p>
        </p:txBody>
      </p:sp>
      <p:sp>
        <p:nvSpPr>
          <p:cNvPr id="14" name="Text 12"/>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23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6812"/>
    </mc:Choice>
    <mc:Fallback>
      <p:transition spd="slow" advTm="6812"/>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228600"/>
            <a:ext cx="7863840" cy="59436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Quantité de termes — Partie #3 Écart mixte (3/3)</a:t>
            </a:r>
            <a:endParaRPr lang="en-US" sz="2400" dirty="0"/>
          </a:p>
        </p:txBody>
      </p:sp>
      <p:sp>
        <p:nvSpPr>
          <p:cNvPr id="3" name="Shape 1"/>
          <p:cNvSpPr/>
          <p:nvPr/>
        </p:nvSpPr>
        <p:spPr>
          <a:xfrm>
            <a:off x="640080" y="841248"/>
            <a:ext cx="731520" cy="27432"/>
          </a:xfrm>
          <a:prstGeom prst="rect">
            <a:avLst/>
          </a:prstGeom>
          <a:solidFill>
            <a:srgbClr val="4FC3F7"/>
          </a:solidFill>
          <a:ln/>
        </p:spPr>
        <p:txBody>
          <a:bodyPr/>
          <a:lstStyle/>
          <a:p>
            <a:endParaRPr lang="fr-CA" dirty="0"/>
          </a:p>
        </p:txBody>
      </p:sp>
      <p:sp>
        <p:nvSpPr>
          <p:cNvPr id="4" name="Shape 2"/>
          <p:cNvSpPr/>
          <p:nvPr/>
        </p:nvSpPr>
        <p:spPr>
          <a:xfrm>
            <a:off x="548640" y="102412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5" name="Text 3"/>
          <p:cNvSpPr/>
          <p:nvPr/>
        </p:nvSpPr>
        <p:spPr>
          <a:xfrm>
            <a:off x="640080" y="1097280"/>
            <a:ext cx="7863840" cy="36576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Digamma calculé −31 : 6.5 × 2⁻¹¹ − 66 = −1351615/20480</a:t>
            </a:r>
            <a:endParaRPr lang="en-US" sz="1200" dirty="0"/>
          </a:p>
        </p:txBody>
      </p:sp>
      <p:sp>
        <p:nvSpPr>
          <p:cNvPr id="6" name="Shape 4"/>
          <p:cNvSpPr/>
          <p:nvPr/>
        </p:nvSpPr>
        <p:spPr>
          <a:xfrm>
            <a:off x="548640" y="1572768"/>
            <a:ext cx="8046720" cy="51206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7" name="Text 5"/>
          <p:cNvSpPr/>
          <p:nvPr/>
        </p:nvSpPr>
        <p:spPr>
          <a:xfrm>
            <a:off x="640080" y="1645920"/>
            <a:ext cx="7863840" cy="36576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(−1351615/20480) / 64 − (−31) × 64 = 39280705/20480</a:t>
            </a:r>
            <a:endParaRPr lang="en-US" sz="1200" dirty="0"/>
          </a:p>
        </p:txBody>
      </p:sp>
      <p:sp>
        <p:nvSpPr>
          <p:cNvPr id="8" name="Shape 6"/>
          <p:cNvSpPr/>
          <p:nvPr/>
        </p:nvSpPr>
        <p:spPr>
          <a:xfrm>
            <a:off x="548640" y="212140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9" name="Text 7"/>
          <p:cNvSpPr/>
          <p:nvPr/>
        </p:nvSpPr>
        <p:spPr>
          <a:xfrm>
            <a:off x="640080" y="2194560"/>
            <a:ext cx="7863840" cy="411480"/>
          </a:xfrm>
          <a:prstGeom prst="rect">
            <a:avLst/>
          </a:prstGeom>
          <a:noFill/>
          <a:ln/>
        </p:spPr>
        <p:txBody>
          <a:bodyPr wrap="square" rtlCol="0" anchor="ctr"/>
          <a:lstStyle/>
          <a:p>
            <a:pPr marL="0" indent="0" algn="ctr">
              <a:buNone/>
            </a:pPr>
            <a:r>
              <a:rPr lang="en-US" sz="1200" b="1" dirty="0">
                <a:solidFill>
                  <a:srgbClr val="E0F7FA"/>
                </a:solidFill>
                <a:latin typeface="Calibri" pitchFamily="34" charset="0"/>
                <a:ea typeface="Calibri" pitchFamily="34" charset="-122"/>
                <a:cs typeface="Calibri" pitchFamily="34" charset="-120"/>
              </a:rPr>
              <a:t>(−22323135/20480) − (39280705/20480) / 64 = −47 nombres entre −31 et 17</a:t>
            </a:r>
            <a:endParaRPr lang="en-US" sz="1200" dirty="0"/>
          </a:p>
        </p:txBody>
      </p:sp>
      <p:sp>
        <p:nvSpPr>
          <p:cNvPr id="10" name="Shape 8"/>
          <p:cNvSpPr/>
          <p:nvPr/>
        </p:nvSpPr>
        <p:spPr>
          <a:xfrm>
            <a:off x="548640" y="2715768"/>
            <a:ext cx="8046720" cy="557784"/>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1" name="Text 9"/>
          <p:cNvSpPr/>
          <p:nvPr/>
        </p:nvSpPr>
        <p:spPr>
          <a:xfrm>
            <a:off x="640080" y="2788920"/>
            <a:ext cx="7863840" cy="411480"/>
          </a:xfrm>
          <a:prstGeom prst="rect">
            <a:avLst/>
          </a:prstGeom>
          <a:noFill/>
          <a:ln/>
        </p:spPr>
        <p:txBody>
          <a:bodyPr wrap="square" rtlCol="0" anchor="ctr"/>
          <a:lstStyle/>
          <a:p>
            <a:pPr marL="0" indent="0" algn="ctr">
              <a:buNone/>
            </a:pPr>
            <a:r>
              <a:rPr lang="en-US" sz="1400" b="1" dirty="0">
                <a:solidFill>
                  <a:srgbClr val="E0F7FA"/>
                </a:solidFill>
                <a:latin typeface="Calibri" pitchFamily="34" charset="0"/>
                <a:ea typeface="Calibri" pitchFamily="34" charset="-122"/>
                <a:cs typeface="Calibri" pitchFamily="34" charset="-120"/>
              </a:rPr>
              <a:t>30 + 0(1) + 16 = −47 nombre entre -31 et 17</a:t>
            </a:r>
            <a:endParaRPr lang="en-US" sz="1400" dirty="0"/>
          </a:p>
        </p:txBody>
      </p:sp>
      <p:sp>
        <p:nvSpPr>
          <p:cNvPr id="12" name="Shape 10"/>
          <p:cNvSpPr/>
          <p:nvPr/>
        </p:nvSpPr>
        <p:spPr>
          <a:xfrm>
            <a:off x="640080" y="3474720"/>
            <a:ext cx="7863840" cy="1097280"/>
          </a:xfrm>
          <a:prstGeom prst="rect">
            <a:avLst/>
          </a:prstGeom>
          <a:solidFill>
            <a:srgbClr val="132B48"/>
          </a:solidFill>
          <a:ln/>
          <a:effectLst>
            <a:outerShdw blurRad="76200" dist="25400" dir="8100000" algn="bl" rotWithShape="0">
              <a:srgbClr val="000000">
                <a:alpha val="15000"/>
              </a:srgbClr>
            </a:outerShdw>
          </a:effectLst>
        </p:spPr>
        <p:txBody>
          <a:bodyPr/>
          <a:lstStyle/>
          <a:p>
            <a:endParaRPr lang="fr-CA" dirty="0"/>
          </a:p>
        </p:txBody>
      </p:sp>
      <p:sp>
        <p:nvSpPr>
          <p:cNvPr id="13" name="Text 11"/>
          <p:cNvSpPr/>
          <p:nvPr/>
        </p:nvSpPr>
        <p:spPr>
          <a:xfrm>
            <a:off x="822960" y="3566160"/>
            <a:ext cx="7498080" cy="914400"/>
          </a:xfrm>
          <a:prstGeom prst="rect">
            <a:avLst/>
          </a:prstGeom>
          <a:noFill/>
          <a:ln/>
        </p:spPr>
        <p:txBody>
          <a:bodyPr wrap="square" rtlCol="0" anchor="ctr"/>
          <a:lstStyle/>
          <a:p>
            <a:pPr marL="0" indent="0">
              <a:buNone/>
            </a:pPr>
            <a:r>
              <a:rPr lang="en-US" sz="1800" b="1" dirty="0">
                <a:solidFill>
                  <a:srgbClr val="FFD54F"/>
                </a:solidFill>
                <a:latin typeface="Georgia" pitchFamily="34" charset="0"/>
                <a:ea typeface="Georgia" pitchFamily="34" charset="-122"/>
                <a:cs typeface="Georgia" pitchFamily="34" charset="-120"/>
              </a:rPr>
              <a:t>Comme il est possible de l’observer l’écart mixte inclut 0</a:t>
            </a:r>
            <a:endParaRPr lang="en-US" sz="1800" dirty="0"/>
          </a:p>
        </p:txBody>
      </p:sp>
      <p:sp>
        <p:nvSpPr>
          <p:cNvPr id="14" name="Text 12"/>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24 / 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4FC3F7">
              <a:alpha val="7000"/>
            </a:srgbClr>
          </a:solidFill>
          <a:ln/>
        </p:spPr>
        <p:txBody>
          <a:bodyPr/>
          <a:lstStyle/>
          <a:p>
            <a:endParaRPr lang="fr-CA" dirty="0"/>
          </a:p>
        </p:txBody>
      </p:sp>
      <p:sp>
        <p:nvSpPr>
          <p:cNvPr id="3" name="Shape 1"/>
          <p:cNvSpPr/>
          <p:nvPr/>
        </p:nvSpPr>
        <p:spPr>
          <a:xfrm>
            <a:off x="6400800" y="1828800"/>
            <a:ext cx="4572000" cy="4572000"/>
          </a:xfrm>
          <a:prstGeom prst="ellipse">
            <a:avLst/>
          </a:prstGeom>
          <a:solidFill>
            <a:srgbClr val="FFD54F">
              <a:alpha val="6000"/>
            </a:srgbClr>
          </a:solidFill>
          <a:ln/>
        </p:spPr>
        <p:txBody>
          <a:bodyPr/>
          <a:lstStyle/>
          <a:p>
            <a:endParaRPr lang="fr-CA" dirty="0"/>
          </a:p>
        </p:txBody>
      </p:sp>
      <p:sp>
        <p:nvSpPr>
          <p:cNvPr id="4" name="Text 2"/>
          <p:cNvSpPr/>
          <p:nvPr/>
        </p:nvSpPr>
        <p:spPr>
          <a:xfrm>
            <a:off x="731520" y="914400"/>
            <a:ext cx="7680960" cy="128016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La géométrie du spectre</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des nombres premiers</a:t>
            </a:r>
            <a:endParaRPr lang="en-US" sz="3600" dirty="0"/>
          </a:p>
        </p:txBody>
      </p:sp>
      <p:sp>
        <p:nvSpPr>
          <p:cNvPr id="5" name="Shape 3"/>
          <p:cNvSpPr/>
          <p:nvPr/>
        </p:nvSpPr>
        <p:spPr>
          <a:xfrm>
            <a:off x="731520" y="2286000"/>
            <a:ext cx="1371600" cy="45720"/>
          </a:xfrm>
          <a:prstGeom prst="rect">
            <a:avLst/>
          </a:prstGeom>
          <a:solidFill>
            <a:srgbClr val="4FC3F7"/>
          </a:solidFill>
          <a:ln/>
        </p:spPr>
        <p:txBody>
          <a:bodyPr/>
          <a:lstStyle/>
          <a:p>
            <a:endParaRPr lang="fr-CA" dirty="0"/>
          </a:p>
        </p:txBody>
      </p:sp>
      <p:sp>
        <p:nvSpPr>
          <p:cNvPr id="6" name="Text 4"/>
          <p:cNvSpPr/>
          <p:nvPr/>
        </p:nvSpPr>
        <p:spPr>
          <a:xfrm>
            <a:off x="731520" y="2560320"/>
            <a:ext cx="7315200" cy="457200"/>
          </a:xfrm>
          <a:prstGeom prst="rect">
            <a:avLst/>
          </a:prstGeom>
          <a:noFill/>
          <a:ln/>
        </p:spPr>
        <p:txBody>
          <a:bodyPr wrap="square" rtlCol="0" anchor="ctr"/>
          <a:lstStyle/>
          <a:p>
            <a:pPr marL="0" indent="0">
              <a:buNone/>
            </a:pPr>
            <a:r>
              <a:rPr lang="en-US" sz="2000" dirty="0">
                <a:solidFill>
                  <a:srgbClr val="B0C4DE"/>
                </a:solidFill>
                <a:latin typeface="Calibri" pitchFamily="34" charset="0"/>
                <a:ea typeface="Calibri" pitchFamily="34" charset="-122"/>
                <a:cs typeface="Calibri" pitchFamily="34" charset="-120"/>
              </a:rPr>
              <a:t>Philippe Thomas Savard</a:t>
            </a:r>
            <a:endParaRPr lang="en-US" sz="2000" dirty="0"/>
          </a:p>
        </p:txBody>
      </p:sp>
      <p:sp>
        <p:nvSpPr>
          <p:cNvPr id="7" name="Text 5"/>
          <p:cNvSpPr/>
          <p:nvPr/>
        </p:nvSpPr>
        <p:spPr>
          <a:xfrm>
            <a:off x="731520" y="3108960"/>
            <a:ext cx="7315200" cy="365760"/>
          </a:xfrm>
          <a:prstGeom prst="rect">
            <a:avLst/>
          </a:prstGeom>
          <a:noFill/>
          <a:ln/>
        </p:spPr>
        <p:txBody>
          <a:bodyPr wrap="square" rtlCol="0" anchor="ctr"/>
          <a:lstStyle/>
          <a:p>
            <a:pPr marL="0" indent="0">
              <a:buNone/>
            </a:pPr>
            <a:r>
              <a:rPr lang="en-US" sz="1400" dirty="0">
                <a:solidFill>
                  <a:srgbClr val="6B8DAD"/>
                </a:solidFill>
                <a:latin typeface="Calibri" pitchFamily="34" charset="0"/>
                <a:ea typeface="Calibri" pitchFamily="34" charset="-122"/>
                <a:cs typeface="Calibri" pitchFamily="34" charset="-120"/>
              </a:rPr>
              <a:t>Lévis, Chaudière-Appalaches, Canada — 2026</a:t>
            </a:r>
            <a:endParaRPr lang="en-US" sz="1400" dirty="0"/>
          </a:p>
        </p:txBody>
      </p:sp>
      <p:sp>
        <p:nvSpPr>
          <p:cNvPr id="8" name="Text 6"/>
          <p:cNvSpPr/>
          <p:nvPr/>
        </p:nvSpPr>
        <p:spPr>
          <a:xfrm>
            <a:off x="731520" y="3566160"/>
            <a:ext cx="7315200" cy="365760"/>
          </a:xfrm>
          <a:prstGeom prst="rect">
            <a:avLst/>
          </a:prstGeom>
          <a:noFill/>
          <a:ln/>
        </p:spPr>
        <p:txBody>
          <a:bodyPr wrap="square" rtlCol="0" anchor="ctr"/>
          <a:lstStyle/>
          <a:p>
            <a:pPr marL="0" indent="0">
              <a:buNone/>
            </a:pPr>
            <a:r>
              <a:rPr lang="en-US" sz="1200" dirty="0">
                <a:solidFill>
                  <a:srgbClr val="6B8DAD"/>
                </a:solidFill>
                <a:latin typeface="Calibri" pitchFamily="34" charset="0"/>
                <a:ea typeface="Calibri" pitchFamily="34" charset="-122"/>
                <a:cs typeface="Calibri" pitchFamily="34" charset="-120"/>
              </a:rPr>
              <a:t>LICENSE Apach 2.0</a:t>
            </a:r>
            <a:endParaRPr lang="en-US" sz="1200" dirty="0"/>
          </a:p>
        </p:txBody>
      </p:sp>
      <p:sp>
        <p:nvSpPr>
          <p:cNvPr id="9" name="Text 7"/>
          <p:cNvSpPr/>
          <p:nvPr/>
        </p:nvSpPr>
        <p:spPr>
          <a:xfrm>
            <a:off x="7772400" y="4754880"/>
            <a:ext cx="1097280" cy="320040"/>
          </a:xfrm>
          <a:prstGeom prst="rect">
            <a:avLst/>
          </a:prstGeom>
          <a:noFill/>
          <a:ln/>
        </p:spPr>
        <p:txBody>
          <a:bodyPr wrap="square" rtlCol="0" anchor="ctr"/>
          <a:lstStyle/>
          <a:p>
            <a:pPr marL="0" indent="0" algn="r">
              <a:buNone/>
            </a:pPr>
            <a:r>
              <a:rPr lang="en-US" sz="900" dirty="0">
                <a:solidFill>
                  <a:srgbClr val="6B8DAD"/>
                </a:solidFill>
                <a:latin typeface="Calibri" pitchFamily="34" charset="0"/>
                <a:ea typeface="Calibri" pitchFamily="34" charset="-122"/>
                <a:cs typeface="Calibri" pitchFamily="34" charset="-120"/>
              </a:rPr>
              <a:t>25 / 25</a:t>
            </a:r>
            <a:endParaRPr lang="en-US" sz="900" dirty="0"/>
          </a:p>
        </p:txBody>
      </p:sp>
    </p:spTree>
  </p:cSld>
  <p:clrMapOvr>
    <a:masterClrMapping/>
  </p:clrMapOvr>
  <mc:AlternateContent xmlns:mc="http://schemas.openxmlformats.org/markup-compatibility/2006">
    <mc:Choice xmlns:p14="http://schemas.microsoft.com/office/powerpoint/2010/main" Requires="p14">
      <p:transition spd="slow" p14:dur="2000" advTm="41137"/>
    </mc:Choice>
    <mc:Fallback>
      <p:transition spd="slow" advTm="41137"/>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Banner"/>
          <p:cNvSpPr/>
          <p:nvPr/>
        </p:nvSpPr>
        <p:spPr>
          <a:xfrm>
            <a:off x="0" y="0"/>
            <a:ext cx="9144000" cy="1143000"/>
          </a:xfrm>
          <a:prstGeom prst="rect">
            <a:avLst/>
          </a:prstGeom>
          <a:solidFill>
            <a:srgbClr val="0A1628"/>
          </a:solidFill>
          <a:ln>
            <a:noFill/>
          </a:ln>
        </p:spPr>
        <p:txBody>
          <a:bodyPr wrap="square" lIns="457200" tIns="0" rIns="457200" bIns="0" anchor="ctr"/>
          <a:lstStyle/>
          <a:p>
            <a:pPr algn="l"/>
            <a:r>
              <a:rPr lang="fr-CA" sz="2800" b="1" dirty="0">
                <a:solidFill>
                  <a:srgbClr val="FFFFFF"/>
                </a:solidFill>
                <a:latin typeface="Calibri"/>
              </a:rPr>
              <a:t>La fonction Zêta et la droite critique</a:t>
            </a:r>
          </a:p>
        </p:txBody>
      </p:sp>
      <p:sp>
        <p:nvSpPr>
          <p:cNvPr id="3" name="AccentStripe"/>
          <p:cNvSpPr/>
          <p:nvPr/>
        </p:nvSpPr>
        <p:spPr>
          <a:xfrm>
            <a:off x="0" y="1143000"/>
            <a:ext cx="9144000" cy="45720"/>
          </a:xfrm>
          <a:prstGeom prst="rect">
            <a:avLst/>
          </a:prstGeom>
          <a:solidFill>
            <a:srgbClr val="4472C4"/>
          </a:solidFill>
          <a:ln>
            <a:noFill/>
          </a:ln>
        </p:spPr>
        <p:txBody>
          <a:bodyPr/>
          <a:lstStyle/>
          <a:p>
            <a:endParaRPr lang="fr-CA" dirty="0"/>
          </a:p>
        </p:txBody>
      </p:sp>
      <p:sp>
        <p:nvSpPr>
          <p:cNvPr id="4" name="Subtitle"/>
          <p:cNvSpPr txBox="1"/>
          <p:nvPr/>
        </p:nvSpPr>
        <p:spPr>
          <a:xfrm>
            <a:off x="457200" y="1325880"/>
            <a:ext cx="8229600" cy="400000"/>
          </a:xfrm>
          <a:prstGeom prst="rect">
            <a:avLst/>
          </a:prstGeom>
          <a:noFill/>
        </p:spPr>
        <p:txBody>
          <a:bodyPr wrap="square" lIns="0" tIns="0" rIns="0" bIns="0"/>
          <a:lstStyle/>
          <a:p>
            <a:r>
              <a:rPr lang="fr-CA" sz="1400" i="1" dirty="0">
                <a:solidFill>
                  <a:srgbClr val="44546A"/>
                </a:solidFill>
                <a:latin typeface="Calibri"/>
              </a:rPr>
              <a:t>Un plan trifocal reliant trois axiomatisations — la validation </a:t>
            </a:r>
            <a:r>
              <a:rPr lang="fr-CA" sz="1400" i="1" dirty="0" err="1">
                <a:solidFill>
                  <a:srgbClr val="44546A"/>
                </a:solidFill>
                <a:latin typeface="Calibri"/>
              </a:rPr>
              <a:t>methode_spectral.thy</a:t>
            </a:r>
            <a:r>
              <a:rPr lang="fr-CA" sz="1400" i="1" dirty="0">
                <a:solidFill>
                  <a:srgbClr val="44546A"/>
                </a:solidFill>
                <a:latin typeface="Calibri"/>
              </a:rPr>
              <a:t> en offre la démonstration.</a:t>
            </a:r>
          </a:p>
        </p:txBody>
      </p:sp>
      <p:sp>
        <p:nvSpPr>
          <p:cNvPr id="10" name="Card1Bg"/>
          <p:cNvSpPr/>
          <p:nvPr/>
        </p:nvSpPr>
        <p:spPr>
          <a:xfrm>
            <a:off x="457200" y="1874520"/>
            <a:ext cx="2438400" cy="2560320"/>
          </a:xfrm>
          <a:prstGeom prst="roundRect">
            <a:avLst>
              <a:gd name="adj" fmla="val 5000"/>
            </a:avLst>
          </a:prstGeom>
          <a:solidFill>
            <a:srgbClr val="EBF0F9"/>
          </a:solidFill>
          <a:ln w="12700">
            <a:solidFill>
              <a:srgbClr val="4472C4"/>
            </a:solidFill>
          </a:ln>
        </p:spPr>
        <p:txBody>
          <a:bodyPr wrap="square" lIns="137160" tIns="137160" rIns="137160" bIns="91440"/>
          <a:lstStyle/>
          <a:p>
            <a:pPr algn="l"/>
            <a:r>
              <a:rPr lang="fr-CA" sz="1600" b="1">
                <a:solidFill>
                  <a:srgbClr val="0A1628"/>
                </a:solidFill>
                <a:latin typeface="Calibri"/>
              </a:rPr>
              <a:t>La fonction Zêta</a:t>
            </a:r>
          </a:p>
          <a:p>
            <a:pPr algn="l"/>
            <a:endParaRPr lang="fr-CA" sz="800">
              <a:solidFill>
                <a:srgbClr val="44546A"/>
              </a:solidFill>
            </a:endParaRPr>
          </a:p>
          <a:p>
            <a:pPr algn="l"/>
            <a:r>
              <a:rPr lang="fr-CA" sz="1200">
                <a:solidFill>
                  <a:srgbClr val="44546A"/>
                </a:solidFill>
                <a:latin typeface="Calibri"/>
              </a:rPr>
              <a:t>La géométrie du spectre des nombres premiers démontre que pour toutes les valeurs de n ≥ 1 et n ≤ −1, chaque n ramène à un nombre premier P.</a:t>
            </a:r>
          </a:p>
          <a:p>
            <a:pPr algn="l"/>
            <a:endParaRPr lang="fr-CA" sz="800">
              <a:solidFill>
                <a:srgbClr val="44546A"/>
              </a:solidFill>
            </a:endParaRPr>
          </a:p>
          <a:p>
            <a:pPr algn="l"/>
            <a:r>
              <a:rPr lang="fr-CA" sz="1200">
                <a:solidFill>
                  <a:srgbClr val="44546A"/>
                </a:solidFill>
                <a:latin typeface="Calibri"/>
              </a:rPr>
              <a:t>Le rapport spectral ½ est validé entre tous les premiers par les suites A et B.</a:t>
            </a:r>
          </a:p>
        </p:txBody>
      </p:sp>
      <p:sp>
        <p:nvSpPr>
          <p:cNvPr id="11" name="Card2Bg"/>
          <p:cNvSpPr/>
          <p:nvPr/>
        </p:nvSpPr>
        <p:spPr>
          <a:xfrm>
            <a:off x="3124200" y="1874520"/>
            <a:ext cx="2438400" cy="2560320"/>
          </a:xfrm>
          <a:prstGeom prst="roundRect">
            <a:avLst>
              <a:gd name="adj" fmla="val 5000"/>
            </a:avLst>
          </a:prstGeom>
          <a:solidFill>
            <a:srgbClr val="EBF0F9"/>
          </a:solidFill>
          <a:ln w="12700">
            <a:solidFill>
              <a:srgbClr val="4472C4"/>
            </a:solidFill>
          </a:ln>
        </p:spPr>
        <p:txBody>
          <a:bodyPr wrap="square" lIns="137160" tIns="137160" rIns="137160" bIns="91440"/>
          <a:lstStyle/>
          <a:p>
            <a:pPr algn="l"/>
            <a:r>
              <a:rPr lang="fr-CA" sz="1600" b="1">
                <a:solidFill>
                  <a:srgbClr val="0A1628"/>
                </a:solidFill>
                <a:latin typeface="Calibri"/>
              </a:rPr>
              <a:t>La conjecture de Riemann</a:t>
            </a:r>
          </a:p>
          <a:p>
            <a:pPr algn="l"/>
            <a:endParaRPr lang="fr-CA" sz="800">
              <a:solidFill>
                <a:srgbClr val="44546A"/>
              </a:solidFill>
            </a:endParaRPr>
          </a:p>
          <a:p>
            <a:pPr algn="l"/>
            <a:r>
              <a:rPr lang="fr-CA" sz="1200">
                <a:solidFill>
                  <a:srgbClr val="44546A"/>
                </a:solidFill>
                <a:latin typeface="Calibri"/>
              </a:rPr>
              <a:t>Trois axiomatisations forment un plan trifocal dont la position d’observation commune est l’écart mixte.</a:t>
            </a:r>
          </a:p>
          <a:p>
            <a:pPr algn="l"/>
            <a:endParaRPr lang="fr-CA" sz="800">
              <a:solidFill>
                <a:srgbClr val="44546A"/>
              </a:solidFill>
            </a:endParaRPr>
          </a:p>
          <a:p>
            <a:pPr algn="l"/>
            <a:r>
              <a:rPr lang="fr-CA" sz="1200">
                <a:solidFill>
                  <a:srgbClr val="44546A"/>
                </a:solidFill>
                <a:latin typeface="Calibri"/>
              </a:rPr>
              <a:t>Cette double observation depuis une position différente permet une nouvelle lecture de la conjecture.</a:t>
            </a:r>
          </a:p>
        </p:txBody>
      </p:sp>
      <p:sp>
        <p:nvSpPr>
          <p:cNvPr id="12" name="Card3Bg"/>
          <p:cNvSpPr/>
          <p:nvPr/>
        </p:nvSpPr>
        <p:spPr>
          <a:xfrm>
            <a:off x="5791200" y="1874520"/>
            <a:ext cx="2438400" cy="2560320"/>
          </a:xfrm>
          <a:prstGeom prst="roundRect">
            <a:avLst>
              <a:gd name="adj" fmla="val 5000"/>
            </a:avLst>
          </a:prstGeom>
          <a:solidFill>
            <a:srgbClr val="EBF0F9"/>
          </a:solidFill>
          <a:ln w="12700">
            <a:solidFill>
              <a:srgbClr val="4472C4"/>
            </a:solidFill>
          </a:ln>
        </p:spPr>
        <p:txBody>
          <a:bodyPr wrap="square" lIns="137160" tIns="137160" rIns="137160" bIns="91440"/>
          <a:lstStyle/>
          <a:p>
            <a:pPr algn="l"/>
            <a:r>
              <a:rPr lang="fr-CA" sz="1600" b="1">
                <a:solidFill>
                  <a:srgbClr val="0A1628"/>
                </a:solidFill>
                <a:latin typeface="Calibri"/>
              </a:rPr>
              <a:t>La méthode spectrale</a:t>
            </a:r>
          </a:p>
          <a:p>
            <a:pPr algn="l"/>
            <a:endParaRPr lang="fr-CA" sz="800">
              <a:solidFill>
                <a:srgbClr val="44546A"/>
              </a:solidFill>
            </a:endParaRPr>
          </a:p>
          <a:p>
            <a:pPr algn="l"/>
            <a:r>
              <a:rPr lang="fr-CA" sz="1200">
                <a:solidFill>
                  <a:srgbClr val="44546A"/>
                </a:solidFill>
                <a:latin typeface="Calibri"/>
              </a:rPr>
              <a:t>L’écart mixte est la position commune qui joint les trois points focaux et offre une observation innovante.</a:t>
            </a:r>
          </a:p>
          <a:p>
            <a:pPr algn="l"/>
            <a:endParaRPr lang="fr-CA" sz="800">
              <a:solidFill>
                <a:srgbClr val="44546A"/>
              </a:solidFill>
            </a:endParaRPr>
          </a:p>
          <a:p>
            <a:pPr algn="l"/>
            <a:r>
              <a:rPr lang="fr-CA" sz="1200">
                <a:solidFill>
                  <a:srgbClr val="44546A"/>
                </a:solidFill>
                <a:latin typeface="Calibri"/>
              </a:rPr>
              <a:t>Les exemples des diapositives précédentes illustrent cette validation par methode_spectral.thy.</a:t>
            </a:r>
          </a:p>
        </p:txBody>
      </p:sp>
      <p:sp>
        <p:nvSpPr>
          <p:cNvPr id="20" name="ConnectorLabel"/>
          <p:cNvSpPr txBox="1"/>
          <p:nvPr/>
        </p:nvSpPr>
        <p:spPr>
          <a:xfrm>
            <a:off x="2286000" y="4617720"/>
            <a:ext cx="4572000" cy="320040"/>
          </a:xfrm>
          <a:prstGeom prst="roundRect">
            <a:avLst>
              <a:gd name="adj" fmla="val 16667"/>
            </a:avLst>
          </a:prstGeom>
          <a:solidFill>
            <a:srgbClr val="0A1628"/>
          </a:solidFill>
          <a:ln>
            <a:noFill/>
          </a:ln>
        </p:spPr>
        <p:txBody>
          <a:bodyPr wrap="square" lIns="91440" tIns="0" rIns="91440" bIns="0" anchor="ctr"/>
          <a:lstStyle/>
          <a:p>
            <a:pPr algn="ctr"/>
            <a:r>
              <a:rPr lang="fr-CA" sz="1200" b="1">
                <a:solidFill>
                  <a:srgbClr val="FFFFFF"/>
                </a:solidFill>
                <a:latin typeface="Calibri"/>
              </a:rPr>
              <a:t>Position commune → L’écart mixte → Nouvelle observation</a:t>
            </a:r>
          </a:p>
        </p:txBody>
      </p:sp>
    </p:spTree>
    <p:extLst>
      <p:ext uri="{BB962C8B-B14F-4D97-AF65-F5344CB8AC3E}">
        <p14:creationId xmlns:p14="http://schemas.microsoft.com/office/powerpoint/2010/main" val="671718476"/>
      </p:ext>
    </p:extLst>
  </p:cSld>
  <p:clrMapOvr>
    <a:masterClrMapping/>
  </p:clrMapOvr>
  <mc:AlternateContent xmlns:mc="http://schemas.openxmlformats.org/markup-compatibility/2006">
    <mc:Choice xmlns:p14="http://schemas.microsoft.com/office/powerpoint/2010/main" Requires="p14">
      <p:transition spd="slow" p14:dur="2000" advTm="152577"/>
    </mc:Choice>
    <mc:Fallback>
      <p:transition spd="slow" advTm="15257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Banner"/>
          <p:cNvSpPr/>
          <p:nvPr/>
        </p:nvSpPr>
        <p:spPr>
          <a:xfrm>
            <a:off x="0" y="0"/>
            <a:ext cx="9144000" cy="914400"/>
          </a:xfrm>
          <a:prstGeom prst="rect">
            <a:avLst/>
          </a:prstGeom>
          <a:solidFill>
            <a:srgbClr val="0A1628"/>
          </a:solidFill>
          <a:ln>
            <a:noFill/>
          </a:ln>
        </p:spPr>
        <p:txBody>
          <a:bodyPr wrap="square" lIns="457200" tIns="0" rIns="457200" bIns="0" anchor="ctr"/>
          <a:lstStyle/>
          <a:p>
            <a:pPr algn="l"/>
            <a:r>
              <a:rPr lang="fr-CA" sz="2200" b="1">
                <a:solidFill>
                  <a:srgbClr val="FFFFFF"/>
                </a:solidFill>
                <a:latin typeface="Calibri"/>
              </a:rPr>
              <a:t>Quadrature de la parabole et zéros critiques</a:t>
            </a:r>
          </a:p>
        </p:txBody>
      </p:sp>
      <p:sp>
        <p:nvSpPr>
          <p:cNvPr id="4" name="AccentStripe"/>
          <p:cNvSpPr/>
          <p:nvPr/>
        </p:nvSpPr>
        <p:spPr>
          <a:xfrm>
            <a:off x="0" y="914400"/>
            <a:ext cx="9144000" cy="45720"/>
          </a:xfrm>
          <a:prstGeom prst="rect">
            <a:avLst/>
          </a:prstGeom>
          <a:solidFill>
            <a:srgbClr val="4472C4"/>
          </a:solidFill>
          <a:ln>
            <a:noFill/>
          </a:ln>
        </p:spPr>
        <p:txBody>
          <a:bodyPr/>
          <a:lstStyle/>
          <a:p>
            <a:endParaRPr lang="fr-CA"/>
          </a:p>
        </p:txBody>
      </p:sp>
      <p:pic>
        <p:nvPicPr>
          <p:cNvPr id="3" name="Image 2" descr="quadrature_parabole_zero_critique"/>
          <p:cNvPicPr>
            <a:picLocks noChangeAspect="1"/>
          </p:cNvPicPr>
          <p:nvPr/>
        </p:nvPicPr>
        <p:blipFill>
          <a:blip r:embed="rId3"/>
          <a:stretch>
            <a:fillRect/>
          </a:stretch>
        </p:blipFill>
        <p:spPr>
          <a:xfrm>
            <a:off x="457200" y="1097280"/>
            <a:ext cx="5029200" cy="3657600"/>
          </a:xfrm>
          <a:prstGeom prst="rect">
            <a:avLst/>
          </a:prstGeom>
          <a:ln w="12700">
            <a:solidFill>
              <a:srgbClr val="E7E6E6"/>
            </a:solidFill>
          </a:ln>
        </p:spPr>
      </p:pic>
      <p:sp>
        <p:nvSpPr>
          <p:cNvPr id="5" name="TextPanel"/>
          <p:cNvSpPr txBox="1"/>
          <p:nvPr/>
        </p:nvSpPr>
        <p:spPr>
          <a:xfrm>
            <a:off x="5715000" y="1097280"/>
            <a:ext cx="2971800" cy="3657600"/>
          </a:xfrm>
          <a:prstGeom prst="roundRect">
            <a:avLst>
              <a:gd name="adj" fmla="val 3000"/>
            </a:avLst>
          </a:prstGeom>
          <a:solidFill>
            <a:srgbClr val="EBF0F9"/>
          </a:solidFill>
          <a:ln w="12700">
            <a:solidFill>
              <a:srgbClr val="4472C4"/>
            </a:solidFill>
          </a:ln>
        </p:spPr>
        <p:txBody>
          <a:bodyPr wrap="square" lIns="137160" tIns="137160" rIns="137160" bIns="91440"/>
          <a:lstStyle/>
          <a:p>
            <a:r>
              <a:rPr lang="fr-CA" sz="1400" b="1">
                <a:solidFill>
                  <a:srgbClr val="0A1628"/>
                </a:solidFill>
                <a:latin typeface="Calibri"/>
              </a:rPr>
              <a:t>Lecture du schéma</a:t>
            </a:r>
          </a:p>
          <a:p>
            <a:endParaRPr lang="fr-CA" sz="600"/>
          </a:p>
          <a:p>
            <a:r>
              <a:rPr lang="fr-CA" sz="1100">
                <a:solidFill>
                  <a:srgbClr val="44546A"/>
                </a:solidFill>
                <a:latin typeface="Calibri"/>
              </a:rPr>
              <a:t>Ce schéma illustre la quadrature de la parabole formée par la courbure de la droite critique sous l’effet de l’écart mixte.</a:t>
            </a:r>
          </a:p>
          <a:p>
            <a:endParaRPr lang="fr-CA" sz="600"/>
          </a:p>
          <a:p>
            <a:r>
              <a:rPr lang="fr-CA" sz="1100" b="1">
                <a:solidFill>
                  <a:srgbClr val="4472C4"/>
                </a:solidFill>
                <a:latin typeface="Calibri"/>
              </a:rPr>
              <a:t>Méthode d’Archimède</a:t>
            </a:r>
          </a:p>
          <a:p>
            <a:r>
              <a:rPr lang="fr-CA" sz="1100">
                <a:solidFill>
                  <a:srgbClr val="44546A"/>
                </a:solidFill>
                <a:latin typeface="Calibri"/>
              </a:rPr>
              <a:t>La pesée démontre que l’aire de Tr est égale à l’aire de la parabole (× ⁴⁄₃).</a:t>
            </a:r>
          </a:p>
          <a:p>
            <a:endParaRPr lang="fr-CA" sz="600"/>
          </a:p>
          <a:p>
            <a:r>
              <a:rPr lang="fr-CA" sz="1100" b="1">
                <a:solidFill>
                  <a:srgbClr val="4472C4"/>
                </a:solidFill>
                <a:latin typeface="Calibri"/>
              </a:rPr>
              <a:t>Théorème de Thalès</a:t>
            </a:r>
          </a:p>
          <a:p>
            <a:r>
              <a:rPr lang="fr-CA" sz="1100">
                <a:solidFill>
                  <a:srgbClr val="44546A"/>
                </a:solidFill>
                <a:latin typeface="Calibri"/>
              </a:rPr>
              <a:t>Le rapport entre l’aire de la parabole × OE et l’aire du triangle inscrit × OH révèle une inégalité.</a:t>
            </a:r>
          </a:p>
        </p:txBody>
      </p:sp>
    </p:spTree>
    <p:extLst>
      <p:ext uri="{BB962C8B-B14F-4D97-AF65-F5344CB8AC3E}">
        <p14:creationId xmlns:p14="http://schemas.microsoft.com/office/powerpoint/2010/main" val="2833722829"/>
      </p:ext>
    </p:extLst>
  </p:cSld>
  <p:clrMapOvr>
    <a:masterClrMapping/>
  </p:clrMapOvr>
  <mc:AlternateContent xmlns:mc="http://schemas.openxmlformats.org/markup-compatibility/2006">
    <mc:Choice xmlns:p14="http://schemas.microsoft.com/office/powerpoint/2010/main" Requires="p14">
      <p:transition spd="slow" p14:dur="2000" advTm="39205"/>
    </mc:Choice>
    <mc:Fallback>
      <p:transition spd="slow" advTm="39205"/>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Banner"/>
          <p:cNvSpPr/>
          <p:nvPr/>
        </p:nvSpPr>
        <p:spPr>
          <a:xfrm>
            <a:off x="0" y="0"/>
            <a:ext cx="9144000" cy="914400"/>
          </a:xfrm>
          <a:prstGeom prst="rect">
            <a:avLst/>
          </a:prstGeom>
          <a:solidFill>
            <a:srgbClr val="0A1628"/>
          </a:solidFill>
          <a:ln>
            <a:noFill/>
          </a:ln>
        </p:spPr>
        <p:txBody>
          <a:bodyPr wrap="square" lIns="457200" tIns="0" rIns="457200" bIns="0" anchor="ctr"/>
          <a:lstStyle/>
          <a:p>
            <a:pPr algn="l"/>
            <a:r>
              <a:rPr lang="fr-CA" sz="2200" b="1">
                <a:solidFill>
                  <a:srgbClr val="FFFFFF"/>
                </a:solidFill>
                <a:latin typeface="Calibri"/>
              </a:rPr>
              <a:t>L’écart mixte et la droite critique</a:t>
            </a:r>
          </a:p>
        </p:txBody>
      </p:sp>
      <p:sp>
        <p:nvSpPr>
          <p:cNvPr id="3" name="AccentStripe"/>
          <p:cNvSpPr/>
          <p:nvPr/>
        </p:nvSpPr>
        <p:spPr>
          <a:xfrm>
            <a:off x="0" y="914400"/>
            <a:ext cx="9144000" cy="45720"/>
          </a:xfrm>
          <a:prstGeom prst="rect">
            <a:avLst/>
          </a:prstGeom>
          <a:solidFill>
            <a:srgbClr val="4472C4"/>
          </a:solidFill>
          <a:ln>
            <a:noFill/>
          </a:ln>
        </p:spPr>
        <p:txBody>
          <a:bodyPr/>
          <a:lstStyle/>
          <a:p>
            <a:endParaRPr lang="fr-CA"/>
          </a:p>
        </p:txBody>
      </p:sp>
      <p:sp>
        <p:nvSpPr>
          <p:cNvPr id="10" name="LeftHeader"/>
          <p:cNvSpPr txBox="1"/>
          <p:nvPr/>
        </p:nvSpPr>
        <p:spPr>
          <a:xfrm>
            <a:off x="457200" y="1097280"/>
            <a:ext cx="3886200" cy="320040"/>
          </a:xfrm>
          <a:prstGeom prst="rect">
            <a:avLst/>
          </a:prstGeom>
          <a:solidFill>
            <a:srgbClr val="4472C4"/>
          </a:solidFill>
          <a:ln>
            <a:noFill/>
          </a:ln>
        </p:spPr>
        <p:txBody>
          <a:bodyPr wrap="square" lIns="91440" tIns="0" rIns="91440" bIns="0" anchor="ctr"/>
          <a:lstStyle/>
          <a:p>
            <a:r>
              <a:rPr lang="fr-CA" sz="1400" b="1">
                <a:solidFill>
                  <a:srgbClr val="FFFFFF"/>
                </a:solidFill>
                <a:latin typeface="Calibri"/>
              </a:rPr>
              <a:t>La fonction Zêta et la droite critique</a:t>
            </a:r>
          </a:p>
        </p:txBody>
      </p:sp>
      <p:sp>
        <p:nvSpPr>
          <p:cNvPr id="11" name="LeftBody"/>
          <p:cNvSpPr txBox="1"/>
          <p:nvPr/>
        </p:nvSpPr>
        <p:spPr>
          <a:xfrm>
            <a:off x="457200" y="1463040"/>
            <a:ext cx="3886200" cy="2560320"/>
          </a:xfrm>
          <a:prstGeom prst="rect">
            <a:avLst/>
          </a:prstGeom>
          <a:solidFill>
            <a:srgbClr val="EBF0F9"/>
          </a:solidFill>
          <a:ln>
            <a:noFill/>
          </a:ln>
        </p:spPr>
        <p:txBody>
          <a:bodyPr wrap="square" lIns="137160" tIns="137160" rIns="137160" bIns="91440"/>
          <a:lstStyle/>
          <a:p>
            <a:r>
              <a:rPr lang="fr-CA" sz="1200" dirty="0">
                <a:solidFill>
                  <a:srgbClr val="44546A"/>
                </a:solidFill>
                <a:latin typeface="Calibri"/>
              </a:rPr>
              <a:t>La fonction zêta — pas nécessairement celle de Riemann, mais la fonction zêta en elle-même — détermine la position de tous les nombres premiers.</a:t>
            </a:r>
          </a:p>
          <a:p>
            <a:endParaRPr lang="fr-CA" sz="600" dirty="0"/>
          </a:p>
          <a:p>
            <a:r>
              <a:rPr lang="fr-CA" sz="1200" dirty="0">
                <a:solidFill>
                  <a:srgbClr val="44546A"/>
                </a:solidFill>
                <a:latin typeface="Calibri"/>
              </a:rPr>
              <a:t>La droite critique, où se trouvent tous les zéros non-triviaux avec </a:t>
            </a:r>
            <a:r>
              <a:rPr lang="fr-CA" sz="1200" dirty="0" err="1">
                <a:solidFill>
                  <a:srgbClr val="44546A"/>
                </a:solidFill>
                <a:latin typeface="Calibri"/>
              </a:rPr>
              <a:t>Rs</a:t>
            </a:r>
            <a:r>
              <a:rPr lang="fr-CA" sz="1200" dirty="0">
                <a:solidFill>
                  <a:srgbClr val="44546A"/>
                </a:solidFill>
                <a:latin typeface="Calibri"/>
              </a:rPr>
              <a:t> = ½, peut être représentée par l’aire d’un rectangle Ts.</a:t>
            </a:r>
          </a:p>
          <a:p>
            <a:endParaRPr lang="fr-CA" sz="600" dirty="0"/>
          </a:p>
          <a:p>
            <a:r>
              <a:rPr lang="fr-CA" sz="1200" dirty="0">
                <a:solidFill>
                  <a:srgbClr val="44546A"/>
                </a:solidFill>
                <a:latin typeface="Calibri"/>
              </a:rPr>
              <a:t>Le rapport spectral 1/k = ½ de la méthode spectrale est démontré entre tous les nombres premiers, comme l’axiomatisation Isabelle le met en évidence.</a:t>
            </a:r>
          </a:p>
        </p:txBody>
      </p:sp>
      <p:sp>
        <p:nvSpPr>
          <p:cNvPr id="12" name="RightHeader"/>
          <p:cNvSpPr txBox="1"/>
          <p:nvPr/>
        </p:nvSpPr>
        <p:spPr>
          <a:xfrm>
            <a:off x="4572000" y="1097280"/>
            <a:ext cx="4114800" cy="320040"/>
          </a:xfrm>
          <a:prstGeom prst="rect">
            <a:avLst/>
          </a:prstGeom>
          <a:solidFill>
            <a:srgbClr val="0A1628"/>
          </a:solidFill>
          <a:ln>
            <a:noFill/>
          </a:ln>
        </p:spPr>
        <p:txBody>
          <a:bodyPr wrap="square" lIns="91440" tIns="0" rIns="91440" bIns="0" anchor="ctr"/>
          <a:lstStyle/>
          <a:p>
            <a:r>
              <a:rPr lang="fr-CA" sz="1400" b="1">
                <a:solidFill>
                  <a:srgbClr val="FFFFFF"/>
                </a:solidFill>
                <a:latin typeface="Calibri"/>
              </a:rPr>
              <a:t>Propriétés de l’écart mixte</a:t>
            </a:r>
          </a:p>
        </p:txBody>
      </p:sp>
      <p:sp>
        <p:nvSpPr>
          <p:cNvPr id="13" name="RightBody"/>
          <p:cNvSpPr txBox="1"/>
          <p:nvPr/>
        </p:nvSpPr>
        <p:spPr>
          <a:xfrm>
            <a:off x="4572000" y="1463040"/>
            <a:ext cx="4114800" cy="2560320"/>
          </a:xfrm>
          <a:prstGeom prst="rect">
            <a:avLst/>
          </a:prstGeom>
          <a:solidFill>
            <a:srgbClr val="EBF0F9"/>
          </a:solidFill>
          <a:ln>
            <a:noFill/>
          </a:ln>
        </p:spPr>
        <p:txBody>
          <a:bodyPr wrap="square" lIns="137160" tIns="137160" rIns="137160" bIns="91440"/>
          <a:lstStyle/>
          <a:p>
            <a:r>
              <a:rPr lang="fr-CA" sz="1200" dirty="0">
                <a:solidFill>
                  <a:srgbClr val="44546A"/>
                </a:solidFill>
                <a:latin typeface="Calibri"/>
              </a:rPr>
              <a:t>L’écart mixte permet autant de combinaisons que les écarts simples (−,−) et (+,+), mais inclut en plus les comparaisons identiques : −2/2, −3/3, −5/5 …</a:t>
            </a:r>
          </a:p>
          <a:p>
            <a:endParaRPr lang="fr-CA" sz="600" dirty="0"/>
          </a:p>
          <a:p>
            <a:r>
              <a:rPr lang="fr-CA" sz="1200" b="1" dirty="0">
                <a:solidFill>
                  <a:srgbClr val="4472C4"/>
                </a:solidFill>
                <a:latin typeface="Calibri"/>
              </a:rPr>
              <a:t>Conséquence :</a:t>
            </a:r>
            <a:r>
              <a:rPr lang="fr-CA" sz="1200" dirty="0">
                <a:solidFill>
                  <a:srgbClr val="44546A"/>
                </a:solidFill>
                <a:latin typeface="Calibri"/>
              </a:rPr>
              <a:t> il y a plus de nombres premiers couverts par l’écart mixte dans un intervalle donné.</a:t>
            </a:r>
          </a:p>
          <a:p>
            <a:endParaRPr lang="fr-CA" sz="600" dirty="0"/>
          </a:p>
          <a:p>
            <a:r>
              <a:rPr lang="fr-CA" sz="1200" dirty="0">
                <a:solidFill>
                  <a:srgbClr val="44546A"/>
                </a:solidFill>
                <a:latin typeface="Calibri"/>
              </a:rPr>
              <a:t>Pour un intervalle de premiers P, l’aire complète Ts serait tronquée en Tr, laissant un reste </a:t>
            </a:r>
            <a:r>
              <a:rPr lang="fr-CA" sz="1200" dirty="0" err="1">
                <a:solidFill>
                  <a:srgbClr val="44546A"/>
                </a:solidFill>
                <a:latin typeface="Calibri"/>
              </a:rPr>
              <a:t>Tn</a:t>
            </a:r>
            <a:r>
              <a:rPr lang="fr-CA" sz="1200" dirty="0">
                <a:solidFill>
                  <a:srgbClr val="44546A"/>
                </a:solidFill>
                <a:latin typeface="Calibri"/>
              </a:rPr>
              <a:t> = Ts − Tr.</a:t>
            </a:r>
          </a:p>
          <a:p>
            <a:endParaRPr lang="fr-CA" sz="600" dirty="0"/>
          </a:p>
          <a:p>
            <a:r>
              <a:rPr lang="fr-CA" sz="1200" dirty="0">
                <a:solidFill>
                  <a:srgbClr val="44546A"/>
                </a:solidFill>
                <a:latin typeface="Calibri"/>
              </a:rPr>
              <a:t>Chaque combinaison de l’écart mixte ajoute +1, donnant à P une valeur relative plus grande. Cette quantité supérieure et le +1 ajouté </a:t>
            </a:r>
            <a:r>
              <a:rPr lang="fr-CA" sz="1200" b="1" dirty="0">
                <a:solidFill>
                  <a:srgbClr val="0A1628"/>
                </a:solidFill>
                <a:latin typeface="Calibri"/>
              </a:rPr>
              <a:t>viendraient courber la droite critique</a:t>
            </a:r>
            <a:r>
              <a:rPr lang="fr-CA" sz="1200" dirty="0">
                <a:solidFill>
                  <a:srgbClr val="44546A"/>
                </a:solidFill>
                <a:latin typeface="Calibri"/>
              </a:rPr>
              <a:t> sur l’intervalle considéré.</a:t>
            </a:r>
          </a:p>
        </p:txBody>
      </p:sp>
    </p:spTree>
    <p:extLst>
      <p:ext uri="{BB962C8B-B14F-4D97-AF65-F5344CB8AC3E}">
        <p14:creationId xmlns:p14="http://schemas.microsoft.com/office/powerpoint/2010/main" val="1966087196"/>
      </p:ext>
    </p:extLst>
  </p:cSld>
  <p:clrMapOvr>
    <a:masterClrMapping/>
  </p:clrMapOvr>
  <mc:AlternateContent xmlns:mc="http://schemas.openxmlformats.org/markup-compatibility/2006">
    <mc:Choice xmlns:p14="http://schemas.microsoft.com/office/powerpoint/2010/main" Requires="p14">
      <p:transition spd="slow" p14:dur="2000" advTm="60"/>
    </mc:Choice>
    <mc:Fallback>
      <p:transition spd="slow" advTm="6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HeaderBanner"/>
          <p:cNvSpPr/>
          <p:nvPr/>
        </p:nvSpPr>
        <p:spPr>
          <a:xfrm>
            <a:off x="0" y="0"/>
            <a:ext cx="9144000" cy="914400"/>
          </a:xfrm>
          <a:prstGeom prst="rect">
            <a:avLst/>
          </a:prstGeom>
          <a:solidFill>
            <a:srgbClr val="0A1628"/>
          </a:solidFill>
          <a:ln>
            <a:noFill/>
          </a:ln>
        </p:spPr>
        <p:txBody>
          <a:bodyPr wrap="square" lIns="457200" tIns="0" rIns="457200" bIns="0" anchor="ctr"/>
          <a:lstStyle/>
          <a:p>
            <a:pPr algn="l"/>
            <a:r>
              <a:rPr lang="fr-CA" sz="2200" b="1">
                <a:solidFill>
                  <a:srgbClr val="FFFFFF"/>
                </a:solidFill>
                <a:latin typeface="Calibri"/>
              </a:rPr>
              <a:t>Réponse à la conjecture de Riemann</a:t>
            </a:r>
          </a:p>
        </p:txBody>
      </p:sp>
      <p:sp>
        <p:nvSpPr>
          <p:cNvPr id="3" name="AccentStripe"/>
          <p:cNvSpPr/>
          <p:nvPr/>
        </p:nvSpPr>
        <p:spPr>
          <a:xfrm>
            <a:off x="0" y="914400"/>
            <a:ext cx="9144000" cy="45720"/>
          </a:xfrm>
          <a:prstGeom prst="rect">
            <a:avLst/>
          </a:prstGeom>
          <a:solidFill>
            <a:srgbClr val="4472C4"/>
          </a:solidFill>
          <a:ln>
            <a:noFill/>
          </a:ln>
        </p:spPr>
        <p:txBody>
          <a:bodyPr/>
          <a:lstStyle/>
          <a:p>
            <a:endParaRPr lang="fr-CA"/>
          </a:p>
        </p:txBody>
      </p:sp>
      <p:sp>
        <p:nvSpPr>
          <p:cNvPr id="10" name="ArgumentSection"/>
          <p:cNvSpPr txBox="1"/>
          <p:nvPr/>
        </p:nvSpPr>
        <p:spPr>
          <a:xfrm>
            <a:off x="457200" y="1097280"/>
            <a:ext cx="8229600" cy="2103120"/>
          </a:xfrm>
          <a:prstGeom prst="rect">
            <a:avLst/>
          </a:prstGeom>
          <a:solidFill>
            <a:srgbClr val="EBF0F9"/>
          </a:solidFill>
          <a:ln>
            <a:noFill/>
          </a:ln>
        </p:spPr>
        <p:txBody>
          <a:bodyPr wrap="square" lIns="182880" tIns="137160" rIns="182880" bIns="91440"/>
          <a:lstStyle/>
          <a:p>
            <a:r>
              <a:rPr lang="fr-CA" sz="1400" b="1">
                <a:solidFill>
                  <a:srgbClr val="0A1628"/>
                </a:solidFill>
                <a:latin typeface="Calibri"/>
              </a:rPr>
              <a:t>L’argument de la quadrature</a:t>
            </a:r>
          </a:p>
          <a:p>
            <a:endParaRPr lang="fr-CA" sz="600"/>
          </a:p>
          <a:p>
            <a:r>
              <a:rPr lang="fr-CA" sz="1200">
                <a:solidFill>
                  <a:srgbClr val="44546A"/>
                </a:solidFill>
                <a:latin typeface="Calibri"/>
              </a:rPr>
              <a:t>Si l’aire formée par la parabole de la droite critique courbée égale l’aire de la section Tr, alors tous les zéros auraient ½ pour partie réelle. La méthode d’Archimède (pesée) confirme que Aire(Tr) = Aire(parabole) × ⁴⁄₃.</a:t>
            </a:r>
          </a:p>
          <a:p>
            <a:endParaRPr lang="fr-CA" sz="600"/>
          </a:p>
          <a:p>
            <a:r>
              <a:rPr lang="fr-CA" sz="1200" b="1">
                <a:solidFill>
                  <a:srgbClr val="4472C4"/>
                </a:solidFill>
                <a:latin typeface="Calibri"/>
              </a:rPr>
              <a:t>Cependant</a:t>
            </a:r>
            <a:r>
              <a:rPr lang="fr-CA" sz="1200">
                <a:solidFill>
                  <a:srgbClr val="44546A"/>
                </a:solidFill>
                <a:latin typeface="Calibri"/>
              </a:rPr>
              <a:t>, le théorème de Thalès (aussi démontré dans le schéma) révèle que le rapport entre l’Aire de la parabole × OE et l’Aire du triangle inscrit × OH présente une inégalité.</a:t>
            </a:r>
          </a:p>
          <a:p>
            <a:endParaRPr lang="fr-CA" sz="600"/>
          </a:p>
          <a:p>
            <a:r>
              <a:rPr lang="fr-CA" sz="1200">
                <a:solidFill>
                  <a:srgbClr val="44546A"/>
                </a:solidFill>
                <a:latin typeface="Calibri"/>
              </a:rPr>
              <a:t>De plus, comme démontré précédemment, il existe d’autres rapports spectraux que ½ — notamment 1/3 — ce qui invalide l’hypothèse d’unicité du rapport.</a:t>
            </a:r>
          </a:p>
        </p:txBody>
      </p:sp>
      <p:sp>
        <p:nvSpPr>
          <p:cNvPr id="14" name="QuestionBox"/>
          <p:cNvSpPr txBox="1"/>
          <p:nvPr/>
        </p:nvSpPr>
        <p:spPr>
          <a:xfrm>
            <a:off x="457200" y="3337560"/>
            <a:ext cx="8229600" cy="411480"/>
          </a:xfrm>
          <a:prstGeom prst="rect">
            <a:avLst/>
          </a:prstGeom>
          <a:solidFill>
            <a:srgbClr val="44546A"/>
          </a:solidFill>
          <a:ln>
            <a:noFill/>
          </a:ln>
        </p:spPr>
        <p:txBody>
          <a:bodyPr wrap="square" lIns="182880" tIns="0" rIns="182880" bIns="0" anchor="ctr"/>
          <a:lstStyle/>
          <a:p>
            <a:pPr algn="l"/>
            <a:r>
              <a:rPr lang="fr-CA" sz="1200" i="1">
                <a:solidFill>
                  <a:srgbClr val="FFFFFF"/>
                </a:solidFill>
                <a:latin typeface="Calibri"/>
              </a:rPr>
              <a:t>Est-ce que tous les zéros non-triviaux de la fonction Zêta de Bernhard Riemann ont tous pour partie réelles ½ ?</a:t>
            </a:r>
          </a:p>
        </p:txBody>
      </p:sp>
      <p:sp>
        <p:nvSpPr>
          <p:cNvPr id="15" name="AnswerBox"/>
          <p:cNvSpPr/>
          <p:nvPr/>
        </p:nvSpPr>
        <p:spPr>
          <a:xfrm>
            <a:off x="457200" y="3886200"/>
            <a:ext cx="8229600" cy="1051560"/>
          </a:xfrm>
          <a:prstGeom prst="rect">
            <a:avLst/>
          </a:prstGeom>
          <a:solidFill>
            <a:srgbClr val="0A1628"/>
          </a:solidFill>
          <a:ln>
            <a:noFill/>
          </a:ln>
        </p:spPr>
        <p:txBody>
          <a:bodyPr wrap="square" lIns="182880" tIns="0" rIns="182880" bIns="0" anchor="ctr"/>
          <a:lstStyle/>
          <a:p>
            <a:pPr algn="ctr"/>
            <a:r>
              <a:rPr lang="fr-CA" sz="3200" b="1">
                <a:solidFill>
                  <a:srgbClr val="FFFFFF"/>
                </a:solidFill>
                <a:latin typeface="Calibri"/>
              </a:rPr>
              <a:t>Non.</a:t>
            </a:r>
          </a:p>
          <a:p>
            <a:pPr algn="ctr"/>
            <a:r>
              <a:rPr lang="fr-CA" sz="1600" i="1">
                <a:solidFill>
                  <a:srgbClr val="A3C4E8"/>
                </a:solidFill>
                <a:latin typeface="Calibri"/>
              </a:rPr>
              <a:t>Schizophrénie universitaire type.</a:t>
            </a:r>
          </a:p>
        </p:txBody>
      </p:sp>
    </p:spTree>
    <p:extLst>
      <p:ext uri="{BB962C8B-B14F-4D97-AF65-F5344CB8AC3E}">
        <p14:creationId xmlns:p14="http://schemas.microsoft.com/office/powerpoint/2010/main" val="2347020958"/>
      </p:ext>
    </p:extLst>
  </p:cSld>
  <p:clrMapOvr>
    <a:masterClrMapping/>
  </p:clrMapOvr>
  <mc:AlternateContent xmlns:mc="http://schemas.openxmlformats.org/markup-compatibility/2006">
    <mc:Choice xmlns:p14="http://schemas.microsoft.com/office/powerpoint/2010/main" Requires="p14">
      <p:transition spd="slow" p14:dur="2000" advTm="59753"/>
    </mc:Choice>
    <mc:Fallback>
      <p:transition spd="slow" advTm="5975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1644</TotalTime>
  <Words>5908</Words>
  <Application>Microsoft Office PowerPoint</Application>
  <PresentationFormat>Affichage à l'écran (16:9)</PresentationFormat>
  <Paragraphs>319</Paragraphs>
  <Slides>29</Slides>
  <Notes>28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29</vt:i4>
      </vt:variant>
    </vt:vector>
  </HeadingPairs>
  <TitlesOfParts>
    <vt:vector size="34" baseType="lpstr">
      <vt:lpstr>Arial</vt:lpstr>
      <vt:lpstr>Calibri</vt:lpstr>
      <vt:lpstr>Cambria Math</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Philippe Thomas Savard</dc:creator>
  <cp:lastModifiedBy>Philippe Thomas Savard</cp:lastModifiedBy>
  <cp:revision>3</cp:revision>
  <dcterms:created xsi:type="dcterms:W3CDTF">2026-05-13T00:07:04Z</dcterms:created>
  <dcterms:modified xsi:type="dcterms:W3CDTF">2026-05-15T22:49:17Z</dcterms:modified>
</cp:coreProperties>
</file>